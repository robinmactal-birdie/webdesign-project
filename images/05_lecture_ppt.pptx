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9" r:id="rId1"/>
  </p:sldMasterIdLst>
  <p:handoutMasterIdLst>
    <p:handoutMasterId r:id="rId53"/>
  </p:handoutMasterIdLst>
  <p:sldIdLst>
    <p:sldId id="306" r:id="rId2"/>
    <p:sldId id="303" r:id="rId3"/>
    <p:sldId id="261" r:id="rId4"/>
    <p:sldId id="262" r:id="rId5"/>
    <p:sldId id="263" r:id="rId6"/>
    <p:sldId id="264" r:id="rId7"/>
    <p:sldId id="281" r:id="rId8"/>
    <p:sldId id="282" r:id="rId9"/>
    <p:sldId id="308" r:id="rId10"/>
    <p:sldId id="283" r:id="rId11"/>
    <p:sldId id="304" r:id="rId12"/>
    <p:sldId id="286" r:id="rId13"/>
    <p:sldId id="265" r:id="rId14"/>
    <p:sldId id="309" r:id="rId15"/>
    <p:sldId id="266" r:id="rId16"/>
    <p:sldId id="267" r:id="rId17"/>
    <p:sldId id="268" r:id="rId18"/>
    <p:sldId id="310" r:id="rId19"/>
    <p:sldId id="269" r:id="rId20"/>
    <p:sldId id="270" r:id="rId21"/>
    <p:sldId id="271" r:id="rId22"/>
    <p:sldId id="305" r:id="rId23"/>
    <p:sldId id="311" r:id="rId24"/>
    <p:sldId id="272" r:id="rId25"/>
    <p:sldId id="273" r:id="rId26"/>
    <p:sldId id="274" r:id="rId27"/>
    <p:sldId id="275" r:id="rId28"/>
    <p:sldId id="276" r:id="rId29"/>
    <p:sldId id="277" r:id="rId30"/>
    <p:sldId id="312" r:id="rId31"/>
    <p:sldId id="278" r:id="rId32"/>
    <p:sldId id="279" r:id="rId33"/>
    <p:sldId id="313" r:id="rId34"/>
    <p:sldId id="280" r:id="rId35"/>
    <p:sldId id="285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5" r:id="rId44"/>
    <p:sldId id="297" r:id="rId45"/>
    <p:sldId id="298" r:id="rId46"/>
    <p:sldId id="299" r:id="rId47"/>
    <p:sldId id="300" r:id="rId48"/>
    <p:sldId id="314" r:id="rId49"/>
    <p:sldId id="315" r:id="rId50"/>
    <p:sldId id="302" r:id="rId51"/>
    <p:sldId id="307" r:id="rId52"/>
  </p:sldIdLst>
  <p:sldSz cx="9144000" cy="6858000" type="screen4x3"/>
  <p:notesSz cx="6858000" cy="9144000"/>
  <p:custDataLst>
    <p:tags r:id="rId54"/>
  </p:custDataLst>
  <p:defaultTextStyle>
    <a:defPPr>
      <a:defRPr lang="en-US"/>
    </a:defPPr>
    <a:lvl1pPr algn="ctr" rtl="0" eaLnBrk="0" fontAlgn="base" hangingPunct="0">
      <a:spcBef>
        <a:spcPct val="0"/>
      </a:spcBef>
      <a:spcAft>
        <a:spcPct val="0"/>
      </a:spcAft>
      <a:defRPr sz="4400" kern="1200">
        <a:solidFill>
          <a:srgbClr val="D0C1D5"/>
        </a:solidFill>
        <a:latin typeface="Times New Roman" pitchFamily="18" charset="0"/>
        <a:ea typeface="ＭＳ Ｐゴシック" pitchFamily="34" charset="-128"/>
        <a:cs typeface="+mn-cs"/>
      </a:defRPr>
    </a:lvl1pPr>
    <a:lvl2pPr marL="457200" algn="ctr" rtl="0" eaLnBrk="0" fontAlgn="base" hangingPunct="0">
      <a:spcBef>
        <a:spcPct val="0"/>
      </a:spcBef>
      <a:spcAft>
        <a:spcPct val="0"/>
      </a:spcAft>
      <a:defRPr sz="4400" kern="1200">
        <a:solidFill>
          <a:srgbClr val="D0C1D5"/>
        </a:solidFill>
        <a:latin typeface="Times New Roman" pitchFamily="18" charset="0"/>
        <a:ea typeface="ＭＳ Ｐゴシック" pitchFamily="34" charset="-128"/>
        <a:cs typeface="+mn-cs"/>
      </a:defRPr>
    </a:lvl2pPr>
    <a:lvl3pPr marL="914400" algn="ctr" rtl="0" eaLnBrk="0" fontAlgn="base" hangingPunct="0">
      <a:spcBef>
        <a:spcPct val="0"/>
      </a:spcBef>
      <a:spcAft>
        <a:spcPct val="0"/>
      </a:spcAft>
      <a:defRPr sz="4400" kern="1200">
        <a:solidFill>
          <a:srgbClr val="D0C1D5"/>
        </a:solidFill>
        <a:latin typeface="Times New Roman" pitchFamily="18" charset="0"/>
        <a:ea typeface="ＭＳ Ｐゴシック" pitchFamily="34" charset="-128"/>
        <a:cs typeface="+mn-cs"/>
      </a:defRPr>
    </a:lvl3pPr>
    <a:lvl4pPr marL="1371600" algn="ctr" rtl="0" eaLnBrk="0" fontAlgn="base" hangingPunct="0">
      <a:spcBef>
        <a:spcPct val="0"/>
      </a:spcBef>
      <a:spcAft>
        <a:spcPct val="0"/>
      </a:spcAft>
      <a:defRPr sz="4400" kern="1200">
        <a:solidFill>
          <a:srgbClr val="D0C1D5"/>
        </a:solidFill>
        <a:latin typeface="Times New Roman" pitchFamily="18" charset="0"/>
        <a:ea typeface="ＭＳ Ｐゴシック" pitchFamily="34" charset="-128"/>
        <a:cs typeface="+mn-cs"/>
      </a:defRPr>
    </a:lvl4pPr>
    <a:lvl5pPr marL="1828800" algn="ctr" rtl="0" eaLnBrk="0" fontAlgn="base" hangingPunct="0">
      <a:spcBef>
        <a:spcPct val="0"/>
      </a:spcBef>
      <a:spcAft>
        <a:spcPct val="0"/>
      </a:spcAft>
      <a:defRPr sz="4400" kern="1200">
        <a:solidFill>
          <a:srgbClr val="D0C1D5"/>
        </a:solidFill>
        <a:latin typeface="Times New Roman" pitchFamily="18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sz="4400" kern="1200">
        <a:solidFill>
          <a:srgbClr val="D0C1D5"/>
        </a:solidFill>
        <a:latin typeface="Times New Roman" pitchFamily="18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sz="4400" kern="1200">
        <a:solidFill>
          <a:srgbClr val="D0C1D5"/>
        </a:solidFill>
        <a:latin typeface="Times New Roman" pitchFamily="18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sz="4400" kern="1200">
        <a:solidFill>
          <a:srgbClr val="D0C1D5"/>
        </a:solidFill>
        <a:latin typeface="Times New Roman" pitchFamily="18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sz="4400" kern="1200">
        <a:solidFill>
          <a:srgbClr val="D0C1D5"/>
        </a:solidFill>
        <a:latin typeface="Times New Roman" pitchFamily="18" charset="0"/>
        <a:ea typeface="ＭＳ Ｐゴシック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504">
          <p15:clr>
            <a:srgbClr val="A4A3A4"/>
          </p15:clr>
        </p15:guide>
        <p15:guide id="2" pos="9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00"/>
    <a:srgbClr val="408000"/>
    <a:srgbClr val="FFC489"/>
    <a:srgbClr val="000A6B"/>
    <a:srgbClr val="61116D"/>
    <a:srgbClr val="D0C1D5"/>
    <a:srgbClr val="E0E090"/>
    <a:srgbClr val="00689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347" autoAdjust="0"/>
    <p:restoredTop sz="94660"/>
  </p:normalViewPr>
  <p:slideViewPr>
    <p:cSldViewPr>
      <p:cViewPr varScale="1">
        <p:scale>
          <a:sx n="80" d="100"/>
          <a:sy n="80" d="100"/>
        </p:scale>
        <p:origin x="1082" y="43"/>
      </p:cViewPr>
      <p:guideLst>
        <p:guide orient="horz" pos="3504"/>
        <p:guide pos="9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handoutMaster" Target="handoutMasters/handoutMaster1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077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077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077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38887EA8-E694-4432-B713-550A7A7F5D6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098135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6338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907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175111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4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05400" y="20574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6246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8533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60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39786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775194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435815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5753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53250" y="609600"/>
            <a:ext cx="1962150" cy="55626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609600"/>
            <a:ext cx="5734050" cy="55626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7083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 preserve="1">
  <p:cSld name="Title, Clip Ar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609600"/>
            <a:ext cx="77724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lipArt Placeholder 2"/>
          <p:cNvSpPr>
            <a:spLocks noGrp="1"/>
          </p:cNvSpPr>
          <p:nvPr>
            <p:ph type="clipArt" sz="half" idx="1"/>
          </p:nvPr>
        </p:nvSpPr>
        <p:spPr>
          <a:xfrm>
            <a:off x="1143000" y="2057400"/>
            <a:ext cx="3810000" cy="4114800"/>
          </a:xfrm>
        </p:spPr>
        <p:txBody>
          <a:bodyPr/>
          <a:lstStyle/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05400" y="2057400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86756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Title and Tex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609600"/>
            <a:ext cx="77724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143000" y="2057400"/>
            <a:ext cx="77724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4191000"/>
            <a:ext cx="77724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3143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609600"/>
            <a:ext cx="77724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143000" y="2057400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lipArt Placeholder 3"/>
          <p:cNvSpPr>
            <a:spLocks noGrp="1"/>
          </p:cNvSpPr>
          <p:nvPr>
            <p:ph type="clipArt" sz="half" idx="2"/>
          </p:nvPr>
        </p:nvSpPr>
        <p:spPr>
          <a:xfrm>
            <a:off x="5105400" y="2057400"/>
            <a:ext cx="3810000" cy="4114800"/>
          </a:xfrm>
        </p:spPr>
        <p:txBody>
          <a:bodyPr/>
          <a:lstStyle/>
          <a:p>
            <a:pPr lvl="0"/>
            <a:endParaRPr lang="en-US" noProof="0" smtClean="0"/>
          </a:p>
        </p:txBody>
      </p:sp>
    </p:spTree>
    <p:extLst>
      <p:ext uri="{BB962C8B-B14F-4D97-AF65-F5344CB8AC3E}">
        <p14:creationId xmlns:p14="http://schemas.microsoft.com/office/powerpoint/2010/main" val="33676833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609600"/>
            <a:ext cx="77724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400"/>
            <a:ext cx="77724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4191000"/>
            <a:ext cx="77724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9768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066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43000" y="20574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3" r:id="rId2"/>
    <p:sldLayoutId id="2147483662" r:id="rId3"/>
    <p:sldLayoutId id="2147483661" r:id="rId4"/>
    <p:sldLayoutId id="2147483660" r:id="rId5"/>
    <p:sldLayoutId id="2147483659" r:id="rId6"/>
    <p:sldLayoutId id="2147483658" r:id="rId7"/>
    <p:sldLayoutId id="2147483657" r:id="rId8"/>
    <p:sldLayoutId id="2147483656" r:id="rId9"/>
    <p:sldLayoutId id="2147483655" r:id="rId10"/>
    <p:sldLayoutId id="2147483654" r:id="rId11"/>
    <p:sldLayoutId id="2147483653" r:id="rId12"/>
    <p:sldLayoutId id="2147483652" r:id="rId13"/>
    <p:sldLayoutId id="2147483651" r:id="rId14"/>
    <p:sldLayoutId id="2147483650" r:id="rId15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ＭＳ Ｐゴシック" charset="0"/>
          <a:cs typeface="ＭＳ Ｐゴシック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•"/>
        <a:defRPr sz="3200">
          <a:solidFill>
            <a:schemeClr val="tx2"/>
          </a:solidFill>
          <a:latin typeface="+mn-lt"/>
          <a:ea typeface="ＭＳ Ｐゴシック" charset="0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–"/>
        <a:defRPr sz="2800">
          <a:solidFill>
            <a:schemeClr val="tx1"/>
          </a:solidFill>
          <a:latin typeface="+mn-lt"/>
          <a:ea typeface="ＭＳ Ｐゴシック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•"/>
        <a:defRPr sz="2400">
          <a:solidFill>
            <a:schemeClr val="tx1"/>
          </a:solidFill>
          <a:latin typeface="+mn-lt"/>
          <a:ea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  <a:ea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»"/>
        <a:defRPr sz="2000">
          <a:solidFill>
            <a:srgbClr val="CDE1FF"/>
          </a:solidFill>
          <a:latin typeface="+mn-lt"/>
          <a:ea typeface="ＭＳ Ｐゴシック" charset="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»"/>
        <a:defRPr sz="2000">
          <a:solidFill>
            <a:srgbClr val="CDE1FF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»"/>
        <a:defRPr sz="2000">
          <a:solidFill>
            <a:srgbClr val="CDE1FF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»"/>
        <a:defRPr sz="2000">
          <a:solidFill>
            <a:srgbClr val="CDE1FF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»"/>
        <a:defRPr sz="2000">
          <a:solidFill>
            <a:srgbClr val="CDE1FF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5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4"/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>
              <a:defRPr/>
            </a:pPr>
            <a:endParaRPr lang="en-US" b="1" spc="5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ea typeface="+mn-ea"/>
            </a:endParaRPr>
          </a:p>
        </p:txBody>
      </p:sp>
      <p:sp>
        <p:nvSpPr>
          <p:cNvPr id="2054" name="Rectangle 6"/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chemeClr val="accent6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ea typeface="+mn-ea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010400" y="533400"/>
            <a:ext cx="1447800" cy="1569660"/>
          </a:xfrm>
          <a:prstGeom prst="rect">
            <a:avLst/>
          </a:prstGeom>
          <a:noFill/>
        </p:spPr>
        <p:txBody>
          <a:bodyPr>
            <a:spAutoFit/>
            <a:scene3d>
              <a:camera prst="orthographicFront"/>
              <a:lightRig rig="soft" dir="tl">
                <a:rot lat="0" lon="0" rev="0"/>
              </a:lightRig>
            </a:scene3d>
            <a:sp3d extrusionH="57150" contourW="25400" prstMaterial="matte">
              <a:bevelT w="25400" h="55880" prst="angle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>
              <a:defRPr/>
            </a:pPr>
            <a:r>
              <a:rPr lang="en-US" sz="96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 Black" pitchFamily="34" charset="0"/>
                <a:ea typeface="+mn-ea"/>
              </a:rPr>
              <a:t>5</a:t>
            </a:r>
            <a:endParaRPr lang="en-US" sz="9600" b="1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ea typeface="+mn-ea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575675" y="304800"/>
            <a:ext cx="492125" cy="3352800"/>
          </a:xfrm>
          <a:prstGeom prst="rect">
            <a:avLst/>
          </a:prstGeom>
          <a:noFill/>
        </p:spPr>
        <p:txBody>
          <a:bodyPr vert="vert">
            <a:spAutoFit/>
          </a:bodyPr>
          <a:lstStyle/>
          <a:p>
            <a:pPr>
              <a:defRPr/>
            </a:pPr>
            <a:r>
              <a:rPr lang="en-US" sz="2000" dirty="0">
                <a:solidFill>
                  <a:schemeClr val="accent5">
                    <a:lumMod val="50000"/>
                  </a:schemeClr>
                </a:solidFill>
                <a:latin typeface="Arial Black" pitchFamily="34" charset="0"/>
                <a:ea typeface="+mn-ea"/>
              </a:rPr>
              <a:t>GENERAL CHEMISTRY</a:t>
            </a:r>
          </a:p>
        </p:txBody>
      </p:sp>
      <p:sp>
        <p:nvSpPr>
          <p:cNvPr id="10" name="Rectangle 9"/>
          <p:cNvSpPr/>
          <p:nvPr/>
        </p:nvSpPr>
        <p:spPr bwMode="auto">
          <a:xfrm>
            <a:off x="0" y="0"/>
            <a:ext cx="3581400" cy="6858000"/>
          </a:xfrm>
          <a:prstGeom prst="rect">
            <a:avLst/>
          </a:prstGeom>
          <a:gradFill>
            <a:gsLst>
              <a:gs pos="8000">
                <a:schemeClr val="accent6"/>
              </a:gs>
              <a:gs pos="50000">
                <a:schemeClr val="tx2">
                  <a:tint val="44500"/>
                  <a:satMod val="160000"/>
                </a:schemeClr>
              </a:gs>
              <a:gs pos="100000">
                <a:schemeClr val="tx2">
                  <a:tint val="23500"/>
                  <a:satMod val="160000"/>
                </a:schemeClr>
              </a:gs>
            </a:gsLst>
            <a:lin ang="108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pPr>
              <a:defRPr/>
            </a:pPr>
            <a:endParaRPr lang="en-US">
              <a:ea typeface="+mn-ea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090722" y="762000"/>
            <a:ext cx="4009431" cy="954107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sz="32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 pitchFamily="34" charset="0"/>
                <a:ea typeface="+mn-ea"/>
                <a:cs typeface="Arial" pitchFamily="34" charset="0"/>
              </a:rPr>
              <a:t>States of Matter</a:t>
            </a:r>
            <a:br>
              <a:rPr lang="en-US" sz="32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 pitchFamily="34" charset="0"/>
                <a:ea typeface="+mn-ea"/>
                <a:cs typeface="Arial" pitchFamily="34" charset="0"/>
              </a:rPr>
            </a:br>
            <a:r>
              <a:rPr lang="en-US" sz="24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 pitchFamily="34" charset="0"/>
                <a:ea typeface="+mn-ea"/>
                <a:cs typeface="Arial" pitchFamily="34" charset="0"/>
              </a:rPr>
              <a:t>Gases, Liquids and Solids</a:t>
            </a:r>
          </a:p>
        </p:txBody>
      </p:sp>
      <p:sp>
        <p:nvSpPr>
          <p:cNvPr id="11" name="Text Box 7"/>
          <p:cNvSpPr txBox="1">
            <a:spLocks noChangeArrowheads="1"/>
          </p:cNvSpPr>
          <p:nvPr/>
        </p:nvSpPr>
        <p:spPr bwMode="auto">
          <a:xfrm>
            <a:off x="3733800" y="3733800"/>
            <a:ext cx="5351646" cy="30592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l"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2"/>
                </a:solidFill>
                <a:latin typeface="Times New Roman" pitchFamily="18" charset="0"/>
                <a:ea typeface="ＭＳ Ｐゴシック" pitchFamily="34" charset="-128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Char char="–"/>
              <a:defRPr sz="28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2pPr>
            <a:lvl3pPr marL="1143000" indent="-228600" algn="l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4pPr>
            <a:lvl5pPr marL="2057400" indent="-228600" algn="l">
              <a:spcBef>
                <a:spcPct val="20000"/>
              </a:spcBef>
              <a:buClr>
                <a:schemeClr val="tx2"/>
              </a:buClr>
              <a:buChar char="»"/>
              <a:defRPr sz="2000">
                <a:solidFill>
                  <a:srgbClr val="CDE1FF"/>
                </a:solidFill>
                <a:latin typeface="Times New Roman" pitchFamily="18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»"/>
              <a:defRPr sz="2000">
                <a:solidFill>
                  <a:srgbClr val="CDE1FF"/>
                </a:solidFill>
                <a:latin typeface="Times New Roman" pitchFamily="18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»"/>
              <a:defRPr sz="2000">
                <a:solidFill>
                  <a:srgbClr val="CDE1FF"/>
                </a:solidFill>
                <a:latin typeface="Times New Roman" pitchFamily="18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»"/>
              <a:defRPr sz="2000">
                <a:solidFill>
                  <a:srgbClr val="CDE1FF"/>
                </a:solidFill>
                <a:latin typeface="Times New Roman" pitchFamily="18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»"/>
              <a:defRPr sz="2000">
                <a:solidFill>
                  <a:srgbClr val="CDE1FF"/>
                </a:solidFill>
                <a:latin typeface="Times New Roman" pitchFamily="18" charset="0"/>
                <a:ea typeface="ＭＳ Ｐゴシック" pitchFamily="34" charset="-128"/>
              </a:defRPr>
            </a:lvl9pPr>
          </a:lstStyle>
          <a:p>
            <a:pPr algn="r">
              <a:spcBef>
                <a:spcPct val="50000"/>
              </a:spcBef>
              <a:buClrTx/>
              <a:buFontTx/>
              <a:buNone/>
            </a:pPr>
            <a:r>
              <a:rPr lang="en-US" altLang="en-US" sz="2400" b="1" i="1" dirty="0">
                <a:solidFill>
                  <a:srgbClr val="FFFFFF"/>
                </a:solidFill>
              </a:rPr>
              <a:t>General, </a:t>
            </a:r>
            <a:r>
              <a:rPr lang="en-US" altLang="en-US" sz="2400" b="1" i="1" dirty="0" smtClean="0">
                <a:solidFill>
                  <a:srgbClr val="FFFFFF"/>
                </a:solidFill>
              </a:rPr>
              <a:t>Organic, </a:t>
            </a:r>
            <a:r>
              <a:rPr lang="en-US" altLang="en-US" sz="2400" b="1" i="1" dirty="0">
                <a:solidFill>
                  <a:srgbClr val="FFFFFF"/>
                </a:solidFill>
              </a:rPr>
              <a:t>and Biochemistry </a:t>
            </a:r>
            <a:br>
              <a:rPr lang="en-US" altLang="en-US" sz="2400" b="1" i="1" dirty="0">
                <a:solidFill>
                  <a:srgbClr val="FFFFFF"/>
                </a:solidFill>
              </a:rPr>
            </a:br>
            <a:r>
              <a:rPr lang="en-US" altLang="en-US" sz="2000" b="1" i="1" dirty="0">
                <a:solidFill>
                  <a:srgbClr val="FFFFFF"/>
                </a:solidFill>
              </a:rPr>
              <a:t>9</a:t>
            </a:r>
            <a:r>
              <a:rPr lang="en-US" altLang="en-US" sz="2000" b="1" i="1" baseline="30000" dirty="0">
                <a:solidFill>
                  <a:srgbClr val="FFFFFF"/>
                </a:solidFill>
              </a:rPr>
              <a:t>th</a:t>
            </a:r>
            <a:r>
              <a:rPr lang="en-US" altLang="en-US" sz="2000" b="1" i="1" dirty="0">
                <a:solidFill>
                  <a:srgbClr val="FFFFFF"/>
                </a:solidFill>
              </a:rPr>
              <a:t> </a:t>
            </a:r>
            <a:r>
              <a:rPr lang="en-US" altLang="en-US" sz="2000" b="1" i="1" dirty="0" smtClean="0">
                <a:solidFill>
                  <a:srgbClr val="FFFFFF"/>
                </a:solidFill>
              </a:rPr>
              <a:t>Edition</a:t>
            </a:r>
          </a:p>
          <a:p>
            <a:pPr algn="r">
              <a:buNone/>
            </a:pPr>
            <a:endParaRPr lang="en-US" sz="2000" b="1" dirty="0" smtClean="0">
              <a:solidFill>
                <a:srgbClr val="FFFFFF"/>
              </a:solidFill>
            </a:endParaRPr>
          </a:p>
          <a:p>
            <a:pPr algn="r">
              <a:buNone/>
            </a:pPr>
            <a:r>
              <a:rPr lang="en-US" sz="2000" b="1" dirty="0" smtClean="0">
                <a:solidFill>
                  <a:schemeClr val="accent1"/>
                </a:solidFill>
              </a:rPr>
              <a:t>Katherine </a:t>
            </a:r>
            <a:r>
              <a:rPr lang="en-US" sz="2000" b="1" dirty="0">
                <a:solidFill>
                  <a:schemeClr val="accent1"/>
                </a:solidFill>
              </a:rPr>
              <a:t>J. </a:t>
            </a:r>
            <a:r>
              <a:rPr lang="en-US" sz="2000" b="1" dirty="0" smtClean="0">
                <a:solidFill>
                  <a:schemeClr val="accent1"/>
                </a:solidFill>
              </a:rPr>
              <a:t>Denniston</a:t>
            </a:r>
          </a:p>
          <a:p>
            <a:pPr algn="r">
              <a:buNone/>
            </a:pPr>
            <a:r>
              <a:rPr lang="en-US" sz="2000" b="1" dirty="0" smtClean="0">
                <a:solidFill>
                  <a:schemeClr val="accent1"/>
                </a:solidFill>
              </a:rPr>
              <a:t>Joseph </a:t>
            </a:r>
            <a:r>
              <a:rPr lang="en-US" sz="2000" b="1" dirty="0">
                <a:solidFill>
                  <a:schemeClr val="accent1"/>
                </a:solidFill>
              </a:rPr>
              <a:t>J. Topping </a:t>
            </a:r>
            <a:r>
              <a:rPr lang="en-US" sz="2000" b="1" dirty="0" smtClean="0">
                <a:solidFill>
                  <a:schemeClr val="accent1"/>
                </a:solidFill>
              </a:rPr>
              <a:t> </a:t>
            </a:r>
          </a:p>
          <a:p>
            <a:pPr algn="r">
              <a:buNone/>
            </a:pPr>
            <a:r>
              <a:rPr lang="en-US" sz="2000" b="1" dirty="0" err="1" smtClean="0">
                <a:solidFill>
                  <a:schemeClr val="accent1"/>
                </a:solidFill>
              </a:rPr>
              <a:t>Danaè</a:t>
            </a:r>
            <a:r>
              <a:rPr lang="en-US" sz="2000" b="1" dirty="0" smtClean="0">
                <a:solidFill>
                  <a:schemeClr val="accent1"/>
                </a:solidFill>
              </a:rPr>
              <a:t> </a:t>
            </a:r>
            <a:r>
              <a:rPr lang="en-US" sz="2000" b="1" dirty="0">
                <a:solidFill>
                  <a:schemeClr val="accent1"/>
                </a:solidFill>
              </a:rPr>
              <a:t>R. Quirk Dorr </a:t>
            </a:r>
            <a:endParaRPr lang="en-US" sz="2000" b="1" dirty="0" smtClean="0">
              <a:solidFill>
                <a:schemeClr val="accent1"/>
              </a:solidFill>
            </a:endParaRPr>
          </a:p>
          <a:p>
            <a:pPr algn="r">
              <a:buNone/>
            </a:pPr>
            <a:r>
              <a:rPr lang="en-US" sz="2000" b="1" dirty="0" smtClean="0">
                <a:solidFill>
                  <a:schemeClr val="accent1"/>
                </a:solidFill>
              </a:rPr>
              <a:t>Robert </a:t>
            </a:r>
            <a:r>
              <a:rPr lang="en-US" sz="2000" b="1" dirty="0">
                <a:solidFill>
                  <a:schemeClr val="accent1"/>
                </a:solidFill>
              </a:rPr>
              <a:t>L. Caret </a:t>
            </a:r>
            <a:endParaRPr lang="en-US" sz="2000" b="1" dirty="0" smtClean="0">
              <a:solidFill>
                <a:schemeClr val="accent1"/>
              </a:solidFill>
            </a:endParaRPr>
          </a:p>
          <a:p>
            <a:endParaRPr lang="en-US" altLang="en-US" sz="2400" b="1" dirty="0">
              <a:solidFill>
                <a:srgbClr val="FFF6E7"/>
              </a:solidFill>
            </a:endParaRPr>
          </a:p>
        </p:txBody>
      </p:sp>
      <p:sp>
        <p:nvSpPr>
          <p:cNvPr id="13" name="Text Box 10"/>
          <p:cNvSpPr txBox="1">
            <a:spLocks noChangeArrowheads="1"/>
          </p:cNvSpPr>
          <p:nvPr/>
        </p:nvSpPr>
        <p:spPr bwMode="auto">
          <a:xfrm>
            <a:off x="0" y="6621463"/>
            <a:ext cx="4759325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2"/>
                </a:solidFill>
                <a:latin typeface="Times New Roman" pitchFamily="18" charset="0"/>
                <a:ea typeface="ＭＳ Ｐゴシック" pitchFamily="34" charset="-128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Char char="–"/>
              <a:defRPr sz="28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2pPr>
            <a:lvl3pPr marL="1143000" indent="-228600" algn="l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4pPr>
            <a:lvl5pPr marL="2057400" indent="-228600" algn="l">
              <a:spcBef>
                <a:spcPct val="20000"/>
              </a:spcBef>
              <a:buClr>
                <a:schemeClr val="tx2"/>
              </a:buClr>
              <a:buChar char="»"/>
              <a:defRPr sz="2000">
                <a:solidFill>
                  <a:srgbClr val="CDE1FF"/>
                </a:solidFill>
                <a:latin typeface="Times New Roman" pitchFamily="18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»"/>
              <a:defRPr sz="2000">
                <a:solidFill>
                  <a:srgbClr val="CDE1FF"/>
                </a:solidFill>
                <a:latin typeface="Times New Roman" pitchFamily="18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»"/>
              <a:defRPr sz="2000">
                <a:solidFill>
                  <a:srgbClr val="CDE1FF"/>
                </a:solidFill>
                <a:latin typeface="Times New Roman" pitchFamily="18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»"/>
              <a:defRPr sz="2000">
                <a:solidFill>
                  <a:srgbClr val="CDE1FF"/>
                </a:solidFill>
                <a:latin typeface="Times New Roman" pitchFamily="18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»"/>
              <a:defRPr sz="2000">
                <a:solidFill>
                  <a:srgbClr val="CDE1FF"/>
                </a:solidFill>
                <a:latin typeface="Times New Roman" pitchFamily="18" charset="0"/>
                <a:ea typeface="ＭＳ Ｐゴシック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900" b="1" dirty="0">
                <a:solidFill>
                  <a:schemeClr val="bg1">
                    <a:lumMod val="10000"/>
                  </a:schemeClr>
                </a:solidFill>
              </a:rPr>
              <a:t>Copyright © 2017 McGraw-Hill Education.  Permission required for reproduction or display</a:t>
            </a:r>
            <a:endParaRPr lang="en-US" altLang="en-US" dirty="0">
              <a:solidFill>
                <a:schemeClr val="bg1">
                  <a:lumMod val="10000"/>
                </a:schemeClr>
              </a:solidFill>
              <a:cs typeface="Times New Roman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Rectangle 2"/>
          <p:cNvSpPr>
            <a:spLocks noGrp="1" noChangeArrowheads="1"/>
          </p:cNvSpPr>
          <p:nvPr>
            <p:ph type="title"/>
          </p:nvPr>
        </p:nvSpPr>
        <p:spPr>
          <a:xfrm>
            <a:off x="1066800" y="304800"/>
            <a:ext cx="7772400" cy="1143000"/>
          </a:xfrm>
        </p:spPr>
        <p:txBody>
          <a:bodyPr/>
          <a:lstStyle/>
          <a:p>
            <a:r>
              <a:rPr lang="en-US" altLang="en-US" smtClean="0">
                <a:ea typeface="ＭＳ Ｐゴシック" pitchFamily="34" charset="-128"/>
              </a:rPr>
              <a:t>Changes in State</a:t>
            </a:r>
          </a:p>
        </p:txBody>
      </p:sp>
      <p:sp>
        <p:nvSpPr>
          <p:cNvPr id="409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43000" y="1447800"/>
            <a:ext cx="7772400" cy="45720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800" dirty="0" smtClean="0">
                <a:ea typeface="ＭＳ Ｐゴシック" pitchFamily="34" charset="-128"/>
              </a:rPr>
              <a:t>Changes in state are considered to be physical changes</a:t>
            </a:r>
            <a:br>
              <a:rPr lang="en-US" altLang="en-US" sz="2800" dirty="0" smtClean="0">
                <a:ea typeface="ＭＳ Ｐゴシック" pitchFamily="34" charset="-128"/>
              </a:rPr>
            </a:br>
            <a:endParaRPr lang="en-US" altLang="en-US" sz="2800" dirty="0" smtClean="0">
              <a:ea typeface="ＭＳ Ｐゴシック" pitchFamily="34" charset="-128"/>
            </a:endParaRPr>
          </a:p>
          <a:p>
            <a:pPr>
              <a:lnSpc>
                <a:spcPct val="90000"/>
              </a:lnSpc>
            </a:pPr>
            <a:r>
              <a:rPr lang="en-US" altLang="en-US" sz="2800" dirty="0" smtClean="0">
                <a:ea typeface="ＭＳ Ｐゴシック" pitchFamily="34" charset="-128"/>
              </a:rPr>
              <a:t>During a change of physical state, many other physical properties may also change</a:t>
            </a:r>
            <a:br>
              <a:rPr lang="en-US" altLang="en-US" sz="2800" dirty="0" smtClean="0">
                <a:ea typeface="ＭＳ Ｐゴシック" pitchFamily="34" charset="-128"/>
              </a:rPr>
            </a:br>
            <a:endParaRPr lang="en-US" altLang="en-US" sz="2800" dirty="0" smtClean="0">
              <a:ea typeface="ＭＳ Ｐゴシック" pitchFamily="34" charset="-128"/>
            </a:endParaRPr>
          </a:p>
          <a:p>
            <a:pPr>
              <a:lnSpc>
                <a:spcPct val="90000"/>
              </a:lnSpc>
            </a:pPr>
            <a:r>
              <a:rPr lang="en-US" altLang="en-US" sz="2800" dirty="0" smtClean="0">
                <a:ea typeface="ＭＳ Ｐゴシック" pitchFamily="34" charset="-128"/>
              </a:rPr>
              <a:t>This chapter focuses on the important differences in physical properties among</a:t>
            </a:r>
          </a:p>
          <a:p>
            <a:pPr lvl="1">
              <a:lnSpc>
                <a:spcPct val="90000"/>
              </a:lnSpc>
            </a:pPr>
            <a:r>
              <a:rPr lang="en-US" altLang="en-US" dirty="0" smtClean="0">
                <a:ea typeface="ＭＳ Ｐゴシック" pitchFamily="34" charset="-128"/>
              </a:rPr>
              <a:t>Gases</a:t>
            </a:r>
          </a:p>
          <a:p>
            <a:pPr lvl="1">
              <a:lnSpc>
                <a:spcPct val="90000"/>
              </a:lnSpc>
            </a:pPr>
            <a:r>
              <a:rPr lang="en-US" altLang="en-US" dirty="0" smtClean="0">
                <a:ea typeface="ＭＳ Ｐゴシック" pitchFamily="34" charset="-128"/>
              </a:rPr>
              <a:t>Liquids</a:t>
            </a:r>
          </a:p>
          <a:p>
            <a:pPr lvl="1">
              <a:lnSpc>
                <a:spcPct val="90000"/>
              </a:lnSpc>
            </a:pPr>
            <a:r>
              <a:rPr lang="en-US" altLang="en-US" dirty="0" smtClean="0">
                <a:ea typeface="ＭＳ Ｐゴシック" pitchFamily="34" charset="-128"/>
              </a:rPr>
              <a:t>Solids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04800"/>
            <a:ext cx="8534400" cy="1143000"/>
          </a:xfrm>
        </p:spPr>
        <p:txBody>
          <a:bodyPr/>
          <a:lstStyle/>
          <a:p>
            <a:r>
              <a:rPr lang="en-US" altLang="en-US" smtClean="0">
                <a:ea typeface="ＭＳ Ｐゴシック" pitchFamily="34" charset="-128"/>
              </a:rPr>
              <a:t>Comparison of Physical Properties of Gases, Liquids, and Solids</a:t>
            </a:r>
          </a:p>
        </p:txBody>
      </p:sp>
      <p:pic>
        <p:nvPicPr>
          <p:cNvPr id="5125" name="Picture 5" descr="den02761_t05_0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775" y="2239963"/>
            <a:ext cx="8934450" cy="2960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2"/>
          <p:cNvSpPr>
            <a:spLocks noGrp="1" noChangeArrowheads="1"/>
          </p:cNvSpPr>
          <p:nvPr>
            <p:ph type="title"/>
          </p:nvPr>
        </p:nvSpPr>
        <p:spPr>
          <a:xfrm>
            <a:off x="1066800" y="304800"/>
            <a:ext cx="7772400" cy="914400"/>
          </a:xfrm>
        </p:spPr>
        <p:txBody>
          <a:bodyPr/>
          <a:lstStyle/>
          <a:p>
            <a:r>
              <a:rPr lang="en-US" altLang="en-US" smtClean="0">
                <a:ea typeface="ＭＳ Ｐゴシック" pitchFamily="34" charset="-128"/>
              </a:rPr>
              <a:t>5.1 The Gaseous State</a:t>
            </a:r>
          </a:p>
        </p:txBody>
      </p:sp>
      <p:sp>
        <p:nvSpPr>
          <p:cNvPr id="614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371600"/>
            <a:ext cx="8001000" cy="4876800"/>
          </a:xfrm>
        </p:spPr>
        <p:txBody>
          <a:bodyPr/>
          <a:lstStyle/>
          <a:p>
            <a:pPr algn="ctr">
              <a:buFontTx/>
              <a:buNone/>
            </a:pPr>
            <a:r>
              <a:rPr lang="en-US" altLang="en-US" dirty="0" smtClean="0">
                <a:ea typeface="ＭＳ Ｐゴシック" pitchFamily="34" charset="-128"/>
              </a:rPr>
              <a:t>Ideal Gas Concept</a:t>
            </a:r>
          </a:p>
          <a:p>
            <a:r>
              <a:rPr lang="en-US" altLang="en-US" sz="2800" b="1" dirty="0" smtClean="0">
                <a:solidFill>
                  <a:schemeClr val="accent2"/>
                </a:solidFill>
                <a:ea typeface="ＭＳ Ｐゴシック" pitchFamily="34" charset="-128"/>
              </a:rPr>
              <a:t>Ideal gas</a:t>
            </a:r>
            <a:r>
              <a:rPr lang="en-US" altLang="en-US" sz="2800" b="1" dirty="0" smtClean="0">
                <a:ea typeface="ＭＳ Ｐゴシック" pitchFamily="34" charset="-128"/>
              </a:rPr>
              <a:t> </a:t>
            </a:r>
            <a:r>
              <a:rPr lang="en-US" altLang="en-US" sz="2800" dirty="0" smtClean="0">
                <a:ea typeface="ＭＳ Ｐゴシック" pitchFamily="34" charset="-128"/>
              </a:rPr>
              <a:t>- a model of the way that gas particles behave at the atomic/molecular level</a:t>
            </a:r>
          </a:p>
          <a:p>
            <a:r>
              <a:rPr lang="en-US" altLang="en-US" sz="2800" dirty="0" smtClean="0">
                <a:ea typeface="ＭＳ Ｐゴシック" pitchFamily="34" charset="-128"/>
              </a:rPr>
              <a:t>We can measure the following of a gas:</a:t>
            </a:r>
          </a:p>
          <a:p>
            <a:pPr lvl="1"/>
            <a:r>
              <a:rPr lang="en-US" altLang="en-US" dirty="0" smtClean="0">
                <a:ea typeface="ＭＳ Ｐゴシック" pitchFamily="34" charset="-128"/>
              </a:rPr>
              <a:t>temperature</a:t>
            </a:r>
          </a:p>
          <a:p>
            <a:pPr lvl="1"/>
            <a:r>
              <a:rPr lang="en-US" altLang="en-US" dirty="0" smtClean="0">
                <a:ea typeface="ＭＳ Ｐゴシック" pitchFamily="34" charset="-128"/>
              </a:rPr>
              <a:t>volume</a:t>
            </a:r>
          </a:p>
          <a:p>
            <a:pPr lvl="1"/>
            <a:r>
              <a:rPr lang="en-US" altLang="en-US" dirty="0" smtClean="0">
                <a:ea typeface="ＭＳ Ｐゴシック" pitchFamily="34" charset="-128"/>
              </a:rPr>
              <a:t>pressure </a:t>
            </a:r>
          </a:p>
          <a:p>
            <a:pPr lvl="1"/>
            <a:r>
              <a:rPr lang="en-US" altLang="en-US" dirty="0" smtClean="0">
                <a:ea typeface="ＭＳ Ｐゴシック" pitchFamily="34" charset="-128"/>
              </a:rPr>
              <a:t>mass</a:t>
            </a:r>
          </a:p>
        </p:txBody>
      </p:sp>
      <p:sp>
        <p:nvSpPr>
          <p:cNvPr id="6147" name="AutoShape 4"/>
          <p:cNvSpPr>
            <a:spLocks/>
          </p:cNvSpPr>
          <p:nvPr/>
        </p:nvSpPr>
        <p:spPr bwMode="auto">
          <a:xfrm>
            <a:off x="3276600" y="3505200"/>
            <a:ext cx="381000" cy="1981200"/>
          </a:xfrm>
          <a:prstGeom prst="rightBrace">
            <a:avLst>
              <a:gd name="adj1" fmla="val 43333"/>
              <a:gd name="adj2" fmla="val 50000"/>
            </a:avLst>
          </a:prstGeom>
          <a:noFill/>
          <a:ln w="2857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1pPr>
            <a:lvl2pPr marL="742950" indent="-28575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2pPr>
            <a:lvl3pPr marL="11430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3pPr>
            <a:lvl4pPr marL="16002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4pPr>
            <a:lvl5pPr marL="20574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9pPr>
          </a:lstStyle>
          <a:p>
            <a:endParaRPr lang="en-IN" altLang="en-US">
              <a:solidFill>
                <a:schemeClr val="tx2"/>
              </a:solidFill>
            </a:endParaRPr>
          </a:p>
        </p:txBody>
      </p:sp>
      <p:sp>
        <p:nvSpPr>
          <p:cNvPr id="6148" name="Text Box 5"/>
          <p:cNvSpPr txBox="1">
            <a:spLocks noChangeArrowheads="1"/>
          </p:cNvSpPr>
          <p:nvPr/>
        </p:nvSpPr>
        <p:spPr bwMode="auto">
          <a:xfrm>
            <a:off x="4038600" y="4114800"/>
            <a:ext cx="4495800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1pPr>
            <a:lvl2pPr marL="742950" indent="-28575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2pPr>
            <a:lvl3pPr marL="11430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3pPr>
            <a:lvl4pPr marL="16002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4pPr>
            <a:lvl5pPr marL="20574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9pPr>
          </a:lstStyle>
          <a:p>
            <a:pPr algn="l">
              <a:spcBef>
                <a:spcPct val="50000"/>
              </a:spcBef>
            </a:pPr>
            <a:r>
              <a:rPr lang="en-US" altLang="en-US" sz="2800">
                <a:solidFill>
                  <a:schemeClr val="tx1"/>
                </a:solidFill>
              </a:rPr>
              <a:t>We can systematically change one of the properties and see the effect on the others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Rectangle 2"/>
          <p:cNvSpPr>
            <a:spLocks noChangeArrowheads="1"/>
          </p:cNvSpPr>
          <p:nvPr/>
        </p:nvSpPr>
        <p:spPr bwMode="auto">
          <a:xfrm rot="-5400000">
            <a:off x="-2590800" y="2895600"/>
            <a:ext cx="61722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1pPr>
            <a:lvl2pPr marL="742950" indent="-28575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2pPr>
            <a:lvl3pPr marL="11430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3pPr>
            <a:lvl4pPr marL="16002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4pPr>
            <a:lvl5pPr marL="20574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9pPr>
          </a:lstStyle>
          <a:p>
            <a:r>
              <a:rPr lang="en-US" altLang="en-US">
                <a:solidFill>
                  <a:schemeClr val="bg2"/>
                </a:solidFill>
              </a:rPr>
              <a:t>5.1 The Gaseous State</a:t>
            </a:r>
          </a:p>
        </p:txBody>
      </p:sp>
      <p:sp>
        <p:nvSpPr>
          <p:cNvPr id="7170" name="Rectangle 4"/>
          <p:cNvSpPr>
            <a:spLocks noGrp="1" noChangeArrowheads="1"/>
          </p:cNvSpPr>
          <p:nvPr>
            <p:ph type="title"/>
          </p:nvPr>
        </p:nvSpPr>
        <p:spPr>
          <a:xfrm>
            <a:off x="1066800" y="304800"/>
            <a:ext cx="7772400" cy="609600"/>
          </a:xfrm>
        </p:spPr>
        <p:txBody>
          <a:bodyPr/>
          <a:lstStyle/>
          <a:p>
            <a:r>
              <a:rPr lang="en-US" altLang="en-US" smtClean="0">
                <a:ea typeface="ＭＳ Ｐゴシック" pitchFamily="34" charset="-128"/>
              </a:rPr>
              <a:t>Measurement of Gases</a:t>
            </a:r>
          </a:p>
        </p:txBody>
      </p:sp>
      <p:sp>
        <p:nvSpPr>
          <p:cNvPr id="7171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1143000" y="1371600"/>
            <a:ext cx="7772400" cy="4800600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altLang="en-US" sz="2800" smtClean="0">
                <a:ea typeface="ＭＳ Ｐゴシック" pitchFamily="34" charset="-128"/>
              </a:rPr>
              <a:t>Gas laws involve the relationship between</a:t>
            </a:r>
            <a:r>
              <a:rPr lang="en-US" altLang="en-US" smtClean="0">
                <a:ea typeface="ＭＳ Ｐゴシック" pitchFamily="34" charset="-128"/>
              </a:rPr>
              <a:t>:</a:t>
            </a:r>
          </a:p>
          <a:p>
            <a:pPr lvl="1">
              <a:lnSpc>
                <a:spcPct val="60000"/>
              </a:lnSpc>
              <a:spcBef>
                <a:spcPct val="50000"/>
              </a:spcBef>
            </a:pPr>
            <a:r>
              <a:rPr lang="en-US" altLang="en-US" smtClean="0">
                <a:ea typeface="ＭＳ Ｐゴシック" pitchFamily="34" charset="-128"/>
              </a:rPr>
              <a:t>number of moles (n) of gas</a:t>
            </a:r>
          </a:p>
          <a:p>
            <a:pPr lvl="1">
              <a:lnSpc>
                <a:spcPct val="60000"/>
              </a:lnSpc>
              <a:spcBef>
                <a:spcPct val="50000"/>
              </a:spcBef>
            </a:pPr>
            <a:r>
              <a:rPr lang="en-US" altLang="en-US" smtClean="0">
                <a:ea typeface="ＭＳ Ｐゴシック" pitchFamily="34" charset="-128"/>
              </a:rPr>
              <a:t>volume (</a:t>
            </a:r>
            <a:r>
              <a:rPr lang="en-US" altLang="en-US" i="1" smtClean="0">
                <a:ea typeface="ＭＳ Ｐゴシック" pitchFamily="34" charset="-128"/>
              </a:rPr>
              <a:t>V</a:t>
            </a:r>
            <a:r>
              <a:rPr lang="en-US" altLang="en-US" smtClean="0">
                <a:ea typeface="ＭＳ Ｐゴシック" pitchFamily="34" charset="-128"/>
              </a:rPr>
              <a:t>)</a:t>
            </a:r>
          </a:p>
          <a:p>
            <a:pPr lvl="1">
              <a:lnSpc>
                <a:spcPct val="60000"/>
              </a:lnSpc>
              <a:spcBef>
                <a:spcPct val="50000"/>
              </a:spcBef>
            </a:pPr>
            <a:r>
              <a:rPr lang="en-US" altLang="en-US" smtClean="0">
                <a:ea typeface="ＭＳ Ｐゴシック" pitchFamily="34" charset="-128"/>
              </a:rPr>
              <a:t>temperature (</a:t>
            </a:r>
            <a:r>
              <a:rPr lang="en-US" altLang="en-US" i="1" smtClean="0">
                <a:ea typeface="ＭＳ Ｐゴシック" pitchFamily="34" charset="-128"/>
              </a:rPr>
              <a:t>T</a:t>
            </a:r>
            <a:r>
              <a:rPr lang="en-US" altLang="en-US" smtClean="0">
                <a:ea typeface="ＭＳ Ｐゴシック" pitchFamily="34" charset="-128"/>
              </a:rPr>
              <a:t>)</a:t>
            </a:r>
          </a:p>
          <a:p>
            <a:pPr lvl="1">
              <a:lnSpc>
                <a:spcPct val="60000"/>
              </a:lnSpc>
              <a:spcBef>
                <a:spcPct val="50000"/>
              </a:spcBef>
            </a:pPr>
            <a:r>
              <a:rPr lang="en-US" altLang="en-US" smtClean="0">
                <a:ea typeface="ＭＳ Ｐゴシック" pitchFamily="34" charset="-128"/>
              </a:rPr>
              <a:t>pressure (</a:t>
            </a:r>
            <a:r>
              <a:rPr lang="en-US" altLang="en-US" i="1" smtClean="0">
                <a:ea typeface="ＭＳ Ｐゴシック" pitchFamily="34" charset="-128"/>
              </a:rPr>
              <a:t>P</a:t>
            </a:r>
            <a:r>
              <a:rPr lang="en-US" altLang="en-US" smtClean="0">
                <a:ea typeface="ＭＳ Ｐゴシック" pitchFamily="34" charset="-128"/>
              </a:rPr>
              <a:t>)</a:t>
            </a:r>
            <a:br>
              <a:rPr lang="en-US" altLang="en-US" smtClean="0">
                <a:ea typeface="ＭＳ Ｐゴシック" pitchFamily="34" charset="-128"/>
              </a:rPr>
            </a:br>
            <a:endParaRPr lang="en-US" altLang="en-US" smtClean="0">
              <a:ea typeface="ＭＳ Ｐゴシック" pitchFamily="34" charset="-128"/>
            </a:endParaRPr>
          </a:p>
          <a:p>
            <a:pPr>
              <a:lnSpc>
                <a:spcPct val="90000"/>
              </a:lnSpc>
              <a:spcBef>
                <a:spcPct val="50000"/>
              </a:spcBef>
              <a:buClrTx/>
            </a:pPr>
            <a:r>
              <a:rPr lang="en-US" altLang="en-US" sz="2800" b="1" smtClean="0">
                <a:solidFill>
                  <a:schemeClr val="accent2"/>
                </a:solidFill>
                <a:ea typeface="ＭＳ Ｐゴシック" pitchFamily="34" charset="-128"/>
              </a:rPr>
              <a:t>Pressure</a:t>
            </a:r>
            <a:r>
              <a:rPr lang="en-US" altLang="en-US" sz="2800" smtClean="0">
                <a:ea typeface="ＭＳ Ｐゴシック" pitchFamily="34" charset="-128"/>
              </a:rPr>
              <a:t> - force per unit area</a:t>
            </a:r>
          </a:p>
          <a:p>
            <a:pPr>
              <a:lnSpc>
                <a:spcPct val="90000"/>
              </a:lnSpc>
              <a:spcBef>
                <a:spcPct val="50000"/>
              </a:spcBef>
              <a:buClrTx/>
            </a:pPr>
            <a:r>
              <a:rPr lang="en-US" altLang="en-US" sz="2800" smtClean="0">
                <a:ea typeface="ＭＳ Ｐゴシック" pitchFamily="34" charset="-128"/>
              </a:rPr>
              <a:t>Gas pressure is a result of force exerted by the collision of particles with the walls of the container</a:t>
            </a:r>
          </a:p>
          <a:p>
            <a:pPr>
              <a:lnSpc>
                <a:spcPct val="90000"/>
              </a:lnSpc>
            </a:pPr>
            <a:endParaRPr lang="en-US" altLang="en-US" sz="2800" smtClean="0">
              <a:ea typeface="ＭＳ Ｐゴシック" pitchFamily="34" charset="-128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6"/>
          <p:cNvSpPr>
            <a:spLocks noChangeArrowheads="1"/>
          </p:cNvSpPr>
          <p:nvPr/>
        </p:nvSpPr>
        <p:spPr bwMode="auto">
          <a:xfrm rot="-5400000">
            <a:off x="-2590800" y="2895600"/>
            <a:ext cx="61722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1pPr>
            <a:lvl2pPr marL="742950" indent="-28575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2pPr>
            <a:lvl3pPr marL="11430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3pPr>
            <a:lvl4pPr marL="16002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4pPr>
            <a:lvl5pPr marL="20574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9pPr>
          </a:lstStyle>
          <a:p>
            <a:r>
              <a:rPr lang="en-US" altLang="en-US">
                <a:solidFill>
                  <a:schemeClr val="bg2"/>
                </a:solidFill>
              </a:rPr>
              <a:t>5.1 The Gaseous State</a:t>
            </a:r>
          </a:p>
        </p:txBody>
      </p:sp>
      <p:sp>
        <p:nvSpPr>
          <p:cNvPr id="8194" name="Rectangle 7"/>
          <p:cNvSpPr>
            <a:spLocks noGrp="1" noChangeArrowheads="1"/>
          </p:cNvSpPr>
          <p:nvPr>
            <p:ph type="title"/>
          </p:nvPr>
        </p:nvSpPr>
        <p:spPr>
          <a:xfrm>
            <a:off x="2057400" y="304800"/>
            <a:ext cx="6248400" cy="838200"/>
          </a:xfrm>
        </p:spPr>
        <p:txBody>
          <a:bodyPr/>
          <a:lstStyle/>
          <a:p>
            <a:r>
              <a:rPr lang="en-US" altLang="en-US" smtClean="0">
                <a:ea typeface="ＭＳ Ｐゴシック" pitchFamily="34" charset="-128"/>
              </a:rPr>
              <a:t>Barometer</a:t>
            </a:r>
          </a:p>
        </p:txBody>
      </p:sp>
      <p:sp>
        <p:nvSpPr>
          <p:cNvPr id="8195" name="Rectangle 9"/>
          <p:cNvSpPr>
            <a:spLocks noGrp="1" noChangeArrowheads="1"/>
          </p:cNvSpPr>
          <p:nvPr>
            <p:ph type="body" sz="half" idx="2"/>
          </p:nvPr>
        </p:nvSpPr>
        <p:spPr>
          <a:xfrm>
            <a:off x="4572000" y="1371600"/>
            <a:ext cx="4343400" cy="4800600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ct val="25000"/>
              </a:spcBef>
            </a:pPr>
            <a:r>
              <a:rPr lang="en-US" altLang="en-US" sz="2800" smtClean="0">
                <a:ea typeface="ＭＳ Ｐゴシック" pitchFamily="34" charset="-128"/>
              </a:rPr>
              <a:t>Measures atmospheric pressure</a:t>
            </a:r>
          </a:p>
          <a:p>
            <a:pPr lvl="1">
              <a:lnSpc>
                <a:spcPct val="90000"/>
              </a:lnSpc>
              <a:spcBef>
                <a:spcPct val="25000"/>
              </a:spcBef>
            </a:pPr>
            <a:r>
              <a:rPr lang="en-US" altLang="en-US" sz="1800" smtClean="0">
                <a:ea typeface="ＭＳ Ｐゴシック" pitchFamily="34" charset="-128"/>
              </a:rPr>
              <a:t>Invented by Evangelista Torricelli</a:t>
            </a:r>
          </a:p>
          <a:p>
            <a:pPr>
              <a:lnSpc>
                <a:spcPct val="90000"/>
              </a:lnSpc>
              <a:spcBef>
                <a:spcPct val="25000"/>
              </a:spcBef>
            </a:pPr>
            <a:r>
              <a:rPr lang="en-US" altLang="en-US" sz="2800" smtClean="0">
                <a:ea typeface="ＭＳ Ｐゴシック" pitchFamily="34" charset="-128"/>
              </a:rPr>
              <a:t>Common units of pressure</a:t>
            </a:r>
          </a:p>
          <a:p>
            <a:pPr lvl="1">
              <a:lnSpc>
                <a:spcPct val="90000"/>
              </a:lnSpc>
              <a:spcBef>
                <a:spcPct val="25000"/>
              </a:spcBef>
            </a:pPr>
            <a:r>
              <a:rPr lang="en-US" altLang="en-US" sz="2400" smtClean="0">
                <a:ea typeface="ＭＳ Ｐゴシック" pitchFamily="34" charset="-128"/>
              </a:rPr>
              <a:t>atmosphere </a:t>
            </a:r>
            <a:r>
              <a:rPr lang="en-US" altLang="en-US" sz="1800" smtClean="0">
                <a:ea typeface="ＭＳ Ｐゴシック" pitchFamily="34" charset="-128"/>
              </a:rPr>
              <a:t>(atm)</a:t>
            </a:r>
          </a:p>
          <a:p>
            <a:pPr lvl="1">
              <a:lnSpc>
                <a:spcPct val="90000"/>
              </a:lnSpc>
              <a:spcBef>
                <a:spcPct val="25000"/>
              </a:spcBef>
            </a:pPr>
            <a:r>
              <a:rPr lang="en-US" altLang="en-US" sz="2400" smtClean="0">
                <a:ea typeface="ＭＳ Ｐゴシック" pitchFamily="34" charset="-128"/>
              </a:rPr>
              <a:t>torr   </a:t>
            </a:r>
            <a:r>
              <a:rPr lang="en-US" altLang="en-US" sz="1800" smtClean="0">
                <a:ea typeface="ＭＳ Ｐゴシック" pitchFamily="34" charset="-128"/>
              </a:rPr>
              <a:t>(in Torricelli</a:t>
            </a:r>
            <a:r>
              <a:rPr lang="ja-JP" altLang="en-US" sz="1800" smtClean="0">
                <a:ea typeface="ＭＳ Ｐゴシック" pitchFamily="34" charset="-128"/>
              </a:rPr>
              <a:t>’</a:t>
            </a:r>
            <a:r>
              <a:rPr lang="en-US" altLang="ja-JP" sz="1800" smtClean="0">
                <a:ea typeface="ＭＳ Ｐゴシック" pitchFamily="34" charset="-128"/>
              </a:rPr>
              <a:t>s honor)</a:t>
            </a:r>
          </a:p>
          <a:p>
            <a:pPr lvl="1">
              <a:lnSpc>
                <a:spcPct val="90000"/>
              </a:lnSpc>
              <a:spcBef>
                <a:spcPct val="25000"/>
              </a:spcBef>
            </a:pPr>
            <a:r>
              <a:rPr lang="en-US" altLang="en-US" sz="2400" smtClean="0">
                <a:ea typeface="ＭＳ Ｐゴシック" pitchFamily="34" charset="-128"/>
              </a:rPr>
              <a:t>pascal </a:t>
            </a:r>
            <a:r>
              <a:rPr lang="en-US" altLang="en-US" sz="1800" smtClean="0">
                <a:ea typeface="ＭＳ Ｐゴシック" pitchFamily="34" charset="-128"/>
              </a:rPr>
              <a:t>(Pa)</a:t>
            </a:r>
            <a:r>
              <a:rPr lang="en-US" altLang="en-US" sz="2400" smtClean="0">
                <a:ea typeface="ＭＳ Ｐゴシック" pitchFamily="34" charset="-128"/>
              </a:rPr>
              <a:t> </a:t>
            </a:r>
            <a:r>
              <a:rPr lang="en-US" altLang="en-US" sz="1800" smtClean="0">
                <a:ea typeface="ＭＳ Ｐゴシック" pitchFamily="34" charset="-128"/>
              </a:rPr>
              <a:t>(in honor of Blaise Pascal)</a:t>
            </a:r>
            <a:endParaRPr lang="en-US" altLang="en-US" sz="2400" smtClean="0">
              <a:ea typeface="ＭＳ Ｐゴシック" pitchFamily="34" charset="-128"/>
            </a:endParaRPr>
          </a:p>
          <a:p>
            <a:pPr>
              <a:lnSpc>
                <a:spcPct val="90000"/>
              </a:lnSpc>
              <a:spcBef>
                <a:spcPct val="25000"/>
              </a:spcBef>
            </a:pPr>
            <a:r>
              <a:rPr lang="en-US" altLang="en-US" sz="2800" smtClean="0">
                <a:ea typeface="ＭＳ Ｐゴシック" pitchFamily="34" charset="-128"/>
              </a:rPr>
              <a:t>1 atm is equal to:</a:t>
            </a:r>
          </a:p>
          <a:p>
            <a:pPr lvl="1">
              <a:lnSpc>
                <a:spcPct val="90000"/>
              </a:lnSpc>
              <a:spcBef>
                <a:spcPct val="25000"/>
              </a:spcBef>
            </a:pPr>
            <a:r>
              <a:rPr lang="en-US" altLang="en-US" smtClean="0">
                <a:ea typeface="ＭＳ Ｐゴシック" pitchFamily="34" charset="-128"/>
              </a:rPr>
              <a:t>760 mmHg</a:t>
            </a:r>
          </a:p>
          <a:p>
            <a:pPr lvl="1">
              <a:lnSpc>
                <a:spcPct val="90000"/>
              </a:lnSpc>
              <a:spcBef>
                <a:spcPct val="25000"/>
              </a:spcBef>
            </a:pPr>
            <a:r>
              <a:rPr lang="en-US" altLang="en-US" smtClean="0">
                <a:ea typeface="ＭＳ Ｐゴシック" pitchFamily="34" charset="-128"/>
              </a:rPr>
              <a:t>760 torr</a:t>
            </a:r>
          </a:p>
          <a:p>
            <a:pPr lvl="1">
              <a:lnSpc>
                <a:spcPct val="90000"/>
              </a:lnSpc>
              <a:spcBef>
                <a:spcPct val="25000"/>
              </a:spcBef>
            </a:pPr>
            <a:r>
              <a:rPr lang="en-US" altLang="en-US" smtClean="0">
                <a:ea typeface="ＭＳ Ｐゴシック" pitchFamily="34" charset="-128"/>
              </a:rPr>
              <a:t>76.0 cmHg</a:t>
            </a:r>
            <a:endParaRPr lang="en-US" altLang="en-US" sz="2000" smtClean="0">
              <a:ea typeface="ＭＳ Ｐゴシック" pitchFamily="34" charset="-128"/>
            </a:endParaRPr>
          </a:p>
        </p:txBody>
      </p:sp>
      <p:pic>
        <p:nvPicPr>
          <p:cNvPr id="8196" name="Picture 13" descr="05_0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1219200"/>
            <a:ext cx="3479800" cy="541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" name="Group 9"/>
          <p:cNvGrpSpPr>
            <a:grpSpLocks/>
          </p:cNvGrpSpPr>
          <p:nvPr/>
        </p:nvGrpSpPr>
        <p:grpSpPr bwMode="auto">
          <a:xfrm>
            <a:off x="8039100" y="4648200"/>
            <a:ext cx="762000" cy="523875"/>
            <a:chOff x="3962400" y="5791200"/>
            <a:chExt cx="762000" cy="523220"/>
          </a:xfrm>
        </p:grpSpPr>
        <p:sp>
          <p:nvSpPr>
            <p:cNvPr id="7" name="TextBox 6"/>
            <p:cNvSpPr txBox="1">
              <a:spLocks noChangeArrowheads="1"/>
            </p:cNvSpPr>
            <p:nvPr/>
          </p:nvSpPr>
          <p:spPr bwMode="auto">
            <a:xfrm>
              <a:off x="3962400" y="5791200"/>
              <a:ext cx="685800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1pPr>
              <a:lvl2pPr marL="742950" indent="-28575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2pPr>
              <a:lvl3pPr marL="1143000" indent="-22860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3pPr>
              <a:lvl4pPr marL="1600200" indent="-22860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4pPr>
              <a:lvl5pPr marL="2057400" indent="-22860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9pPr>
            </a:lstStyle>
            <a:p>
              <a:r>
                <a:rPr lang="en-US" altLang="en-US" sz="2800">
                  <a:solidFill>
                    <a:schemeClr val="accent2"/>
                  </a:solidFill>
                  <a:latin typeface="Arial Black" pitchFamily="34" charset="0"/>
                </a:rPr>
                <a:t>1</a:t>
              </a:r>
            </a:p>
          </p:txBody>
        </p:sp>
        <p:sp>
          <p:nvSpPr>
            <p:cNvPr id="8" name="Isosceles Triangle 8"/>
            <p:cNvSpPr>
              <a:spLocks noChangeArrowheads="1"/>
            </p:cNvSpPr>
            <p:nvPr/>
          </p:nvSpPr>
          <p:spPr bwMode="auto">
            <a:xfrm rot="5400000">
              <a:off x="4533900" y="5927108"/>
              <a:ext cx="152400" cy="228600"/>
            </a:xfrm>
            <a:prstGeom prst="triangle">
              <a:avLst>
                <a:gd name="adj" fmla="val 50000"/>
              </a:avLst>
            </a:prstGeom>
            <a:solidFill>
              <a:srgbClr val="F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1pPr>
              <a:lvl2pPr marL="742950" indent="-28575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2pPr>
              <a:lvl3pPr marL="1143000" indent="-22860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3pPr>
              <a:lvl4pPr marL="1600200" indent="-22860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4pPr>
              <a:lvl5pPr marL="2057400" indent="-22860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9pPr>
            </a:lstStyle>
            <a:p>
              <a:endParaRPr lang="en-IN" altLang="en-US"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Rectangle 8"/>
          <p:cNvSpPr>
            <a:spLocks noChangeArrowheads="1"/>
          </p:cNvSpPr>
          <p:nvPr/>
        </p:nvSpPr>
        <p:spPr bwMode="auto">
          <a:xfrm rot="-5400000">
            <a:off x="-2667000" y="2971800"/>
            <a:ext cx="61722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1pPr>
            <a:lvl2pPr marL="742950" indent="-28575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2pPr>
            <a:lvl3pPr marL="11430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3pPr>
            <a:lvl4pPr marL="16002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4pPr>
            <a:lvl5pPr marL="20574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9pPr>
          </a:lstStyle>
          <a:p>
            <a:r>
              <a:rPr lang="en-US" altLang="en-US">
                <a:solidFill>
                  <a:schemeClr val="bg2"/>
                </a:solidFill>
              </a:rPr>
              <a:t>5.1 The Gaseous State</a:t>
            </a:r>
          </a:p>
        </p:txBody>
      </p:sp>
      <p:sp>
        <p:nvSpPr>
          <p:cNvPr id="9218" name="Rectangle 9"/>
          <p:cNvSpPr>
            <a:spLocks noGrp="1" noChangeArrowheads="1"/>
          </p:cNvSpPr>
          <p:nvPr>
            <p:ph type="title"/>
          </p:nvPr>
        </p:nvSpPr>
        <p:spPr>
          <a:xfrm>
            <a:off x="838200" y="228600"/>
            <a:ext cx="8153400" cy="838200"/>
          </a:xfrm>
        </p:spPr>
        <p:txBody>
          <a:bodyPr/>
          <a:lstStyle/>
          <a:p>
            <a:r>
              <a:rPr lang="en-US" altLang="en-US" smtClean="0">
                <a:ea typeface="ＭＳ Ｐゴシック" pitchFamily="34" charset="-128"/>
              </a:rPr>
              <a:t>Kinetic Molecular Theory of Gases</a:t>
            </a:r>
          </a:p>
        </p:txBody>
      </p:sp>
      <p:sp>
        <p:nvSpPr>
          <p:cNvPr id="14340" name="Rectangle 10"/>
          <p:cNvSpPr>
            <a:spLocks noGrp="1" noChangeArrowheads="1"/>
          </p:cNvSpPr>
          <p:nvPr>
            <p:ph type="body" idx="1"/>
          </p:nvPr>
        </p:nvSpPr>
        <p:spPr>
          <a:xfrm>
            <a:off x="1143000" y="1447800"/>
            <a:ext cx="7772400" cy="4800600"/>
          </a:xfrm>
        </p:spPr>
        <p:txBody>
          <a:bodyPr/>
          <a:lstStyle/>
          <a:p>
            <a:pPr marL="609600" indent="-609600">
              <a:lnSpc>
                <a:spcPct val="90000"/>
              </a:lnSpc>
              <a:spcBef>
                <a:spcPct val="30000"/>
              </a:spcBef>
              <a:buFontTx/>
              <a:buAutoNum type="arabicPeriod"/>
              <a:defRPr/>
            </a:pPr>
            <a:r>
              <a:rPr lang="en-US" dirty="0">
                <a:cs typeface="+mn-cs"/>
              </a:rPr>
              <a:t>Gases are made up of small atoms or molecules that are in constant, </a:t>
            </a:r>
            <a:r>
              <a:rPr lang="en-US" dirty="0" smtClean="0">
                <a:cs typeface="+mn-cs"/>
              </a:rPr>
              <a:t>random, and linear motion</a:t>
            </a:r>
            <a:endParaRPr lang="en-US" dirty="0">
              <a:cs typeface="+mn-cs"/>
            </a:endParaRPr>
          </a:p>
          <a:p>
            <a:pPr marL="609600" indent="-609600">
              <a:lnSpc>
                <a:spcPct val="90000"/>
              </a:lnSpc>
              <a:spcBef>
                <a:spcPct val="30000"/>
              </a:spcBef>
              <a:buFontTx/>
              <a:buAutoNum type="arabicPeriod"/>
              <a:defRPr/>
            </a:pPr>
            <a:r>
              <a:rPr lang="en-US" dirty="0">
                <a:cs typeface="+mn-cs"/>
              </a:rPr>
              <a:t>The distance of separation is very large compared </a:t>
            </a:r>
            <a:r>
              <a:rPr lang="en-US" dirty="0" smtClean="0">
                <a:cs typeface="+mn-cs"/>
              </a:rPr>
              <a:t>to </a:t>
            </a:r>
            <a:r>
              <a:rPr lang="en-US" dirty="0">
                <a:cs typeface="+mn-cs"/>
              </a:rPr>
              <a:t>the size of the individual atoms or molecules </a:t>
            </a:r>
          </a:p>
          <a:p>
            <a:pPr marL="990600" lvl="1" indent="-533400">
              <a:lnSpc>
                <a:spcPct val="90000"/>
              </a:lnSpc>
              <a:spcBef>
                <a:spcPct val="30000"/>
              </a:spcBef>
              <a:defRPr/>
            </a:pPr>
            <a:r>
              <a:rPr lang="en-US" dirty="0"/>
              <a:t>Gas is mostly empty space</a:t>
            </a:r>
          </a:p>
          <a:p>
            <a:pPr marL="609600" indent="-609600">
              <a:lnSpc>
                <a:spcPct val="90000"/>
              </a:lnSpc>
              <a:spcBef>
                <a:spcPct val="30000"/>
              </a:spcBef>
              <a:buFontTx/>
              <a:buAutoNum type="arabicPeriod"/>
              <a:defRPr/>
            </a:pPr>
            <a:r>
              <a:rPr lang="en-US" dirty="0">
                <a:cs typeface="+mn-cs"/>
              </a:rPr>
              <a:t>All gas particles behave independently</a:t>
            </a:r>
            <a:r>
              <a:rPr lang="en-US" sz="2800" dirty="0">
                <a:cs typeface="+mn-cs"/>
              </a:rPr>
              <a:t> </a:t>
            </a:r>
          </a:p>
          <a:p>
            <a:pPr marL="990600" lvl="1" indent="-533400">
              <a:lnSpc>
                <a:spcPct val="80000"/>
              </a:lnSpc>
              <a:spcBef>
                <a:spcPct val="30000"/>
              </a:spcBef>
              <a:defRPr/>
            </a:pPr>
            <a:r>
              <a:rPr lang="en-US" dirty="0"/>
              <a:t>No attractive or repulsive forces exist between them</a:t>
            </a:r>
          </a:p>
          <a:p>
            <a:pPr marL="457200" lvl="1" indent="0">
              <a:lnSpc>
                <a:spcPct val="90000"/>
              </a:lnSpc>
              <a:spcBef>
                <a:spcPct val="50000"/>
              </a:spcBef>
              <a:buClrTx/>
              <a:buFontTx/>
              <a:buNone/>
              <a:defRPr/>
            </a:pPr>
            <a:endParaRPr lang="en-US" u="sng" dirty="0"/>
          </a:p>
        </p:txBody>
      </p:sp>
      <p:grpSp>
        <p:nvGrpSpPr>
          <p:cNvPr id="9220" name="Group 9"/>
          <p:cNvGrpSpPr>
            <a:grpSpLocks/>
          </p:cNvGrpSpPr>
          <p:nvPr/>
        </p:nvGrpSpPr>
        <p:grpSpPr bwMode="auto">
          <a:xfrm>
            <a:off x="8153400" y="1295400"/>
            <a:ext cx="762000" cy="523875"/>
            <a:chOff x="3962400" y="5791200"/>
            <a:chExt cx="762000" cy="523220"/>
          </a:xfrm>
        </p:grpSpPr>
        <p:sp>
          <p:nvSpPr>
            <p:cNvPr id="9221" name="TextBox 6"/>
            <p:cNvSpPr txBox="1">
              <a:spLocks noChangeArrowheads="1"/>
            </p:cNvSpPr>
            <p:nvPr/>
          </p:nvSpPr>
          <p:spPr bwMode="auto">
            <a:xfrm>
              <a:off x="3962400" y="5791200"/>
              <a:ext cx="685800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1pPr>
              <a:lvl2pPr marL="742950" indent="-28575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2pPr>
              <a:lvl3pPr marL="1143000" indent="-22860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3pPr>
              <a:lvl4pPr marL="1600200" indent="-22860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4pPr>
              <a:lvl5pPr marL="2057400" indent="-22860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9pPr>
            </a:lstStyle>
            <a:p>
              <a:r>
                <a:rPr lang="en-US" altLang="en-US" sz="2800" dirty="0" smtClean="0">
                  <a:solidFill>
                    <a:schemeClr val="accent2"/>
                  </a:solidFill>
                  <a:latin typeface="Arial Black" pitchFamily="34" charset="0"/>
                </a:rPr>
                <a:t>2</a:t>
              </a:r>
              <a:endParaRPr lang="en-US" altLang="en-US" sz="2800" dirty="0">
                <a:solidFill>
                  <a:schemeClr val="accent2"/>
                </a:solidFill>
                <a:latin typeface="Arial Black" pitchFamily="34" charset="0"/>
              </a:endParaRPr>
            </a:p>
          </p:txBody>
        </p:sp>
        <p:sp>
          <p:nvSpPr>
            <p:cNvPr id="9222" name="Isosceles Triangle 8"/>
            <p:cNvSpPr>
              <a:spLocks noChangeArrowheads="1"/>
            </p:cNvSpPr>
            <p:nvPr/>
          </p:nvSpPr>
          <p:spPr bwMode="auto">
            <a:xfrm rot="5400000">
              <a:off x="4533900" y="5927108"/>
              <a:ext cx="152400" cy="228600"/>
            </a:xfrm>
            <a:prstGeom prst="triangle">
              <a:avLst>
                <a:gd name="adj" fmla="val 50000"/>
              </a:avLst>
            </a:prstGeom>
            <a:solidFill>
              <a:srgbClr val="F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1pPr>
              <a:lvl2pPr marL="742950" indent="-28575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2pPr>
              <a:lvl3pPr marL="1143000" indent="-22860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3pPr>
              <a:lvl4pPr marL="1600200" indent="-22860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4pPr>
              <a:lvl5pPr marL="2057400" indent="-22860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9pPr>
            </a:lstStyle>
            <a:p>
              <a:endParaRPr lang="en-IN" altLang="en-US"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4"/>
          <p:cNvSpPr>
            <a:spLocks noChangeArrowheads="1"/>
          </p:cNvSpPr>
          <p:nvPr/>
        </p:nvSpPr>
        <p:spPr bwMode="auto">
          <a:xfrm rot="-5400000">
            <a:off x="-2590800" y="2895600"/>
            <a:ext cx="61722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1pPr>
            <a:lvl2pPr marL="742950" indent="-28575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2pPr>
            <a:lvl3pPr marL="11430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3pPr>
            <a:lvl4pPr marL="16002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4pPr>
            <a:lvl5pPr marL="20574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9pPr>
          </a:lstStyle>
          <a:p>
            <a:r>
              <a:rPr lang="en-US" altLang="en-US">
                <a:solidFill>
                  <a:schemeClr val="bg2"/>
                </a:solidFill>
              </a:rPr>
              <a:t>5.1 The Gaseous State</a:t>
            </a:r>
          </a:p>
        </p:txBody>
      </p:sp>
      <p:sp>
        <p:nvSpPr>
          <p:cNvPr id="10242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990600" y="1371600"/>
            <a:ext cx="7924800" cy="4800600"/>
          </a:xfrm>
        </p:spPr>
        <p:txBody>
          <a:bodyPr/>
          <a:lstStyle/>
          <a:p>
            <a:pPr marL="533400" indent="-533400">
              <a:spcBef>
                <a:spcPct val="50000"/>
              </a:spcBef>
              <a:buFontTx/>
              <a:buAutoNum type="arabicPeriod" startAt="4"/>
            </a:pPr>
            <a:r>
              <a:rPr lang="en-US" altLang="en-US" dirty="0" smtClean="0">
                <a:ea typeface="ＭＳ Ｐゴシック" pitchFamily="34" charset="-128"/>
              </a:rPr>
              <a:t>Gas particles collide with each other and with the walls of the container without losing energy </a:t>
            </a:r>
            <a:br>
              <a:rPr lang="en-US" altLang="en-US" dirty="0" smtClean="0">
                <a:ea typeface="ＭＳ Ｐゴシック" pitchFamily="34" charset="-128"/>
              </a:rPr>
            </a:br>
            <a:endParaRPr lang="en-US" altLang="en-US" dirty="0" smtClean="0">
              <a:ea typeface="ＭＳ Ｐゴシック" pitchFamily="34" charset="-128"/>
            </a:endParaRPr>
          </a:p>
          <a:p>
            <a:pPr marL="914400" lvl="1" indent="-457200">
              <a:lnSpc>
                <a:spcPct val="80000"/>
              </a:lnSpc>
              <a:spcBef>
                <a:spcPct val="50000"/>
              </a:spcBef>
            </a:pPr>
            <a:r>
              <a:rPr lang="en-US" altLang="en-US" dirty="0" smtClean="0">
                <a:ea typeface="ＭＳ Ｐゴシック" pitchFamily="34" charset="-128"/>
              </a:rPr>
              <a:t>The energy is transferred from one atom or molecule to another</a:t>
            </a:r>
            <a:br>
              <a:rPr lang="en-US" altLang="en-US" dirty="0" smtClean="0">
                <a:ea typeface="ＭＳ Ｐゴシック" pitchFamily="34" charset="-128"/>
              </a:rPr>
            </a:br>
            <a:endParaRPr lang="en-US" altLang="en-US" dirty="0" smtClean="0">
              <a:ea typeface="ＭＳ Ｐゴシック" pitchFamily="34" charset="-128"/>
            </a:endParaRPr>
          </a:p>
          <a:p>
            <a:pPr marL="914400" lvl="1" indent="-457200">
              <a:lnSpc>
                <a:spcPct val="80000"/>
              </a:lnSpc>
              <a:spcBef>
                <a:spcPct val="50000"/>
              </a:spcBef>
            </a:pPr>
            <a:r>
              <a:rPr lang="en-US" altLang="en-US" dirty="0" smtClean="0">
                <a:ea typeface="ＭＳ Ｐゴシック" pitchFamily="34" charset="-128"/>
              </a:rPr>
              <a:t>These collisions cause random changes</a:t>
            </a:r>
            <a:br>
              <a:rPr lang="en-US" altLang="en-US" dirty="0" smtClean="0">
                <a:ea typeface="ＭＳ Ｐゴシック" pitchFamily="34" charset="-128"/>
              </a:rPr>
            </a:br>
            <a:r>
              <a:rPr lang="en-US" altLang="en-US" dirty="0" smtClean="0">
                <a:ea typeface="ＭＳ Ｐゴシック" pitchFamily="34" charset="-128"/>
              </a:rPr>
              <a:t>in direction</a:t>
            </a:r>
          </a:p>
        </p:txBody>
      </p:sp>
      <p:sp>
        <p:nvSpPr>
          <p:cNvPr id="10243" name="Rectangle 7"/>
          <p:cNvSpPr>
            <a:spLocks noGrp="1" noChangeArrowheads="1"/>
          </p:cNvSpPr>
          <p:nvPr>
            <p:ph type="title"/>
          </p:nvPr>
        </p:nvSpPr>
        <p:spPr>
          <a:xfrm>
            <a:off x="838200" y="152400"/>
            <a:ext cx="8153400" cy="914400"/>
          </a:xfrm>
          <a:noFill/>
        </p:spPr>
        <p:txBody>
          <a:bodyPr/>
          <a:lstStyle/>
          <a:p>
            <a:r>
              <a:rPr lang="en-US" altLang="en-US" dirty="0" smtClean="0">
                <a:ea typeface="ＭＳ Ｐゴシック" pitchFamily="34" charset="-128"/>
              </a:rPr>
              <a:t>Kinetic Molecular Theory – </a:t>
            </a:r>
            <a:r>
              <a:rPr lang="en-US" altLang="en-US" dirty="0" err="1" smtClean="0">
                <a:ea typeface="ＭＳ Ｐゴシック" pitchFamily="34" charset="-128"/>
              </a:rPr>
              <a:t>pt</a:t>
            </a:r>
            <a:r>
              <a:rPr lang="en-US" altLang="en-US" dirty="0" smtClean="0">
                <a:ea typeface="ＭＳ Ｐゴシック" pitchFamily="34" charset="-128"/>
              </a:rPr>
              <a:t> 4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Rectangle 4"/>
          <p:cNvSpPr>
            <a:spLocks noChangeArrowheads="1"/>
          </p:cNvSpPr>
          <p:nvPr/>
        </p:nvSpPr>
        <p:spPr bwMode="auto">
          <a:xfrm rot="-5400000">
            <a:off x="-2590800" y="2895600"/>
            <a:ext cx="61722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1pPr>
            <a:lvl2pPr marL="742950" indent="-28575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2pPr>
            <a:lvl3pPr marL="11430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3pPr>
            <a:lvl4pPr marL="16002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4pPr>
            <a:lvl5pPr marL="20574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9pPr>
          </a:lstStyle>
          <a:p>
            <a:r>
              <a:rPr lang="en-US" altLang="en-US">
                <a:solidFill>
                  <a:schemeClr val="bg2"/>
                </a:solidFill>
              </a:rPr>
              <a:t>5.1 The Gaseous State</a:t>
            </a:r>
          </a:p>
        </p:txBody>
      </p:sp>
      <p:sp>
        <p:nvSpPr>
          <p:cNvPr id="11266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990600" y="1371600"/>
            <a:ext cx="7924800" cy="4800600"/>
          </a:xfrm>
        </p:spPr>
        <p:txBody>
          <a:bodyPr/>
          <a:lstStyle/>
          <a:p>
            <a:pPr marL="514350" indent="-514350">
              <a:spcBef>
                <a:spcPct val="50000"/>
              </a:spcBef>
              <a:buFont typeface="Times New Roman" pitchFamily="18" charset="0"/>
              <a:buAutoNum type="arabicPeriod" startAt="5"/>
            </a:pPr>
            <a:r>
              <a:rPr lang="en-US" altLang="en-US" smtClean="0">
                <a:ea typeface="ＭＳ Ｐゴシック" pitchFamily="34" charset="-128"/>
              </a:rPr>
              <a:t>The average kinetic energy of the atoms or      molecules increases or decreases in proportion to absolute temperature</a:t>
            </a:r>
            <a:br>
              <a:rPr lang="en-US" altLang="en-US" smtClean="0">
                <a:ea typeface="ＭＳ Ｐゴシック" pitchFamily="34" charset="-128"/>
              </a:rPr>
            </a:br>
            <a:r>
              <a:rPr lang="en-US" altLang="en-US" smtClean="0">
                <a:ea typeface="ＭＳ Ｐゴシック" pitchFamily="34" charset="-128"/>
              </a:rPr>
              <a:t> </a:t>
            </a:r>
          </a:p>
          <a:p>
            <a:pPr marL="914400" lvl="1" indent="-457200">
              <a:lnSpc>
                <a:spcPct val="80000"/>
              </a:lnSpc>
              <a:spcBef>
                <a:spcPct val="50000"/>
              </a:spcBef>
            </a:pPr>
            <a:r>
              <a:rPr lang="en-US" altLang="en-US" smtClean="0">
                <a:ea typeface="ＭＳ Ｐゴシック" pitchFamily="34" charset="-128"/>
              </a:rPr>
              <a:t>As temperature increases, particle speed (kinetic energy) also increases</a:t>
            </a:r>
            <a:br>
              <a:rPr lang="en-US" altLang="en-US" smtClean="0">
                <a:ea typeface="ＭＳ Ｐゴシック" pitchFamily="34" charset="-128"/>
              </a:rPr>
            </a:br>
            <a:endParaRPr lang="en-US" altLang="en-US" smtClean="0">
              <a:ea typeface="ＭＳ Ｐゴシック" pitchFamily="34" charset="-128"/>
            </a:endParaRPr>
          </a:p>
          <a:p>
            <a:pPr marL="914400" lvl="1" indent="-457200">
              <a:lnSpc>
                <a:spcPct val="80000"/>
              </a:lnSpc>
              <a:spcBef>
                <a:spcPct val="50000"/>
              </a:spcBef>
            </a:pPr>
            <a:endParaRPr lang="en-US" altLang="en-US" smtClean="0">
              <a:ea typeface="ＭＳ Ｐゴシック" pitchFamily="34" charset="-128"/>
            </a:endParaRPr>
          </a:p>
        </p:txBody>
      </p:sp>
      <p:sp>
        <p:nvSpPr>
          <p:cNvPr id="11267" name="Rectangle 7"/>
          <p:cNvSpPr>
            <a:spLocks noGrp="1" noChangeArrowheads="1"/>
          </p:cNvSpPr>
          <p:nvPr>
            <p:ph type="title"/>
          </p:nvPr>
        </p:nvSpPr>
        <p:spPr>
          <a:xfrm>
            <a:off x="838200" y="152400"/>
            <a:ext cx="8153400" cy="914400"/>
          </a:xfrm>
          <a:noFill/>
        </p:spPr>
        <p:txBody>
          <a:bodyPr/>
          <a:lstStyle/>
          <a:p>
            <a:r>
              <a:rPr lang="en-US" altLang="en-US" dirty="0" smtClean="0">
                <a:ea typeface="ＭＳ Ｐゴシック" pitchFamily="34" charset="-128"/>
              </a:rPr>
              <a:t>Kinetic Molecular Theory – </a:t>
            </a:r>
            <a:r>
              <a:rPr lang="en-US" altLang="en-US" dirty="0" err="1" smtClean="0">
                <a:ea typeface="ＭＳ Ｐゴシック" pitchFamily="34" charset="-128"/>
              </a:rPr>
              <a:t>pt</a:t>
            </a:r>
            <a:r>
              <a:rPr lang="en-US" altLang="en-US" dirty="0" smtClean="0">
                <a:ea typeface="ＭＳ Ｐゴシック" pitchFamily="34" charset="-128"/>
              </a:rPr>
              <a:t> 5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Rectangle 6"/>
          <p:cNvSpPr>
            <a:spLocks noChangeArrowheads="1"/>
          </p:cNvSpPr>
          <p:nvPr/>
        </p:nvSpPr>
        <p:spPr bwMode="auto">
          <a:xfrm rot="-5400000">
            <a:off x="-2590800" y="2895600"/>
            <a:ext cx="61722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1pPr>
            <a:lvl2pPr marL="742950" indent="-28575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2pPr>
            <a:lvl3pPr marL="11430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3pPr>
            <a:lvl4pPr marL="16002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4pPr>
            <a:lvl5pPr marL="20574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9pPr>
          </a:lstStyle>
          <a:p>
            <a:r>
              <a:rPr lang="en-US" altLang="en-US">
                <a:solidFill>
                  <a:schemeClr val="bg2"/>
                </a:solidFill>
              </a:rPr>
              <a:t>5.1 The Gaseous State</a:t>
            </a:r>
          </a:p>
        </p:txBody>
      </p:sp>
      <p:sp>
        <p:nvSpPr>
          <p:cNvPr id="12290" name="Rectangle 7"/>
          <p:cNvSpPr>
            <a:spLocks noGrp="1" noChangeArrowheads="1"/>
          </p:cNvSpPr>
          <p:nvPr>
            <p:ph type="title"/>
          </p:nvPr>
        </p:nvSpPr>
        <p:spPr>
          <a:xfrm>
            <a:off x="457200" y="381000"/>
            <a:ext cx="8610600" cy="1143000"/>
          </a:xfrm>
        </p:spPr>
        <p:txBody>
          <a:bodyPr/>
          <a:lstStyle/>
          <a:p>
            <a:r>
              <a:rPr lang="en-US" altLang="en-US" dirty="0" smtClean="0">
                <a:ea typeface="ＭＳ Ｐゴシック" pitchFamily="34" charset="-128"/>
              </a:rPr>
              <a:t>Properties of Gases</a:t>
            </a:r>
            <a:endParaRPr lang="en-US" altLang="en-US" sz="3200" b="1" u="sng" dirty="0" smtClean="0">
              <a:ea typeface="ＭＳ Ｐゴシック" pitchFamily="34" charset="-128"/>
            </a:endParaRPr>
          </a:p>
        </p:txBody>
      </p:sp>
      <p:sp>
        <p:nvSpPr>
          <p:cNvPr id="12291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1143000" y="1545920"/>
            <a:ext cx="7772400" cy="4473879"/>
          </a:xfrm>
        </p:spPr>
        <p:txBody>
          <a:bodyPr/>
          <a:lstStyle/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en-US" altLang="en-US" sz="2800" dirty="0" smtClean="0">
                <a:ea typeface="ＭＳ Ｐゴシック" pitchFamily="34" charset="-128"/>
              </a:rPr>
              <a:t>Gases are easily compressible </a:t>
            </a:r>
          </a:p>
          <a:p>
            <a:pPr lvl="1">
              <a:lnSpc>
                <a:spcPct val="80000"/>
              </a:lnSpc>
              <a:spcBef>
                <a:spcPct val="50000"/>
              </a:spcBef>
            </a:pPr>
            <a:r>
              <a:rPr lang="en-US" altLang="en-US" sz="2400" dirty="0" smtClean="0">
                <a:ea typeface="ＭＳ Ｐゴシック" pitchFamily="34" charset="-128"/>
              </a:rPr>
              <a:t>Gas is mostly empty space, and particles can be pushed together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en-US" altLang="en-US" sz="2800" dirty="0" smtClean="0">
                <a:ea typeface="ＭＳ Ｐゴシック" pitchFamily="34" charset="-128"/>
              </a:rPr>
              <a:t>Gases will expand to fill any available volume </a:t>
            </a:r>
          </a:p>
          <a:p>
            <a:pPr lvl="1">
              <a:lnSpc>
                <a:spcPct val="80000"/>
              </a:lnSpc>
              <a:spcBef>
                <a:spcPct val="50000"/>
              </a:spcBef>
            </a:pPr>
            <a:r>
              <a:rPr lang="en-US" altLang="en-US" sz="2400" dirty="0" smtClean="0">
                <a:ea typeface="ＭＳ Ｐゴシック" pitchFamily="34" charset="-128"/>
              </a:rPr>
              <a:t>They move freely with sufficient energy to overcome attractive forces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en-US" altLang="en-US" sz="2800" dirty="0" smtClean="0">
                <a:ea typeface="ＭＳ Ｐゴシック" pitchFamily="34" charset="-128"/>
              </a:rPr>
              <a:t>Gases readily diffuse through each other as they are in continuous motion and paths are readily available </a:t>
            </a:r>
          </a:p>
          <a:p>
            <a:pPr lvl="1">
              <a:lnSpc>
                <a:spcPct val="80000"/>
              </a:lnSpc>
              <a:spcBef>
                <a:spcPct val="50000"/>
              </a:spcBef>
            </a:pPr>
            <a:r>
              <a:rPr lang="en-US" altLang="en-US" sz="2400" dirty="0" smtClean="0">
                <a:ea typeface="ＭＳ Ｐゴシック" pitchFamily="34" charset="-128"/>
              </a:rPr>
              <a:t>Due to large space between adjacent particles</a:t>
            </a:r>
          </a:p>
        </p:txBody>
      </p:sp>
      <p:grpSp>
        <p:nvGrpSpPr>
          <p:cNvPr id="12292" name="Group 9"/>
          <p:cNvGrpSpPr>
            <a:grpSpLocks/>
          </p:cNvGrpSpPr>
          <p:nvPr/>
        </p:nvGrpSpPr>
        <p:grpSpPr bwMode="auto">
          <a:xfrm>
            <a:off x="8077200" y="1295400"/>
            <a:ext cx="762000" cy="523875"/>
            <a:chOff x="3962400" y="5791200"/>
            <a:chExt cx="762000" cy="523220"/>
          </a:xfrm>
        </p:grpSpPr>
        <p:sp>
          <p:nvSpPr>
            <p:cNvPr id="12293" name="TextBox 6"/>
            <p:cNvSpPr txBox="1">
              <a:spLocks noChangeArrowheads="1"/>
            </p:cNvSpPr>
            <p:nvPr/>
          </p:nvSpPr>
          <p:spPr bwMode="auto">
            <a:xfrm>
              <a:off x="3962400" y="5791200"/>
              <a:ext cx="685800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1pPr>
              <a:lvl2pPr marL="742950" indent="-28575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2pPr>
              <a:lvl3pPr marL="1143000" indent="-22860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3pPr>
              <a:lvl4pPr marL="1600200" indent="-22860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4pPr>
              <a:lvl5pPr marL="2057400" indent="-22860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9pPr>
            </a:lstStyle>
            <a:p>
              <a:r>
                <a:rPr lang="en-US" altLang="en-US" sz="2800" dirty="0" smtClean="0">
                  <a:solidFill>
                    <a:schemeClr val="accent2"/>
                  </a:solidFill>
                  <a:latin typeface="Arial Black" pitchFamily="34" charset="0"/>
                </a:rPr>
                <a:t>3</a:t>
              </a:r>
              <a:endParaRPr lang="en-US" altLang="en-US" sz="2800" dirty="0">
                <a:solidFill>
                  <a:schemeClr val="accent2"/>
                </a:solidFill>
                <a:latin typeface="Arial Black" pitchFamily="34" charset="0"/>
              </a:endParaRPr>
            </a:p>
          </p:txBody>
        </p:sp>
        <p:sp>
          <p:nvSpPr>
            <p:cNvPr id="12294" name="Isosceles Triangle 8"/>
            <p:cNvSpPr>
              <a:spLocks noChangeArrowheads="1"/>
            </p:cNvSpPr>
            <p:nvPr/>
          </p:nvSpPr>
          <p:spPr bwMode="auto">
            <a:xfrm rot="5400000">
              <a:off x="4533900" y="5927108"/>
              <a:ext cx="152400" cy="228600"/>
            </a:xfrm>
            <a:prstGeom prst="triangle">
              <a:avLst>
                <a:gd name="adj" fmla="val 50000"/>
              </a:avLst>
            </a:prstGeom>
            <a:solidFill>
              <a:srgbClr val="F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1pPr>
              <a:lvl2pPr marL="742950" indent="-28575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2pPr>
              <a:lvl3pPr marL="1143000" indent="-22860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3pPr>
              <a:lvl4pPr marL="1600200" indent="-22860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4pPr>
              <a:lvl5pPr marL="2057400" indent="-22860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9pPr>
            </a:lstStyle>
            <a:p>
              <a:endParaRPr lang="en-IN" altLang="en-US"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2"/>
          <p:cNvSpPr>
            <a:spLocks noChangeArrowheads="1"/>
          </p:cNvSpPr>
          <p:nvPr/>
        </p:nvSpPr>
        <p:spPr bwMode="auto">
          <a:xfrm rot="-5400000">
            <a:off x="-2590800" y="2895600"/>
            <a:ext cx="61722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1pPr>
            <a:lvl2pPr marL="742950" indent="-28575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2pPr>
            <a:lvl3pPr marL="11430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3pPr>
            <a:lvl4pPr marL="16002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4pPr>
            <a:lvl5pPr marL="20574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9pPr>
          </a:lstStyle>
          <a:p>
            <a:r>
              <a:rPr lang="en-US" altLang="en-US">
                <a:solidFill>
                  <a:schemeClr val="bg2"/>
                </a:solidFill>
              </a:rPr>
              <a:t>5.1 The Gaseous State</a:t>
            </a:r>
          </a:p>
        </p:txBody>
      </p:sp>
      <p:sp>
        <p:nvSpPr>
          <p:cNvPr id="13314" name="Rectangle 3"/>
          <p:cNvSpPr>
            <a:spLocks noGrp="1" noChangeArrowheads="1"/>
          </p:cNvSpPr>
          <p:nvPr>
            <p:ph type="title"/>
          </p:nvPr>
        </p:nvSpPr>
        <p:spPr>
          <a:xfrm>
            <a:off x="457200" y="381000"/>
            <a:ext cx="8610600" cy="1143000"/>
          </a:xfrm>
        </p:spPr>
        <p:txBody>
          <a:bodyPr/>
          <a:lstStyle/>
          <a:p>
            <a:r>
              <a:rPr lang="en-US" altLang="en-US" sz="3200" b="1" u="sng" smtClean="0">
                <a:ea typeface="ＭＳ Ｐゴシック" pitchFamily="34" charset="-128"/>
              </a:rPr>
              <a:t/>
            </a:r>
            <a:br>
              <a:rPr lang="en-US" altLang="en-US" sz="3200" b="1" u="sng" smtClean="0">
                <a:ea typeface="ＭＳ Ｐゴシック" pitchFamily="34" charset="-128"/>
              </a:rPr>
            </a:br>
            <a:endParaRPr lang="en-US" altLang="en-US" sz="3200" b="1" u="sng" smtClean="0">
              <a:ea typeface="ＭＳ Ｐゴシック" pitchFamily="34" charset="-128"/>
            </a:endParaRPr>
          </a:p>
        </p:txBody>
      </p:sp>
      <p:sp>
        <p:nvSpPr>
          <p:cNvPr id="13315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1143000" y="457200"/>
            <a:ext cx="7772400" cy="5943600"/>
          </a:xfrm>
        </p:spPr>
        <p:txBody>
          <a:bodyPr/>
          <a:lstStyle/>
          <a:p>
            <a:pPr>
              <a:spcBef>
                <a:spcPct val="50000"/>
              </a:spcBef>
            </a:pPr>
            <a:r>
              <a:rPr lang="en-US" altLang="en-US" sz="2800" dirty="0" smtClean="0">
                <a:ea typeface="ＭＳ Ｐゴシック" pitchFamily="34" charset="-128"/>
              </a:rPr>
              <a:t>Gases have low density</a:t>
            </a:r>
          </a:p>
          <a:p>
            <a:pPr lvl="1">
              <a:spcBef>
                <a:spcPct val="50000"/>
              </a:spcBef>
            </a:pPr>
            <a:r>
              <a:rPr lang="en-US" altLang="en-US" sz="2400" dirty="0" smtClean="0">
                <a:ea typeface="ＭＳ Ｐゴシック" pitchFamily="34" charset="-128"/>
              </a:rPr>
              <a:t>They are mostly empty space, gases have low mass per unit volume</a:t>
            </a:r>
          </a:p>
          <a:p>
            <a:pPr>
              <a:spcBef>
                <a:spcPct val="50000"/>
              </a:spcBef>
            </a:pPr>
            <a:r>
              <a:rPr lang="en-US" altLang="en-US" sz="2800" dirty="0" smtClean="0">
                <a:ea typeface="ＭＳ Ｐゴシック" pitchFamily="34" charset="-128"/>
              </a:rPr>
              <a:t>Gases exert pressure on their containers</a:t>
            </a:r>
          </a:p>
          <a:p>
            <a:pPr lvl="1">
              <a:spcBef>
                <a:spcPct val="50000"/>
              </a:spcBef>
            </a:pPr>
            <a:r>
              <a:rPr lang="en-US" altLang="en-US" sz="2400" dirty="0" smtClean="0">
                <a:ea typeface="ＭＳ Ｐゴシック" pitchFamily="34" charset="-128"/>
              </a:rPr>
              <a:t>This pressure results from the collisions of gas particles with the walls of their container</a:t>
            </a:r>
          </a:p>
          <a:p>
            <a:pPr>
              <a:spcBef>
                <a:spcPct val="50000"/>
              </a:spcBef>
            </a:pPr>
            <a:r>
              <a:rPr lang="en-US" altLang="en-US" sz="2800" dirty="0" smtClean="0">
                <a:ea typeface="ＭＳ Ｐゴシック" pitchFamily="34" charset="-128"/>
              </a:rPr>
              <a:t>Gases behave most ideally at </a:t>
            </a:r>
            <a:r>
              <a:rPr lang="en-US" altLang="en-US" sz="2800" i="1" dirty="0" smtClean="0">
                <a:ea typeface="ＭＳ Ｐゴシック" pitchFamily="34" charset="-128"/>
              </a:rPr>
              <a:t>low pressure </a:t>
            </a:r>
            <a:r>
              <a:rPr lang="en-US" altLang="en-US" sz="2800" dirty="0" smtClean="0">
                <a:ea typeface="ＭＳ Ｐゴシック" pitchFamily="34" charset="-128"/>
              </a:rPr>
              <a:t>and </a:t>
            </a:r>
            <a:r>
              <a:rPr lang="en-US" altLang="en-US" sz="2800" i="1" dirty="0" smtClean="0">
                <a:ea typeface="ＭＳ Ｐゴシック" pitchFamily="34" charset="-128"/>
              </a:rPr>
              <a:t>high temperature</a:t>
            </a:r>
            <a:r>
              <a:rPr lang="en-US" altLang="en-US" sz="2800" dirty="0" smtClean="0">
                <a:ea typeface="ＭＳ Ｐゴシック" pitchFamily="34" charset="-128"/>
              </a:rPr>
              <a:t>: </a:t>
            </a:r>
          </a:p>
          <a:p>
            <a:pPr lvl="1">
              <a:spcBef>
                <a:spcPct val="50000"/>
              </a:spcBef>
            </a:pPr>
            <a:r>
              <a:rPr lang="en-US" altLang="en-US" sz="2400" dirty="0" smtClean="0">
                <a:ea typeface="ＭＳ Ｐゴシック" pitchFamily="34" charset="-128"/>
              </a:rPr>
              <a:t>At low pressure the average distance of separation is greatest, which minimizes interactive forces</a:t>
            </a:r>
            <a:endParaRPr lang="en-US" altLang="en-US" dirty="0" smtClean="0">
              <a:ea typeface="ＭＳ Ｐゴシック" pitchFamily="34" charset="-128"/>
            </a:endParaRPr>
          </a:p>
          <a:p>
            <a:pPr lvl="1"/>
            <a:r>
              <a:rPr lang="en-US" altLang="en-US" sz="2400" dirty="0" smtClean="0">
                <a:ea typeface="ＭＳ Ｐゴシック" pitchFamily="34" charset="-128"/>
              </a:rPr>
              <a:t>At high temperature, rapid motion overcomes interactive forces more easily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7" name="Picture 2" descr="06_0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066800"/>
            <a:ext cx="6553200" cy="561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38" name="Rectangle 3"/>
          <p:cNvSpPr>
            <a:spLocks noGrp="1" noChangeArrowheads="1"/>
          </p:cNvSpPr>
          <p:nvPr>
            <p:ph type="title"/>
          </p:nvPr>
        </p:nvSpPr>
        <p:spPr>
          <a:xfrm>
            <a:off x="1066800" y="152400"/>
            <a:ext cx="7772400" cy="685800"/>
          </a:xfrm>
        </p:spPr>
        <p:txBody>
          <a:bodyPr/>
          <a:lstStyle/>
          <a:p>
            <a:r>
              <a:rPr lang="en-CA" altLang="en-US" dirty="0" smtClean="0">
                <a:ea typeface="ＭＳ Ｐゴシック" pitchFamily="34" charset="-128"/>
              </a:rPr>
              <a:t>Gaseous Diffusion</a:t>
            </a:r>
          </a:p>
        </p:txBody>
      </p:sp>
      <p:sp>
        <p:nvSpPr>
          <p:cNvPr id="14339" name="Rectangle 4"/>
          <p:cNvSpPr>
            <a:spLocks noChangeArrowheads="1"/>
          </p:cNvSpPr>
          <p:nvPr/>
        </p:nvSpPr>
        <p:spPr bwMode="auto">
          <a:xfrm rot="-5400000">
            <a:off x="-2590800" y="2895600"/>
            <a:ext cx="61722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1pPr>
            <a:lvl2pPr marL="742950" indent="-28575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2pPr>
            <a:lvl3pPr marL="11430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3pPr>
            <a:lvl4pPr marL="16002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4pPr>
            <a:lvl5pPr marL="20574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9pPr>
          </a:lstStyle>
          <a:p>
            <a:r>
              <a:rPr lang="en-US" altLang="en-US">
                <a:solidFill>
                  <a:schemeClr val="bg2"/>
                </a:solidFill>
              </a:rPr>
              <a:t>5.1 The Gaseous State</a:t>
            </a:r>
          </a:p>
        </p:txBody>
      </p:sp>
      <p:sp>
        <p:nvSpPr>
          <p:cNvPr id="14340" name="Text Box 5"/>
          <p:cNvSpPr txBox="1">
            <a:spLocks noChangeArrowheads="1"/>
          </p:cNvSpPr>
          <p:nvPr/>
        </p:nvSpPr>
        <p:spPr bwMode="auto">
          <a:xfrm>
            <a:off x="5562600" y="3352800"/>
            <a:ext cx="3200400" cy="5191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1pPr>
            <a:lvl2pPr marL="742950" indent="-28575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2pPr>
            <a:lvl3pPr marL="11430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3pPr>
            <a:lvl4pPr marL="16002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4pPr>
            <a:lvl5pPr marL="20574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9pPr>
          </a:lstStyle>
          <a:p>
            <a:pPr algn="l"/>
            <a:r>
              <a:rPr lang="en-US" altLang="en-US" sz="2800">
                <a:solidFill>
                  <a:schemeClr val="tx1"/>
                </a:solidFill>
              </a:rPr>
              <a:t>Ammonia </a:t>
            </a:r>
            <a:r>
              <a:rPr lang="en-US" altLang="en-US" sz="2400">
                <a:solidFill>
                  <a:schemeClr val="tx1"/>
                </a:solidFill>
              </a:rPr>
              <a:t>(17.0g/mol)</a:t>
            </a:r>
          </a:p>
        </p:txBody>
      </p:sp>
      <p:sp>
        <p:nvSpPr>
          <p:cNvPr id="14341" name="Text Box 6"/>
          <p:cNvSpPr txBox="1">
            <a:spLocks noChangeArrowheads="1"/>
          </p:cNvSpPr>
          <p:nvPr/>
        </p:nvSpPr>
        <p:spPr bwMode="auto">
          <a:xfrm>
            <a:off x="685800" y="6248400"/>
            <a:ext cx="8305800" cy="4889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1pPr>
            <a:lvl2pPr marL="742950" indent="-28575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2pPr>
            <a:lvl3pPr marL="11430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3pPr>
            <a:lvl4pPr marL="16002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4pPr>
            <a:lvl5pPr marL="20574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9pPr>
          </a:lstStyle>
          <a:p>
            <a:pPr algn="l"/>
            <a:r>
              <a:rPr lang="en-US" altLang="en-US" sz="2600">
                <a:solidFill>
                  <a:schemeClr val="tx1"/>
                </a:solidFill>
              </a:rPr>
              <a:t>Ammonia diffused farther in same time; lighter moves faster.</a:t>
            </a:r>
          </a:p>
        </p:txBody>
      </p:sp>
      <p:sp>
        <p:nvSpPr>
          <p:cNvPr id="14342" name="Text Box 7"/>
          <p:cNvSpPr txBox="1">
            <a:spLocks noChangeArrowheads="1"/>
          </p:cNvSpPr>
          <p:nvPr/>
        </p:nvSpPr>
        <p:spPr bwMode="auto">
          <a:xfrm>
            <a:off x="990600" y="3352800"/>
            <a:ext cx="4572000" cy="5191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1pPr>
            <a:lvl2pPr marL="742950" indent="-28575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2pPr>
            <a:lvl3pPr marL="11430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3pPr>
            <a:lvl4pPr marL="16002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4pPr>
            <a:lvl5pPr marL="20574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9pPr>
          </a:lstStyle>
          <a:p>
            <a:pPr algn="l"/>
            <a:r>
              <a:rPr lang="en-US" altLang="en-US" sz="2800">
                <a:solidFill>
                  <a:schemeClr val="tx1"/>
                </a:solidFill>
              </a:rPr>
              <a:t>Hydrogen chloride </a:t>
            </a:r>
            <a:r>
              <a:rPr lang="en-US" altLang="en-US" sz="2400">
                <a:solidFill>
                  <a:schemeClr val="tx1"/>
                </a:solidFill>
              </a:rPr>
              <a:t>(36.5g/mol)</a:t>
            </a:r>
          </a:p>
        </p:txBody>
      </p:sp>
      <p:sp>
        <p:nvSpPr>
          <p:cNvPr id="14343" name="Line 8"/>
          <p:cNvSpPr>
            <a:spLocks noChangeShapeType="1"/>
          </p:cNvSpPr>
          <p:nvPr/>
        </p:nvSpPr>
        <p:spPr bwMode="auto">
          <a:xfrm flipH="1" flipV="1">
            <a:off x="2209800" y="2362200"/>
            <a:ext cx="381000" cy="121920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4344" name="Line 9"/>
          <p:cNvSpPr>
            <a:spLocks noChangeShapeType="1"/>
          </p:cNvSpPr>
          <p:nvPr/>
        </p:nvSpPr>
        <p:spPr bwMode="auto">
          <a:xfrm flipH="1">
            <a:off x="3962400" y="3810000"/>
            <a:ext cx="2590800" cy="1371600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4345" name="Line 10"/>
          <p:cNvSpPr>
            <a:spLocks noChangeShapeType="1"/>
          </p:cNvSpPr>
          <p:nvPr/>
        </p:nvSpPr>
        <p:spPr bwMode="auto">
          <a:xfrm>
            <a:off x="2667000" y="3810000"/>
            <a:ext cx="762000" cy="137160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4346" name="Line 11"/>
          <p:cNvSpPr>
            <a:spLocks noChangeShapeType="1"/>
          </p:cNvSpPr>
          <p:nvPr/>
        </p:nvSpPr>
        <p:spPr bwMode="auto">
          <a:xfrm flipV="1">
            <a:off x="6553200" y="2362200"/>
            <a:ext cx="609600" cy="1066800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4347" name="Text Box 12"/>
          <p:cNvSpPr txBox="1">
            <a:spLocks noChangeArrowheads="1"/>
          </p:cNvSpPr>
          <p:nvPr/>
        </p:nvSpPr>
        <p:spPr bwMode="auto">
          <a:xfrm>
            <a:off x="6172200" y="1219200"/>
            <a:ext cx="18288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1pPr>
            <a:lvl2pPr marL="742950" indent="-28575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2pPr>
            <a:lvl3pPr marL="11430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3pPr>
            <a:lvl4pPr marL="16002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4pPr>
            <a:lvl5pPr marL="20574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9pPr>
          </a:lstStyle>
          <a:p>
            <a:r>
              <a:rPr lang="en-US" altLang="en-US" sz="2400">
                <a:solidFill>
                  <a:schemeClr val="bg1"/>
                </a:solidFill>
              </a:rPr>
              <a:t>Top:</a:t>
            </a:r>
          </a:p>
          <a:p>
            <a:r>
              <a:rPr lang="en-US" altLang="en-US" sz="2400">
                <a:solidFill>
                  <a:schemeClr val="bg1"/>
                </a:solidFill>
              </a:rPr>
              <a:t>Start of expt</a:t>
            </a:r>
          </a:p>
        </p:txBody>
      </p:sp>
      <p:sp>
        <p:nvSpPr>
          <p:cNvPr id="14348" name="Text Box 13"/>
          <p:cNvSpPr txBox="1">
            <a:spLocks noChangeArrowheads="1"/>
          </p:cNvSpPr>
          <p:nvPr/>
        </p:nvSpPr>
        <p:spPr bwMode="auto">
          <a:xfrm>
            <a:off x="6400800" y="4114800"/>
            <a:ext cx="1604963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1pPr>
            <a:lvl2pPr marL="742950" indent="-28575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2pPr>
            <a:lvl3pPr marL="11430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3pPr>
            <a:lvl4pPr marL="16002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4pPr>
            <a:lvl5pPr marL="20574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9pPr>
          </a:lstStyle>
          <a:p>
            <a:r>
              <a:rPr lang="en-US" altLang="en-US" sz="2400"/>
              <a:t>Bottom:</a:t>
            </a:r>
          </a:p>
          <a:p>
            <a:r>
              <a:rPr lang="en-US" altLang="en-US" sz="2400"/>
              <a:t>End of expt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13"/>
          <p:cNvSpPr>
            <a:spLocks noGrp="1" noChangeArrowheads="1"/>
          </p:cNvSpPr>
          <p:nvPr>
            <p:ph type="body" idx="1"/>
          </p:nvPr>
        </p:nvSpPr>
        <p:spPr>
          <a:xfrm>
            <a:off x="1143000" y="1447800"/>
            <a:ext cx="7772400" cy="4876800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ct val="50000"/>
              </a:spcBef>
              <a:buClr>
                <a:schemeClr val="tx1"/>
              </a:buClr>
            </a:pPr>
            <a:r>
              <a:rPr lang="en-US" altLang="en-US" dirty="0" smtClean="0">
                <a:solidFill>
                  <a:schemeClr val="accent2"/>
                </a:solidFill>
                <a:ea typeface="ＭＳ Ｐゴシック" pitchFamily="34" charset="-128"/>
              </a:rPr>
              <a:t>Boyle</a:t>
            </a:r>
            <a:r>
              <a:rPr lang="ja-JP" altLang="en-US" dirty="0" smtClean="0">
                <a:solidFill>
                  <a:schemeClr val="accent2"/>
                </a:solidFill>
                <a:ea typeface="ＭＳ Ｐゴシック" pitchFamily="34" charset="-128"/>
              </a:rPr>
              <a:t>’</a:t>
            </a:r>
            <a:r>
              <a:rPr lang="en-US" altLang="ja-JP" dirty="0" smtClean="0">
                <a:solidFill>
                  <a:schemeClr val="accent2"/>
                </a:solidFill>
                <a:ea typeface="ＭＳ Ｐゴシック" pitchFamily="34" charset="-128"/>
              </a:rPr>
              <a:t>s law </a:t>
            </a:r>
            <a:r>
              <a:rPr lang="en-US" altLang="ja-JP" dirty="0" smtClean="0">
                <a:ea typeface="ＭＳ Ｐゴシック" pitchFamily="34" charset="-128"/>
              </a:rPr>
              <a:t>- volume of a gas varies </a:t>
            </a:r>
            <a:r>
              <a:rPr lang="en-US" altLang="ja-JP" i="1" dirty="0" smtClean="0">
                <a:ea typeface="ＭＳ Ｐゴシック" pitchFamily="34" charset="-128"/>
              </a:rPr>
              <a:t>inversely </a:t>
            </a:r>
            <a:r>
              <a:rPr lang="en-US" altLang="ja-JP" dirty="0" smtClean="0">
                <a:ea typeface="ＭＳ Ｐゴシック" pitchFamily="34" charset="-128"/>
              </a:rPr>
              <a:t>with the pressure exerted by the gas if the temperature and number of moles are held constant</a:t>
            </a:r>
            <a:br>
              <a:rPr lang="en-US" altLang="ja-JP" dirty="0" smtClean="0">
                <a:ea typeface="ＭＳ Ｐゴシック" pitchFamily="34" charset="-128"/>
              </a:rPr>
            </a:br>
            <a:endParaRPr lang="en-US" altLang="ja-JP" dirty="0" smtClean="0">
              <a:ea typeface="ＭＳ Ｐゴシック" pitchFamily="34" charset="-128"/>
            </a:endParaRP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altLang="en-US" dirty="0" smtClean="0">
                <a:ea typeface="ＭＳ Ｐゴシック" pitchFamily="34" charset="-128"/>
              </a:rPr>
              <a:t>The </a:t>
            </a:r>
            <a:r>
              <a:rPr lang="en-US" altLang="en-US" dirty="0" smtClean="0">
                <a:solidFill>
                  <a:schemeClr val="accent2"/>
                </a:solidFill>
                <a:ea typeface="ＭＳ Ｐゴシック" pitchFamily="34" charset="-128"/>
              </a:rPr>
              <a:t>product</a:t>
            </a:r>
            <a:r>
              <a:rPr lang="en-US" altLang="en-US" dirty="0" smtClean="0">
                <a:ea typeface="ＭＳ Ｐゴシック" pitchFamily="34" charset="-128"/>
              </a:rPr>
              <a:t> of pressure (</a:t>
            </a:r>
            <a:r>
              <a:rPr lang="en-US" altLang="en-US" i="1" dirty="0" smtClean="0">
                <a:ea typeface="ＭＳ Ｐゴシック" pitchFamily="34" charset="-128"/>
              </a:rPr>
              <a:t>P</a:t>
            </a:r>
            <a:r>
              <a:rPr lang="en-US" altLang="en-US" dirty="0" smtClean="0">
                <a:ea typeface="ＭＳ Ｐゴシック" pitchFamily="34" charset="-128"/>
              </a:rPr>
              <a:t>) and volume (</a:t>
            </a:r>
            <a:r>
              <a:rPr lang="en-US" altLang="en-US" i="1" dirty="0" smtClean="0">
                <a:ea typeface="ＭＳ Ｐゴシック" pitchFamily="34" charset="-128"/>
              </a:rPr>
              <a:t>V</a:t>
            </a:r>
            <a:r>
              <a:rPr lang="en-US" altLang="en-US" dirty="0" smtClean="0">
                <a:ea typeface="ＭＳ Ｐゴシック" pitchFamily="34" charset="-128"/>
              </a:rPr>
              <a:t>) is a </a:t>
            </a:r>
            <a:r>
              <a:rPr lang="en-US" altLang="en-US" dirty="0" smtClean="0">
                <a:solidFill>
                  <a:schemeClr val="folHlink"/>
                </a:solidFill>
                <a:ea typeface="ＭＳ Ｐゴシック" pitchFamily="34" charset="-128"/>
              </a:rPr>
              <a:t>constant (</a:t>
            </a:r>
            <a:r>
              <a:rPr lang="en-US" altLang="en-US" i="1" dirty="0" smtClean="0">
                <a:solidFill>
                  <a:schemeClr val="folHlink"/>
                </a:solidFill>
                <a:ea typeface="ＭＳ Ｐゴシック" pitchFamily="34" charset="-128"/>
              </a:rPr>
              <a:t>k</a:t>
            </a:r>
            <a:r>
              <a:rPr lang="en-US" altLang="en-US" i="1" baseline="-25000" dirty="0" smtClean="0">
                <a:solidFill>
                  <a:schemeClr val="folHlink"/>
                </a:solidFill>
                <a:ea typeface="ＭＳ Ｐゴシック" pitchFamily="34" charset="-128"/>
              </a:rPr>
              <a:t>b</a:t>
            </a:r>
            <a:r>
              <a:rPr lang="en-US" altLang="en-US" dirty="0" smtClean="0">
                <a:solidFill>
                  <a:schemeClr val="folHlink"/>
                </a:solidFill>
                <a:ea typeface="ＭＳ Ｐゴシック" pitchFamily="34" charset="-128"/>
              </a:rPr>
              <a:t>):</a:t>
            </a:r>
          </a:p>
        </p:txBody>
      </p:sp>
      <p:sp>
        <p:nvSpPr>
          <p:cNvPr id="15362" name="Text Box 3"/>
          <p:cNvSpPr txBox="1">
            <a:spLocks noChangeArrowheads="1"/>
          </p:cNvSpPr>
          <p:nvPr/>
        </p:nvSpPr>
        <p:spPr bwMode="auto">
          <a:xfrm>
            <a:off x="1736725" y="171450"/>
            <a:ext cx="1841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1pPr>
            <a:lvl2pPr marL="742950" indent="-28575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2pPr>
            <a:lvl3pPr marL="11430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3pPr>
            <a:lvl4pPr marL="16002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4pPr>
            <a:lvl5pPr marL="20574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9pPr>
          </a:lstStyle>
          <a:p>
            <a:pPr algn="l"/>
            <a:endParaRPr lang="en-IN" altLang="en-US" sz="3200" b="1">
              <a:solidFill>
                <a:srgbClr val="800080"/>
              </a:solidFill>
            </a:endParaRPr>
          </a:p>
        </p:txBody>
      </p:sp>
      <p:sp>
        <p:nvSpPr>
          <p:cNvPr id="15363" name="Rectangle 10"/>
          <p:cNvSpPr>
            <a:spLocks noChangeArrowheads="1"/>
          </p:cNvSpPr>
          <p:nvPr/>
        </p:nvSpPr>
        <p:spPr bwMode="auto">
          <a:xfrm rot="-5400000">
            <a:off x="-2590800" y="2895600"/>
            <a:ext cx="61722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1pPr>
            <a:lvl2pPr marL="742950" indent="-28575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2pPr>
            <a:lvl3pPr marL="11430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3pPr>
            <a:lvl4pPr marL="16002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4pPr>
            <a:lvl5pPr marL="20574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9pPr>
          </a:lstStyle>
          <a:p>
            <a:r>
              <a:rPr lang="en-US" altLang="en-US">
                <a:solidFill>
                  <a:schemeClr val="bg2"/>
                </a:solidFill>
              </a:rPr>
              <a:t>5.1 The Gaseous State</a:t>
            </a:r>
          </a:p>
        </p:txBody>
      </p:sp>
      <p:sp>
        <p:nvSpPr>
          <p:cNvPr id="15364" name="Rectangle 12"/>
          <p:cNvSpPr>
            <a:spLocks noGrp="1" noChangeArrowheads="1"/>
          </p:cNvSpPr>
          <p:nvPr>
            <p:ph type="title"/>
          </p:nvPr>
        </p:nvSpPr>
        <p:spPr>
          <a:xfrm>
            <a:off x="1066800" y="228600"/>
            <a:ext cx="7772400" cy="762000"/>
          </a:xfrm>
        </p:spPr>
        <p:txBody>
          <a:bodyPr/>
          <a:lstStyle/>
          <a:p>
            <a:r>
              <a:rPr lang="en-US" altLang="en-US" smtClean="0">
                <a:ea typeface="ＭＳ Ｐゴシック" pitchFamily="34" charset="-128"/>
              </a:rPr>
              <a:t>Boyle</a:t>
            </a:r>
            <a:r>
              <a:rPr lang="ja-JP" altLang="en-US" smtClean="0">
                <a:ea typeface="ＭＳ Ｐゴシック" pitchFamily="34" charset="-128"/>
              </a:rPr>
              <a:t>’</a:t>
            </a:r>
            <a:r>
              <a:rPr lang="en-US" altLang="ja-JP" smtClean="0">
                <a:ea typeface="ＭＳ Ｐゴシック" pitchFamily="34" charset="-128"/>
              </a:rPr>
              <a:t>s Law</a:t>
            </a:r>
            <a:endParaRPr lang="en-US" altLang="en-US" smtClean="0">
              <a:ea typeface="ＭＳ Ｐゴシック" pitchFamily="34" charset="-128"/>
            </a:endParaRPr>
          </a:p>
        </p:txBody>
      </p:sp>
      <p:grpSp>
        <p:nvGrpSpPr>
          <p:cNvPr id="15365" name="Group 9"/>
          <p:cNvGrpSpPr>
            <a:grpSpLocks/>
          </p:cNvGrpSpPr>
          <p:nvPr/>
        </p:nvGrpSpPr>
        <p:grpSpPr bwMode="auto">
          <a:xfrm>
            <a:off x="8077200" y="1066800"/>
            <a:ext cx="762000" cy="523875"/>
            <a:chOff x="3962400" y="5791200"/>
            <a:chExt cx="762000" cy="523220"/>
          </a:xfrm>
        </p:grpSpPr>
        <p:sp>
          <p:nvSpPr>
            <p:cNvPr id="15367" name="TextBox 6"/>
            <p:cNvSpPr txBox="1">
              <a:spLocks noChangeArrowheads="1"/>
            </p:cNvSpPr>
            <p:nvPr/>
          </p:nvSpPr>
          <p:spPr bwMode="auto">
            <a:xfrm>
              <a:off x="3962400" y="5791200"/>
              <a:ext cx="685800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1pPr>
              <a:lvl2pPr marL="742950" indent="-28575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2pPr>
              <a:lvl3pPr marL="1143000" indent="-22860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3pPr>
              <a:lvl4pPr marL="1600200" indent="-22860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4pPr>
              <a:lvl5pPr marL="2057400" indent="-22860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9pPr>
            </a:lstStyle>
            <a:p>
              <a:r>
                <a:rPr lang="en-US" altLang="en-US" sz="2800" dirty="0" smtClean="0">
                  <a:solidFill>
                    <a:schemeClr val="accent2"/>
                  </a:solidFill>
                  <a:latin typeface="Arial Black" pitchFamily="34" charset="0"/>
                </a:rPr>
                <a:t>4</a:t>
              </a:r>
              <a:endParaRPr lang="en-US" altLang="en-US" sz="2800" dirty="0">
                <a:solidFill>
                  <a:schemeClr val="accent2"/>
                </a:solidFill>
                <a:latin typeface="Arial Black" pitchFamily="34" charset="0"/>
              </a:endParaRPr>
            </a:p>
          </p:txBody>
        </p:sp>
        <p:sp>
          <p:nvSpPr>
            <p:cNvPr id="15368" name="Isosceles Triangle 8"/>
            <p:cNvSpPr>
              <a:spLocks noChangeArrowheads="1"/>
            </p:cNvSpPr>
            <p:nvPr/>
          </p:nvSpPr>
          <p:spPr bwMode="auto">
            <a:xfrm rot="5400000">
              <a:off x="4533900" y="5927108"/>
              <a:ext cx="152400" cy="228600"/>
            </a:xfrm>
            <a:prstGeom prst="triangle">
              <a:avLst>
                <a:gd name="adj" fmla="val 50000"/>
              </a:avLst>
            </a:prstGeom>
            <a:solidFill>
              <a:srgbClr val="F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1pPr>
              <a:lvl2pPr marL="742950" indent="-28575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2pPr>
              <a:lvl3pPr marL="1143000" indent="-22860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3pPr>
              <a:lvl4pPr marL="1600200" indent="-22860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4pPr>
              <a:lvl5pPr marL="2057400" indent="-22860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9pPr>
            </a:lstStyle>
            <a:p>
              <a:endParaRPr lang="en-IN" altLang="en-US"/>
            </a:p>
          </p:txBody>
        </p:sp>
      </p:grpSp>
      <p:sp>
        <p:nvSpPr>
          <p:cNvPr id="2" name="Rounded Rectangle 1"/>
          <p:cNvSpPr>
            <a:spLocks noChangeArrowheads="1"/>
          </p:cNvSpPr>
          <p:nvPr/>
        </p:nvSpPr>
        <p:spPr bwMode="auto">
          <a:xfrm>
            <a:off x="3276600" y="5181600"/>
            <a:ext cx="2286000" cy="914400"/>
          </a:xfrm>
          <a:prstGeom prst="roundRect">
            <a:avLst>
              <a:gd name="adj" fmla="val 16667"/>
            </a:avLst>
          </a:prstGeom>
          <a:solidFill>
            <a:srgbClr val="408000"/>
          </a:solidFill>
          <a:ln>
            <a:noFill/>
          </a:ln>
          <a:effectLst>
            <a:outerShdw blurRad="50800" dist="38100" dir="2700000" algn="tl" rotWithShape="0">
              <a:srgbClr val="808080">
                <a:alpha val="39999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 anchorCtr="1"/>
          <a:lstStyle/>
          <a:p>
            <a:pPr>
              <a:defRPr/>
            </a:pPr>
            <a:r>
              <a:rPr lang="en-US" sz="3600" i="1" dirty="0">
                <a:solidFill>
                  <a:schemeClr val="accent5"/>
                </a:solidFill>
                <a:ea typeface="ＭＳ Ｐゴシック" charset="0"/>
              </a:rPr>
              <a:t>PV = </a:t>
            </a:r>
            <a:r>
              <a:rPr lang="en-US" sz="3600" i="1" dirty="0" smtClean="0">
                <a:solidFill>
                  <a:schemeClr val="accent5"/>
                </a:solidFill>
                <a:ea typeface="ＭＳ Ｐゴシック" charset="0"/>
              </a:rPr>
              <a:t>k</a:t>
            </a:r>
            <a:r>
              <a:rPr lang="en-US" sz="3600" i="1" baseline="-25000" dirty="0">
                <a:solidFill>
                  <a:schemeClr val="accent5"/>
                </a:solidFill>
                <a:ea typeface="ＭＳ Ｐゴシック" charset="0"/>
              </a:rPr>
              <a:t>b</a:t>
            </a:r>
            <a:endParaRPr lang="en-US" sz="3600" i="1" dirty="0">
              <a:solidFill>
                <a:schemeClr val="accent5"/>
              </a:solidFill>
              <a:ea typeface="ＭＳ Ｐゴシック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13"/>
          <p:cNvSpPr>
            <a:spLocks noGrp="1" noChangeArrowheads="1"/>
          </p:cNvSpPr>
          <p:nvPr>
            <p:ph type="body" idx="1"/>
          </p:nvPr>
        </p:nvSpPr>
        <p:spPr>
          <a:xfrm>
            <a:off x="1143000" y="990600"/>
            <a:ext cx="7772400" cy="2667000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altLang="en-US" sz="2800" dirty="0" smtClean="0">
                <a:ea typeface="ＭＳ Ｐゴシック" pitchFamily="34" charset="-128"/>
              </a:rPr>
              <a:t>Used to calculate:</a:t>
            </a:r>
          </a:p>
          <a:p>
            <a:pPr lvl="1">
              <a:lnSpc>
                <a:spcPct val="90000"/>
              </a:lnSpc>
              <a:spcBef>
                <a:spcPct val="25000"/>
              </a:spcBef>
            </a:pPr>
            <a:r>
              <a:rPr lang="en-US" altLang="en-US" dirty="0" smtClean="0">
                <a:ea typeface="ＭＳ Ｐゴシック" pitchFamily="34" charset="-128"/>
              </a:rPr>
              <a:t>Volume resulting from pressure change</a:t>
            </a:r>
          </a:p>
          <a:p>
            <a:pPr lvl="1">
              <a:lnSpc>
                <a:spcPct val="90000"/>
              </a:lnSpc>
              <a:spcBef>
                <a:spcPct val="25000"/>
              </a:spcBef>
            </a:pPr>
            <a:r>
              <a:rPr lang="en-US" altLang="en-US" dirty="0" smtClean="0">
                <a:ea typeface="ＭＳ Ｐゴシック" pitchFamily="34" charset="-128"/>
              </a:rPr>
              <a:t>Pressure resulting from volume change</a:t>
            </a:r>
          </a:p>
        </p:txBody>
      </p:sp>
      <p:sp>
        <p:nvSpPr>
          <p:cNvPr id="16386" name="Text Box 3"/>
          <p:cNvSpPr txBox="1">
            <a:spLocks noChangeArrowheads="1"/>
          </p:cNvSpPr>
          <p:nvPr/>
        </p:nvSpPr>
        <p:spPr bwMode="auto">
          <a:xfrm>
            <a:off x="1736725" y="171450"/>
            <a:ext cx="1841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1pPr>
            <a:lvl2pPr marL="742950" indent="-28575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2pPr>
            <a:lvl3pPr marL="11430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3pPr>
            <a:lvl4pPr marL="16002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4pPr>
            <a:lvl5pPr marL="20574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9pPr>
          </a:lstStyle>
          <a:p>
            <a:pPr algn="l"/>
            <a:endParaRPr lang="en-IN" altLang="en-US" sz="3200" b="1">
              <a:solidFill>
                <a:srgbClr val="800080"/>
              </a:solidFill>
            </a:endParaRPr>
          </a:p>
        </p:txBody>
      </p:sp>
      <p:sp>
        <p:nvSpPr>
          <p:cNvPr id="16387" name="Rectangle 10"/>
          <p:cNvSpPr>
            <a:spLocks noChangeArrowheads="1"/>
          </p:cNvSpPr>
          <p:nvPr/>
        </p:nvSpPr>
        <p:spPr bwMode="auto">
          <a:xfrm rot="-5400000">
            <a:off x="-2590800" y="2895600"/>
            <a:ext cx="61722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1pPr>
            <a:lvl2pPr marL="742950" indent="-28575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2pPr>
            <a:lvl3pPr marL="11430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3pPr>
            <a:lvl4pPr marL="16002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4pPr>
            <a:lvl5pPr marL="20574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9pPr>
          </a:lstStyle>
          <a:p>
            <a:r>
              <a:rPr lang="en-US" altLang="en-US">
                <a:solidFill>
                  <a:schemeClr val="bg2"/>
                </a:solidFill>
              </a:rPr>
              <a:t>5.1 The Gaseous State</a:t>
            </a:r>
          </a:p>
        </p:txBody>
      </p:sp>
      <p:sp>
        <p:nvSpPr>
          <p:cNvPr id="16388" name="Rectangle 12"/>
          <p:cNvSpPr>
            <a:spLocks noGrp="1" noChangeArrowheads="1"/>
          </p:cNvSpPr>
          <p:nvPr>
            <p:ph type="title"/>
          </p:nvPr>
        </p:nvSpPr>
        <p:spPr>
          <a:xfrm>
            <a:off x="1066800" y="228600"/>
            <a:ext cx="7772400" cy="762000"/>
          </a:xfrm>
        </p:spPr>
        <p:txBody>
          <a:bodyPr/>
          <a:lstStyle/>
          <a:p>
            <a:r>
              <a:rPr lang="en-US" altLang="en-US" dirty="0" smtClean="0">
                <a:ea typeface="ＭＳ Ｐゴシック" pitchFamily="34" charset="-128"/>
              </a:rPr>
              <a:t>Boyle</a:t>
            </a:r>
            <a:r>
              <a:rPr lang="ja-JP" altLang="en-US" dirty="0" smtClean="0">
                <a:ea typeface="ＭＳ Ｐゴシック" pitchFamily="34" charset="-128"/>
              </a:rPr>
              <a:t>’</a:t>
            </a:r>
            <a:r>
              <a:rPr lang="en-US" altLang="ja-JP" dirty="0" smtClean="0">
                <a:ea typeface="ＭＳ Ｐゴシック" pitchFamily="34" charset="-128"/>
              </a:rPr>
              <a:t>s Law Equation</a:t>
            </a:r>
            <a:endParaRPr lang="en-US" altLang="en-US" dirty="0" smtClean="0">
              <a:ea typeface="ＭＳ Ｐゴシック" pitchFamily="34" charset="-128"/>
            </a:endParaRPr>
          </a:p>
        </p:txBody>
      </p:sp>
      <p:grpSp>
        <p:nvGrpSpPr>
          <p:cNvPr id="16389" name="Group 9"/>
          <p:cNvGrpSpPr>
            <a:grpSpLocks/>
          </p:cNvGrpSpPr>
          <p:nvPr/>
        </p:nvGrpSpPr>
        <p:grpSpPr bwMode="auto">
          <a:xfrm>
            <a:off x="8077200" y="1295400"/>
            <a:ext cx="762000" cy="523875"/>
            <a:chOff x="3962400" y="5791200"/>
            <a:chExt cx="762000" cy="523220"/>
          </a:xfrm>
        </p:grpSpPr>
        <p:sp>
          <p:nvSpPr>
            <p:cNvPr id="16392" name="TextBox 6"/>
            <p:cNvSpPr txBox="1">
              <a:spLocks noChangeArrowheads="1"/>
            </p:cNvSpPr>
            <p:nvPr/>
          </p:nvSpPr>
          <p:spPr bwMode="auto">
            <a:xfrm>
              <a:off x="3962400" y="5791200"/>
              <a:ext cx="685800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1pPr>
              <a:lvl2pPr marL="742950" indent="-28575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2pPr>
              <a:lvl3pPr marL="1143000" indent="-22860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3pPr>
              <a:lvl4pPr marL="1600200" indent="-22860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4pPr>
              <a:lvl5pPr marL="2057400" indent="-22860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9pPr>
            </a:lstStyle>
            <a:p>
              <a:r>
                <a:rPr lang="en-US" altLang="en-US" sz="2800" dirty="0" smtClean="0">
                  <a:solidFill>
                    <a:schemeClr val="accent2"/>
                  </a:solidFill>
                  <a:latin typeface="Arial Black" pitchFamily="34" charset="0"/>
                </a:rPr>
                <a:t>5</a:t>
              </a:r>
              <a:endParaRPr lang="en-US" altLang="en-US" sz="2800" dirty="0">
                <a:solidFill>
                  <a:schemeClr val="accent2"/>
                </a:solidFill>
                <a:latin typeface="Arial Black" pitchFamily="34" charset="0"/>
              </a:endParaRPr>
            </a:p>
          </p:txBody>
        </p:sp>
        <p:sp>
          <p:nvSpPr>
            <p:cNvPr id="16393" name="Isosceles Triangle 8"/>
            <p:cNvSpPr>
              <a:spLocks noChangeArrowheads="1"/>
            </p:cNvSpPr>
            <p:nvPr/>
          </p:nvSpPr>
          <p:spPr bwMode="auto">
            <a:xfrm rot="5400000">
              <a:off x="4533900" y="5927108"/>
              <a:ext cx="152400" cy="228600"/>
            </a:xfrm>
            <a:prstGeom prst="triangle">
              <a:avLst>
                <a:gd name="adj" fmla="val 50000"/>
              </a:avLst>
            </a:prstGeom>
            <a:solidFill>
              <a:srgbClr val="F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1pPr>
              <a:lvl2pPr marL="742950" indent="-28575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2pPr>
              <a:lvl3pPr marL="1143000" indent="-22860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3pPr>
              <a:lvl4pPr marL="1600200" indent="-22860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4pPr>
              <a:lvl5pPr marL="2057400" indent="-22860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9pPr>
            </a:lstStyle>
            <a:p>
              <a:endParaRPr lang="en-IN" altLang="en-US"/>
            </a:p>
          </p:txBody>
        </p:sp>
      </p:grpSp>
      <p:sp>
        <p:nvSpPr>
          <p:cNvPr id="11" name="Rounded Rectangle 10"/>
          <p:cNvSpPr>
            <a:spLocks noChangeArrowheads="1"/>
          </p:cNvSpPr>
          <p:nvPr/>
        </p:nvSpPr>
        <p:spPr bwMode="auto">
          <a:xfrm>
            <a:off x="3352800" y="2438400"/>
            <a:ext cx="2438400" cy="990600"/>
          </a:xfrm>
          <a:prstGeom prst="roundRect">
            <a:avLst>
              <a:gd name="adj" fmla="val 16667"/>
            </a:avLst>
          </a:prstGeom>
          <a:solidFill>
            <a:srgbClr val="408000"/>
          </a:solidFill>
          <a:ln>
            <a:noFill/>
          </a:ln>
          <a:effectLst>
            <a:outerShdw blurRad="50800" dist="38100" dir="2700000" algn="tl" rotWithShape="0">
              <a:srgbClr val="808080">
                <a:alpha val="39999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 anchorCtr="1"/>
          <a:lstStyle/>
          <a:p>
            <a:pPr>
              <a:defRPr/>
            </a:pPr>
            <a:r>
              <a:rPr lang="en-US" sz="3600" i="1" dirty="0" err="1">
                <a:solidFill>
                  <a:schemeClr val="accent5"/>
                </a:solidFill>
                <a:ea typeface="ＭＳ Ｐゴシック" charset="0"/>
              </a:rPr>
              <a:t>P</a:t>
            </a:r>
            <a:r>
              <a:rPr lang="en-US" sz="3600" i="1" baseline="-25000" dirty="0" err="1">
                <a:solidFill>
                  <a:schemeClr val="accent5"/>
                </a:solidFill>
                <a:ea typeface="ＭＳ Ｐゴシック" charset="0"/>
              </a:rPr>
              <a:t>i</a:t>
            </a:r>
            <a:r>
              <a:rPr lang="en-US" sz="3600" i="1" dirty="0" err="1">
                <a:solidFill>
                  <a:schemeClr val="accent5"/>
                </a:solidFill>
                <a:ea typeface="ＭＳ Ｐゴシック" charset="0"/>
              </a:rPr>
              <a:t>V</a:t>
            </a:r>
            <a:r>
              <a:rPr lang="en-US" sz="3600" i="1" baseline="-25000" dirty="0" err="1">
                <a:solidFill>
                  <a:schemeClr val="accent5"/>
                </a:solidFill>
                <a:ea typeface="ＭＳ Ｐゴシック" charset="0"/>
              </a:rPr>
              <a:t>i</a:t>
            </a:r>
            <a:r>
              <a:rPr lang="en-US" sz="3600" i="1" dirty="0">
                <a:solidFill>
                  <a:schemeClr val="accent5"/>
                </a:solidFill>
                <a:ea typeface="ＭＳ Ｐゴシック" charset="0"/>
              </a:rPr>
              <a:t> = </a:t>
            </a:r>
            <a:r>
              <a:rPr lang="en-US" sz="3600" i="1" dirty="0" err="1">
                <a:solidFill>
                  <a:schemeClr val="accent5"/>
                </a:solidFill>
                <a:ea typeface="ＭＳ Ｐゴシック" charset="0"/>
              </a:rPr>
              <a:t>P</a:t>
            </a:r>
            <a:r>
              <a:rPr lang="en-US" sz="3600" i="1" baseline="-25000" dirty="0" err="1">
                <a:solidFill>
                  <a:schemeClr val="accent5"/>
                </a:solidFill>
                <a:ea typeface="ＭＳ Ｐゴシック" charset="0"/>
              </a:rPr>
              <a:t>f</a:t>
            </a:r>
            <a:r>
              <a:rPr lang="en-US" sz="3600" i="1" dirty="0" err="1">
                <a:solidFill>
                  <a:schemeClr val="accent5"/>
                </a:solidFill>
                <a:ea typeface="ＭＳ Ｐゴシック" charset="0"/>
              </a:rPr>
              <a:t>V</a:t>
            </a:r>
            <a:r>
              <a:rPr lang="en-US" sz="3600" i="1" baseline="-25000" dirty="0" err="1">
                <a:solidFill>
                  <a:schemeClr val="accent5"/>
                </a:solidFill>
                <a:ea typeface="ＭＳ Ｐゴシック" charset="0"/>
              </a:rPr>
              <a:t>f</a:t>
            </a:r>
            <a:endParaRPr lang="en-US" sz="3600" i="1" baseline="-25000" dirty="0">
              <a:solidFill>
                <a:schemeClr val="accent5"/>
              </a:solidFill>
              <a:ea typeface="ＭＳ Ｐゴシック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6614" y="3505200"/>
            <a:ext cx="6258486" cy="3156313"/>
          </a:xfrm>
          <a:prstGeom prst="rect">
            <a:avLst/>
          </a:prstGeom>
        </p:spPr>
      </p:pic>
      <p:sp>
        <p:nvSpPr>
          <p:cNvPr id="12" name="Text Box 10"/>
          <p:cNvSpPr txBox="1">
            <a:spLocks noChangeArrowheads="1"/>
          </p:cNvSpPr>
          <p:nvPr/>
        </p:nvSpPr>
        <p:spPr bwMode="auto">
          <a:xfrm>
            <a:off x="0" y="6621463"/>
            <a:ext cx="4759325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2"/>
                </a:solidFill>
                <a:latin typeface="Times New Roman" pitchFamily="18" charset="0"/>
                <a:ea typeface="ＭＳ Ｐゴシック" pitchFamily="34" charset="-128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Char char="–"/>
              <a:defRPr sz="28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2pPr>
            <a:lvl3pPr marL="1143000" indent="-228600" algn="l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4pPr>
            <a:lvl5pPr marL="2057400" indent="-228600" algn="l">
              <a:spcBef>
                <a:spcPct val="20000"/>
              </a:spcBef>
              <a:buClr>
                <a:schemeClr val="tx2"/>
              </a:buClr>
              <a:buChar char="»"/>
              <a:defRPr sz="2000">
                <a:solidFill>
                  <a:srgbClr val="CDE1FF"/>
                </a:solidFill>
                <a:latin typeface="Times New Roman" pitchFamily="18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»"/>
              <a:defRPr sz="2000">
                <a:solidFill>
                  <a:srgbClr val="CDE1FF"/>
                </a:solidFill>
                <a:latin typeface="Times New Roman" pitchFamily="18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»"/>
              <a:defRPr sz="2000">
                <a:solidFill>
                  <a:srgbClr val="CDE1FF"/>
                </a:solidFill>
                <a:latin typeface="Times New Roman" pitchFamily="18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»"/>
              <a:defRPr sz="2000">
                <a:solidFill>
                  <a:srgbClr val="CDE1FF"/>
                </a:solidFill>
                <a:latin typeface="Times New Roman" pitchFamily="18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»"/>
              <a:defRPr sz="2000">
                <a:solidFill>
                  <a:srgbClr val="CDE1FF"/>
                </a:solidFill>
                <a:latin typeface="Times New Roman" pitchFamily="18" charset="0"/>
                <a:ea typeface="ＭＳ Ｐゴシック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900" b="1" dirty="0">
                <a:solidFill>
                  <a:schemeClr val="bg1">
                    <a:lumMod val="10000"/>
                  </a:schemeClr>
                </a:solidFill>
              </a:rPr>
              <a:t>Copyright © 2017 McGraw-Hill Education.  Permission required for reproduction or display</a:t>
            </a:r>
            <a:endParaRPr lang="en-US" altLang="en-US" dirty="0">
              <a:solidFill>
                <a:schemeClr val="bg1">
                  <a:lumMod val="10000"/>
                </a:schemeClr>
              </a:solidFill>
              <a:cs typeface="Times New Roman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4"/>
          <p:cNvSpPr>
            <a:spLocks noChangeArrowheads="1"/>
          </p:cNvSpPr>
          <p:nvPr/>
        </p:nvSpPr>
        <p:spPr bwMode="auto">
          <a:xfrm rot="-5400000">
            <a:off x="-2590800" y="2895600"/>
            <a:ext cx="61722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1pPr>
            <a:lvl2pPr marL="742950" indent="-28575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2pPr>
            <a:lvl3pPr marL="11430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3pPr>
            <a:lvl4pPr marL="16002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4pPr>
            <a:lvl5pPr marL="20574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9pPr>
          </a:lstStyle>
          <a:p>
            <a:r>
              <a:rPr lang="en-US" altLang="en-US">
                <a:solidFill>
                  <a:schemeClr val="bg2"/>
                </a:solidFill>
              </a:rPr>
              <a:t>5.1 The Gaseous State</a:t>
            </a:r>
          </a:p>
        </p:txBody>
      </p:sp>
      <p:sp>
        <p:nvSpPr>
          <p:cNvPr id="17410" name="Rectangle 5"/>
          <p:cNvSpPr>
            <a:spLocks noGrp="1" noChangeArrowheads="1"/>
          </p:cNvSpPr>
          <p:nvPr>
            <p:ph type="title"/>
          </p:nvPr>
        </p:nvSpPr>
        <p:spPr>
          <a:xfrm>
            <a:off x="1219200" y="152400"/>
            <a:ext cx="7772400" cy="762000"/>
          </a:xfrm>
        </p:spPr>
        <p:txBody>
          <a:bodyPr/>
          <a:lstStyle/>
          <a:p>
            <a:r>
              <a:rPr lang="en-US" altLang="en-US" smtClean="0">
                <a:ea typeface="ＭＳ Ｐゴシック" pitchFamily="34" charset="-128"/>
              </a:rPr>
              <a:t>Application of Boyle</a:t>
            </a:r>
            <a:r>
              <a:rPr lang="ja-JP" altLang="en-US" smtClean="0">
                <a:ea typeface="ＭＳ Ｐゴシック" pitchFamily="34" charset="-128"/>
              </a:rPr>
              <a:t>’</a:t>
            </a:r>
            <a:r>
              <a:rPr lang="en-US" altLang="ja-JP" smtClean="0">
                <a:ea typeface="ＭＳ Ｐゴシック" pitchFamily="34" charset="-128"/>
              </a:rPr>
              <a:t>s Law</a:t>
            </a:r>
            <a:endParaRPr lang="en-US" altLang="en-US" smtClean="0">
              <a:ea typeface="ＭＳ Ｐゴシック" pitchFamily="34" charset="-128"/>
            </a:endParaRPr>
          </a:p>
        </p:txBody>
      </p:sp>
      <p:sp>
        <p:nvSpPr>
          <p:cNvPr id="17411" name="Rectangle 6"/>
          <p:cNvSpPr>
            <a:spLocks noGrp="1" noChangeArrowheads="1"/>
          </p:cNvSpPr>
          <p:nvPr>
            <p:ph type="body" sz="half" idx="1"/>
          </p:nvPr>
        </p:nvSpPr>
        <p:spPr>
          <a:xfrm>
            <a:off x="1143000" y="1447800"/>
            <a:ext cx="7772400" cy="1981200"/>
          </a:xfrm>
        </p:spPr>
        <p:txBody>
          <a:bodyPr/>
          <a:lstStyle/>
          <a:p>
            <a:pPr marL="0" indent="0">
              <a:lnSpc>
                <a:spcPct val="90000"/>
              </a:lnSpc>
              <a:spcBef>
                <a:spcPct val="15000"/>
              </a:spcBef>
              <a:buFontTx/>
              <a:buNone/>
            </a:pPr>
            <a:r>
              <a:rPr lang="en-US" altLang="en-US" dirty="0" smtClean="0">
                <a:solidFill>
                  <a:schemeClr val="accent6">
                    <a:lumMod val="75000"/>
                  </a:schemeClr>
                </a:solidFill>
                <a:ea typeface="ＭＳ Ｐゴシック" pitchFamily="34" charset="-128"/>
              </a:rPr>
              <a:t>A gas occupies 10.0 L at 1.00 </a:t>
            </a:r>
            <a:r>
              <a:rPr lang="en-US" altLang="en-US" dirty="0" err="1" smtClean="0">
                <a:solidFill>
                  <a:schemeClr val="accent6">
                    <a:lumMod val="75000"/>
                  </a:schemeClr>
                </a:solidFill>
                <a:ea typeface="ＭＳ Ｐゴシック" pitchFamily="34" charset="-128"/>
              </a:rPr>
              <a:t>atm</a:t>
            </a:r>
            <a:r>
              <a:rPr lang="en-US" altLang="en-US" dirty="0" smtClean="0">
                <a:solidFill>
                  <a:schemeClr val="accent6">
                    <a:lumMod val="75000"/>
                  </a:schemeClr>
                </a:solidFill>
                <a:ea typeface="ＭＳ Ｐゴシック" pitchFamily="34" charset="-128"/>
              </a:rPr>
              <a:t> pressure.</a:t>
            </a:r>
            <a:br>
              <a:rPr lang="en-US" altLang="en-US" dirty="0" smtClean="0">
                <a:solidFill>
                  <a:schemeClr val="accent6">
                    <a:lumMod val="75000"/>
                  </a:schemeClr>
                </a:solidFill>
                <a:ea typeface="ＭＳ Ｐゴシック" pitchFamily="34" charset="-128"/>
              </a:rPr>
            </a:br>
            <a:endParaRPr lang="en-US" altLang="en-US" dirty="0" smtClean="0">
              <a:solidFill>
                <a:schemeClr val="accent6">
                  <a:lumMod val="75000"/>
                </a:schemeClr>
              </a:solidFill>
              <a:ea typeface="ＭＳ Ｐゴシック" pitchFamily="34" charset="-128"/>
            </a:endParaRPr>
          </a:p>
          <a:p>
            <a:pPr marL="0" indent="0">
              <a:lnSpc>
                <a:spcPct val="90000"/>
              </a:lnSpc>
              <a:spcBef>
                <a:spcPct val="15000"/>
              </a:spcBef>
              <a:buFontTx/>
              <a:buNone/>
            </a:pPr>
            <a:r>
              <a:rPr lang="en-US" altLang="en-US" dirty="0" smtClean="0">
                <a:ea typeface="ＭＳ Ｐゴシック" pitchFamily="34" charset="-128"/>
              </a:rPr>
              <a:t>If I doubled, the pressure to 2.0 </a:t>
            </a:r>
            <a:r>
              <a:rPr lang="en-US" altLang="en-US" dirty="0" err="1" smtClean="0">
                <a:ea typeface="ＭＳ Ｐゴシック" pitchFamily="34" charset="-128"/>
              </a:rPr>
              <a:t>atm</a:t>
            </a:r>
            <a:r>
              <a:rPr lang="en-US" altLang="en-US" dirty="0" smtClean="0">
                <a:ea typeface="ＭＳ Ｐゴシック" pitchFamily="34" charset="-128"/>
              </a:rPr>
              <a:t>, it would cause the volume to become:</a:t>
            </a:r>
          </a:p>
        </p:txBody>
      </p:sp>
      <p:grpSp>
        <p:nvGrpSpPr>
          <p:cNvPr id="17412" name="Group 9"/>
          <p:cNvGrpSpPr>
            <a:grpSpLocks/>
          </p:cNvGrpSpPr>
          <p:nvPr/>
        </p:nvGrpSpPr>
        <p:grpSpPr bwMode="auto">
          <a:xfrm>
            <a:off x="8077200" y="1295400"/>
            <a:ext cx="762000" cy="523875"/>
            <a:chOff x="3962400" y="5791200"/>
            <a:chExt cx="762000" cy="523220"/>
          </a:xfrm>
        </p:grpSpPr>
        <p:sp>
          <p:nvSpPr>
            <p:cNvPr id="17417" name="TextBox 6"/>
            <p:cNvSpPr txBox="1">
              <a:spLocks noChangeArrowheads="1"/>
            </p:cNvSpPr>
            <p:nvPr/>
          </p:nvSpPr>
          <p:spPr bwMode="auto">
            <a:xfrm>
              <a:off x="3962400" y="5791200"/>
              <a:ext cx="685800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1pPr>
              <a:lvl2pPr marL="742950" indent="-28575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2pPr>
              <a:lvl3pPr marL="1143000" indent="-22860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3pPr>
              <a:lvl4pPr marL="1600200" indent="-22860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4pPr>
              <a:lvl5pPr marL="2057400" indent="-22860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9pPr>
            </a:lstStyle>
            <a:p>
              <a:r>
                <a:rPr lang="en-US" altLang="en-US" sz="2800" dirty="0" smtClean="0">
                  <a:solidFill>
                    <a:schemeClr val="accent2"/>
                  </a:solidFill>
                  <a:latin typeface="Arial Black" pitchFamily="34" charset="0"/>
                </a:rPr>
                <a:t>5</a:t>
              </a:r>
              <a:endParaRPr lang="en-US" altLang="en-US" sz="2800" dirty="0">
                <a:solidFill>
                  <a:schemeClr val="accent2"/>
                </a:solidFill>
                <a:latin typeface="Arial Black" pitchFamily="34" charset="0"/>
              </a:endParaRPr>
            </a:p>
          </p:txBody>
        </p:sp>
        <p:sp>
          <p:nvSpPr>
            <p:cNvPr id="17418" name="Isosceles Triangle 8"/>
            <p:cNvSpPr>
              <a:spLocks noChangeArrowheads="1"/>
            </p:cNvSpPr>
            <p:nvPr/>
          </p:nvSpPr>
          <p:spPr bwMode="auto">
            <a:xfrm rot="5400000">
              <a:off x="4533900" y="5927108"/>
              <a:ext cx="152400" cy="228600"/>
            </a:xfrm>
            <a:prstGeom prst="triangle">
              <a:avLst>
                <a:gd name="adj" fmla="val 50000"/>
              </a:avLst>
            </a:prstGeom>
            <a:solidFill>
              <a:srgbClr val="F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1pPr>
              <a:lvl2pPr marL="742950" indent="-28575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2pPr>
              <a:lvl3pPr marL="1143000" indent="-22860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3pPr>
              <a:lvl4pPr marL="1600200" indent="-22860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4pPr>
              <a:lvl5pPr marL="2057400" indent="-22860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9pPr>
            </a:lstStyle>
            <a:p>
              <a:endParaRPr lang="en-IN" altLang="en-US"/>
            </a:p>
          </p:txBody>
        </p:sp>
      </p:grpSp>
      <p:sp>
        <p:nvSpPr>
          <p:cNvPr id="17413" name="TextBox 1"/>
          <p:cNvSpPr txBox="1">
            <a:spLocks noChangeArrowheads="1"/>
          </p:cNvSpPr>
          <p:nvPr/>
        </p:nvSpPr>
        <p:spPr bwMode="auto">
          <a:xfrm>
            <a:off x="3704424" y="3581400"/>
            <a:ext cx="1938351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1pPr>
            <a:lvl2pPr marL="742950" indent="-28575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2pPr>
            <a:lvl3pPr marL="11430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3pPr>
            <a:lvl4pPr marL="16002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4pPr>
            <a:lvl5pPr marL="20574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9pPr>
          </a:lstStyle>
          <a:p>
            <a:r>
              <a:rPr lang="en-US" altLang="en-US" sz="3200" i="1" dirty="0" err="1">
                <a:solidFill>
                  <a:schemeClr val="tx2"/>
                </a:solidFill>
              </a:rPr>
              <a:t>P</a:t>
            </a:r>
            <a:r>
              <a:rPr lang="en-US" altLang="en-US" sz="3200" i="1" baseline="-25000" dirty="0" err="1">
                <a:solidFill>
                  <a:schemeClr val="tx2"/>
                </a:solidFill>
              </a:rPr>
              <a:t>i</a:t>
            </a:r>
            <a:r>
              <a:rPr lang="en-US" altLang="en-US" sz="3200" i="1" dirty="0" err="1">
                <a:solidFill>
                  <a:schemeClr val="tx2"/>
                </a:solidFill>
              </a:rPr>
              <a:t>V</a:t>
            </a:r>
            <a:r>
              <a:rPr lang="en-US" altLang="en-US" sz="3200" i="1" baseline="-25000" dirty="0" err="1">
                <a:solidFill>
                  <a:schemeClr val="tx2"/>
                </a:solidFill>
              </a:rPr>
              <a:t>i</a:t>
            </a:r>
            <a:r>
              <a:rPr lang="en-US" altLang="en-US" sz="3200" i="1" dirty="0">
                <a:solidFill>
                  <a:schemeClr val="tx2"/>
                </a:solidFill>
              </a:rPr>
              <a:t> = </a:t>
            </a:r>
            <a:r>
              <a:rPr lang="en-US" altLang="en-US" sz="3200" i="1" dirty="0" err="1">
                <a:solidFill>
                  <a:schemeClr val="tx2"/>
                </a:solidFill>
              </a:rPr>
              <a:t>P</a:t>
            </a:r>
            <a:r>
              <a:rPr lang="en-US" altLang="en-US" sz="3200" i="1" baseline="-25000" dirty="0" err="1">
                <a:solidFill>
                  <a:schemeClr val="tx2"/>
                </a:solidFill>
              </a:rPr>
              <a:t>f</a:t>
            </a:r>
            <a:r>
              <a:rPr lang="en-US" altLang="en-US" sz="3200" i="1" dirty="0" err="1">
                <a:solidFill>
                  <a:schemeClr val="tx2"/>
                </a:solidFill>
              </a:rPr>
              <a:t>V</a:t>
            </a:r>
            <a:r>
              <a:rPr lang="en-US" altLang="en-US" sz="3200" i="1" baseline="-25000" dirty="0" err="1">
                <a:solidFill>
                  <a:schemeClr val="tx2"/>
                </a:solidFill>
              </a:rPr>
              <a:t>f</a:t>
            </a:r>
            <a:endParaRPr lang="en-US" altLang="en-US" sz="3200" i="1" dirty="0">
              <a:solidFill>
                <a:schemeClr val="tx2"/>
              </a:solidFill>
            </a:endParaRPr>
          </a:p>
        </p:txBody>
      </p:sp>
      <p:sp>
        <p:nvSpPr>
          <p:cNvPr id="17414" name="TextBox 9"/>
          <p:cNvSpPr txBox="1">
            <a:spLocks noChangeArrowheads="1"/>
          </p:cNvSpPr>
          <p:nvPr/>
        </p:nvSpPr>
        <p:spPr bwMode="auto">
          <a:xfrm>
            <a:off x="1779588" y="4292600"/>
            <a:ext cx="57880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1pPr>
            <a:lvl2pPr marL="742950" indent="-28575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2pPr>
            <a:lvl3pPr marL="11430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3pPr>
            <a:lvl4pPr marL="16002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4pPr>
            <a:lvl5pPr marL="20574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9pPr>
          </a:lstStyle>
          <a:p>
            <a:r>
              <a:rPr lang="en-US" altLang="en-US" sz="3200" dirty="0">
                <a:solidFill>
                  <a:schemeClr val="tx2"/>
                </a:solidFill>
              </a:rPr>
              <a:t>(10.0 L) (1.00 </a:t>
            </a:r>
            <a:r>
              <a:rPr lang="en-US" altLang="en-US" sz="3200" dirty="0" err="1">
                <a:solidFill>
                  <a:schemeClr val="tx2"/>
                </a:solidFill>
              </a:rPr>
              <a:t>atm</a:t>
            </a:r>
            <a:r>
              <a:rPr lang="en-US" altLang="en-US" sz="3200" dirty="0">
                <a:solidFill>
                  <a:schemeClr val="tx2"/>
                </a:solidFill>
              </a:rPr>
              <a:t>) = (2.0 </a:t>
            </a:r>
            <a:r>
              <a:rPr lang="en-US" altLang="en-US" sz="3200" dirty="0" err="1">
                <a:solidFill>
                  <a:schemeClr val="tx2"/>
                </a:solidFill>
              </a:rPr>
              <a:t>atm</a:t>
            </a:r>
            <a:r>
              <a:rPr lang="en-US" altLang="en-US" sz="3200" dirty="0">
                <a:solidFill>
                  <a:schemeClr val="tx2"/>
                </a:solidFill>
              </a:rPr>
              <a:t>) </a:t>
            </a:r>
            <a:r>
              <a:rPr lang="en-US" altLang="en-US" sz="3200" i="1" dirty="0" err="1">
                <a:solidFill>
                  <a:schemeClr val="tx2"/>
                </a:solidFill>
              </a:rPr>
              <a:t>V</a:t>
            </a:r>
            <a:r>
              <a:rPr lang="en-US" altLang="en-US" sz="3200" i="1" baseline="-25000" dirty="0" err="1">
                <a:solidFill>
                  <a:schemeClr val="tx2"/>
                </a:solidFill>
              </a:rPr>
              <a:t>f</a:t>
            </a:r>
            <a:endParaRPr lang="en-US" altLang="en-US" sz="3200" i="1" dirty="0">
              <a:solidFill>
                <a:schemeClr val="tx2"/>
              </a:solidFill>
            </a:endParaRPr>
          </a:p>
        </p:txBody>
      </p:sp>
      <p:sp>
        <p:nvSpPr>
          <p:cNvPr id="17415" name="TextBox 11"/>
          <p:cNvSpPr txBox="1">
            <a:spLocks noChangeArrowheads="1"/>
          </p:cNvSpPr>
          <p:nvPr/>
        </p:nvSpPr>
        <p:spPr bwMode="auto">
          <a:xfrm>
            <a:off x="3775373" y="5003800"/>
            <a:ext cx="179645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1pPr>
            <a:lvl2pPr marL="742950" indent="-28575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2pPr>
            <a:lvl3pPr marL="11430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3pPr>
            <a:lvl4pPr marL="16002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4pPr>
            <a:lvl5pPr marL="20574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9pPr>
          </a:lstStyle>
          <a:p>
            <a:r>
              <a:rPr lang="en-US" altLang="en-US" sz="3200" dirty="0">
                <a:solidFill>
                  <a:schemeClr val="tx2"/>
                </a:solidFill>
              </a:rPr>
              <a:t>5.0 L = </a:t>
            </a:r>
            <a:r>
              <a:rPr lang="en-US" altLang="en-US" sz="3200" i="1" dirty="0" err="1">
                <a:solidFill>
                  <a:schemeClr val="tx2"/>
                </a:solidFill>
              </a:rPr>
              <a:t>V</a:t>
            </a:r>
            <a:r>
              <a:rPr lang="en-US" altLang="en-US" sz="3200" i="1" baseline="-25000" dirty="0" err="1">
                <a:solidFill>
                  <a:schemeClr val="tx2"/>
                </a:solidFill>
              </a:rPr>
              <a:t>f</a:t>
            </a:r>
            <a:endParaRPr lang="en-US" altLang="en-US" sz="3200" i="1" dirty="0">
              <a:solidFill>
                <a:schemeClr val="tx2"/>
              </a:solidFill>
            </a:endParaRPr>
          </a:p>
        </p:txBody>
      </p:sp>
      <p:sp>
        <p:nvSpPr>
          <p:cNvPr id="17416" name="TextBox 3"/>
          <p:cNvSpPr txBox="1">
            <a:spLocks noChangeArrowheads="1"/>
          </p:cNvSpPr>
          <p:nvPr/>
        </p:nvSpPr>
        <p:spPr bwMode="auto">
          <a:xfrm>
            <a:off x="1527175" y="5715000"/>
            <a:ext cx="62928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1pPr>
            <a:lvl2pPr marL="742950" indent="-28575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2pPr>
            <a:lvl3pPr marL="11430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3pPr>
            <a:lvl4pPr marL="16002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4pPr>
            <a:lvl5pPr marL="20574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9pPr>
          </a:lstStyle>
          <a:p>
            <a:r>
              <a:rPr lang="en-US" altLang="en-US" sz="3200">
                <a:solidFill>
                  <a:srgbClr val="003ABC"/>
                </a:solidFill>
              </a:rPr>
              <a:t>The volume would decrease to 5.0 L.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7"/>
          <p:cNvSpPr>
            <a:spLocks noChangeArrowheads="1"/>
          </p:cNvSpPr>
          <p:nvPr/>
        </p:nvSpPr>
        <p:spPr bwMode="auto">
          <a:xfrm rot="-5400000">
            <a:off x="-2590800" y="2895600"/>
            <a:ext cx="61722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1pPr>
            <a:lvl2pPr marL="742950" indent="-28575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2pPr>
            <a:lvl3pPr marL="11430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3pPr>
            <a:lvl4pPr marL="16002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4pPr>
            <a:lvl5pPr marL="20574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9pPr>
          </a:lstStyle>
          <a:p>
            <a:r>
              <a:rPr lang="en-US" altLang="en-US">
                <a:solidFill>
                  <a:schemeClr val="bg2"/>
                </a:solidFill>
              </a:rPr>
              <a:t>5.1 The Gaseous State</a:t>
            </a:r>
          </a:p>
        </p:txBody>
      </p:sp>
      <p:sp>
        <p:nvSpPr>
          <p:cNvPr id="18434" name="Rectangle 8"/>
          <p:cNvSpPr>
            <a:spLocks noGrp="1" noChangeArrowheads="1"/>
          </p:cNvSpPr>
          <p:nvPr>
            <p:ph type="title"/>
          </p:nvPr>
        </p:nvSpPr>
        <p:spPr>
          <a:xfrm>
            <a:off x="1066800" y="304800"/>
            <a:ext cx="7772400" cy="838200"/>
          </a:xfrm>
        </p:spPr>
        <p:txBody>
          <a:bodyPr/>
          <a:lstStyle/>
          <a:p>
            <a:r>
              <a:rPr lang="en-US" altLang="en-US" smtClean="0">
                <a:ea typeface="ＭＳ Ｐゴシック" pitchFamily="34" charset="-128"/>
              </a:rPr>
              <a:t>Boyle</a:t>
            </a:r>
            <a:r>
              <a:rPr lang="ja-JP" altLang="en-US" smtClean="0">
                <a:ea typeface="ＭＳ Ｐゴシック" pitchFamily="34" charset="-128"/>
              </a:rPr>
              <a:t>’</a:t>
            </a:r>
            <a:r>
              <a:rPr lang="en-US" altLang="ja-JP" smtClean="0">
                <a:ea typeface="ＭＳ Ｐゴシック" pitchFamily="34" charset="-128"/>
              </a:rPr>
              <a:t>s Law Practice</a:t>
            </a:r>
            <a:endParaRPr lang="en-US" altLang="en-US" smtClean="0">
              <a:ea typeface="ＭＳ Ｐゴシック" pitchFamily="34" charset="-128"/>
            </a:endParaRPr>
          </a:p>
        </p:txBody>
      </p:sp>
      <p:sp>
        <p:nvSpPr>
          <p:cNvPr id="21508" name="Rectangle 9"/>
          <p:cNvSpPr>
            <a:spLocks noGrp="1" noChangeArrowheads="1"/>
          </p:cNvSpPr>
          <p:nvPr>
            <p:ph type="body" idx="1"/>
          </p:nvPr>
        </p:nvSpPr>
        <p:spPr>
          <a:xfrm>
            <a:off x="1143000" y="1524000"/>
            <a:ext cx="7772400" cy="4114800"/>
          </a:xfrm>
        </p:spPr>
        <p:txBody>
          <a:bodyPr/>
          <a:lstStyle/>
          <a:p>
            <a:pPr marL="609600" indent="-609600">
              <a:lnSpc>
                <a:spcPct val="90000"/>
              </a:lnSpc>
              <a:spcBef>
                <a:spcPct val="50000"/>
              </a:spcBef>
              <a:buFontTx/>
              <a:buAutoNum type="arabicPeriod"/>
              <a:defRPr/>
            </a:pPr>
            <a:r>
              <a:rPr lang="en-US" dirty="0">
                <a:cs typeface="+mn-cs"/>
              </a:rPr>
              <a:t>A 5.0 L sample of a gas at 25</a:t>
            </a:r>
            <a:r>
              <a:rPr lang="en-US" baseline="30000" dirty="0">
                <a:cs typeface="+mn-cs"/>
              </a:rPr>
              <a:t>o</a:t>
            </a:r>
            <a:r>
              <a:rPr lang="en-US" dirty="0">
                <a:cs typeface="+mn-cs"/>
              </a:rPr>
              <a:t>C and 3.0 </a:t>
            </a:r>
            <a:r>
              <a:rPr lang="en-US" dirty="0" err="1">
                <a:cs typeface="+mn-cs"/>
              </a:rPr>
              <a:t>atm</a:t>
            </a:r>
            <a:r>
              <a:rPr lang="en-US" dirty="0">
                <a:cs typeface="+mn-cs"/>
              </a:rPr>
              <a:t> is compressed at constant temperature to a volume of 1.0 L. What is the new pressure</a:t>
            </a:r>
            <a:r>
              <a:rPr lang="en-US" dirty="0" smtClean="0">
                <a:cs typeface="+mn-cs"/>
              </a:rPr>
              <a:t>?</a:t>
            </a:r>
          </a:p>
          <a:p>
            <a:pPr marL="0" indent="0">
              <a:lnSpc>
                <a:spcPct val="90000"/>
              </a:lnSpc>
              <a:spcBef>
                <a:spcPct val="50000"/>
              </a:spcBef>
              <a:buFontTx/>
              <a:buNone/>
              <a:defRPr/>
            </a:pPr>
            <a:endParaRPr lang="en-US" dirty="0">
              <a:cs typeface="+mn-cs"/>
            </a:endParaRPr>
          </a:p>
          <a:p>
            <a:pPr marL="609600" indent="-609600">
              <a:lnSpc>
                <a:spcPct val="90000"/>
              </a:lnSpc>
              <a:spcBef>
                <a:spcPct val="50000"/>
              </a:spcBef>
              <a:buFontTx/>
              <a:buAutoNum type="arabicPeriod"/>
              <a:defRPr/>
            </a:pPr>
            <a:r>
              <a:rPr lang="en-US" dirty="0">
                <a:cs typeface="+mn-cs"/>
              </a:rPr>
              <a:t>A 3.5 L sample of a gas at 1.0 </a:t>
            </a:r>
            <a:r>
              <a:rPr lang="en-US" dirty="0" err="1">
                <a:cs typeface="+mn-cs"/>
              </a:rPr>
              <a:t>atm</a:t>
            </a:r>
            <a:r>
              <a:rPr lang="en-US" dirty="0">
                <a:cs typeface="+mn-cs"/>
              </a:rPr>
              <a:t> is expanded at constant temperature until the pressure is 0.10 atm. What is the volume of the gas?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13"/>
          <p:cNvSpPr>
            <a:spLocks noGrp="1" noChangeArrowheads="1"/>
          </p:cNvSpPr>
          <p:nvPr>
            <p:ph type="body" idx="1"/>
          </p:nvPr>
        </p:nvSpPr>
        <p:spPr>
          <a:xfrm>
            <a:off x="1143000" y="1066800"/>
            <a:ext cx="7772400" cy="4724400"/>
          </a:xfrm>
        </p:spPr>
        <p:txBody>
          <a:bodyPr/>
          <a:lstStyle/>
          <a:p>
            <a:pPr>
              <a:spcBef>
                <a:spcPct val="50000"/>
              </a:spcBef>
              <a:buClrTx/>
            </a:pPr>
            <a:r>
              <a:rPr lang="en-US" altLang="en-US" dirty="0" smtClean="0">
                <a:solidFill>
                  <a:schemeClr val="accent2"/>
                </a:solidFill>
                <a:ea typeface="ＭＳ Ｐゴシック" pitchFamily="34" charset="-128"/>
              </a:rPr>
              <a:t>Charles</a:t>
            </a:r>
            <a:r>
              <a:rPr lang="ja-JP" altLang="en-US" dirty="0" smtClean="0">
                <a:solidFill>
                  <a:schemeClr val="accent2"/>
                </a:solidFill>
                <a:ea typeface="ＭＳ Ｐゴシック" pitchFamily="34" charset="-128"/>
              </a:rPr>
              <a:t>’</a:t>
            </a:r>
            <a:r>
              <a:rPr lang="en-US" altLang="ja-JP" dirty="0" smtClean="0">
                <a:solidFill>
                  <a:schemeClr val="accent2"/>
                </a:solidFill>
                <a:ea typeface="ＭＳ Ｐゴシック" pitchFamily="34" charset="-128"/>
              </a:rPr>
              <a:t>s law</a:t>
            </a:r>
            <a:r>
              <a:rPr lang="en-US" altLang="ja-JP" dirty="0" smtClean="0">
                <a:ea typeface="ＭＳ Ｐゴシック" pitchFamily="34" charset="-128"/>
              </a:rPr>
              <a:t> - volume of a gas varies </a:t>
            </a:r>
            <a:r>
              <a:rPr lang="en-US" altLang="ja-JP" i="1" dirty="0" smtClean="0">
                <a:ea typeface="ＭＳ Ｐゴシック" pitchFamily="34" charset="-128"/>
              </a:rPr>
              <a:t>directly</a:t>
            </a:r>
            <a:r>
              <a:rPr lang="en-US" altLang="ja-JP" dirty="0" smtClean="0">
                <a:ea typeface="ＭＳ Ｐゴシック" pitchFamily="34" charset="-128"/>
              </a:rPr>
              <a:t> with the absolute temperature (K) if pressure and number of moles of gas are constant</a:t>
            </a:r>
          </a:p>
          <a:p>
            <a:pPr>
              <a:spcBef>
                <a:spcPct val="50000"/>
              </a:spcBef>
            </a:pPr>
            <a:r>
              <a:rPr lang="en-US" altLang="en-US" dirty="0" smtClean="0">
                <a:ea typeface="ＭＳ Ｐゴシック" pitchFamily="34" charset="-128"/>
              </a:rPr>
              <a:t>Ratio of volume (</a:t>
            </a:r>
            <a:r>
              <a:rPr lang="en-US" altLang="en-US" i="1" dirty="0" smtClean="0">
                <a:ea typeface="ＭＳ Ｐゴシック" pitchFamily="34" charset="-128"/>
              </a:rPr>
              <a:t>V</a:t>
            </a:r>
            <a:r>
              <a:rPr lang="en-US" altLang="en-US" dirty="0" smtClean="0">
                <a:ea typeface="ＭＳ Ｐゴシック" pitchFamily="34" charset="-128"/>
              </a:rPr>
              <a:t>) and temperature (</a:t>
            </a:r>
            <a:r>
              <a:rPr lang="en-US" altLang="en-US" i="1" dirty="0" smtClean="0">
                <a:ea typeface="ＭＳ Ｐゴシック" pitchFamily="34" charset="-128"/>
              </a:rPr>
              <a:t>T</a:t>
            </a:r>
            <a:r>
              <a:rPr lang="en-US" altLang="en-US" dirty="0" smtClean="0">
                <a:ea typeface="ＭＳ Ｐゴシック" pitchFamily="34" charset="-128"/>
              </a:rPr>
              <a:t>) is a </a:t>
            </a:r>
            <a:r>
              <a:rPr lang="en-US" altLang="en-US" dirty="0" smtClean="0">
                <a:solidFill>
                  <a:srgbClr val="008000"/>
                </a:solidFill>
                <a:ea typeface="ＭＳ Ｐゴシック" pitchFamily="34" charset="-128"/>
              </a:rPr>
              <a:t>constant (</a:t>
            </a:r>
            <a:r>
              <a:rPr lang="en-US" altLang="en-US" i="1" dirty="0" smtClean="0">
                <a:solidFill>
                  <a:srgbClr val="008000"/>
                </a:solidFill>
                <a:ea typeface="ＭＳ Ｐゴシック" pitchFamily="34" charset="-128"/>
              </a:rPr>
              <a:t>k</a:t>
            </a:r>
            <a:r>
              <a:rPr lang="en-US" altLang="en-US" i="1" baseline="-25000" dirty="0" smtClean="0">
                <a:solidFill>
                  <a:srgbClr val="008000"/>
                </a:solidFill>
                <a:ea typeface="ＭＳ Ｐゴシック" pitchFamily="34" charset="-128"/>
              </a:rPr>
              <a:t>c</a:t>
            </a:r>
            <a:r>
              <a:rPr lang="en-US" altLang="en-US" dirty="0" smtClean="0">
                <a:solidFill>
                  <a:srgbClr val="008000"/>
                </a:solidFill>
                <a:ea typeface="ＭＳ Ｐゴシック" pitchFamily="34" charset="-128"/>
              </a:rPr>
              <a:t>)</a:t>
            </a:r>
            <a:r>
              <a:rPr lang="en-US" altLang="en-US" dirty="0" smtClean="0">
                <a:ea typeface="ＭＳ Ｐゴシック" pitchFamily="34" charset="-128"/>
              </a:rPr>
              <a:t>.</a:t>
            </a:r>
          </a:p>
          <a:p>
            <a:pPr>
              <a:buFontTx/>
              <a:buNone/>
            </a:pPr>
            <a:endParaRPr lang="en-US" altLang="en-US" dirty="0" smtClean="0">
              <a:ea typeface="ＭＳ Ｐゴシック" pitchFamily="34" charset="-128"/>
            </a:endParaRPr>
          </a:p>
        </p:txBody>
      </p:sp>
      <p:sp>
        <p:nvSpPr>
          <p:cNvPr id="19458" name="Rectangle 10"/>
          <p:cNvSpPr>
            <a:spLocks noChangeArrowheads="1"/>
          </p:cNvSpPr>
          <p:nvPr/>
        </p:nvSpPr>
        <p:spPr bwMode="auto">
          <a:xfrm rot="-5400000">
            <a:off x="-2590800" y="2895600"/>
            <a:ext cx="61722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1pPr>
            <a:lvl2pPr marL="742950" indent="-28575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2pPr>
            <a:lvl3pPr marL="11430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3pPr>
            <a:lvl4pPr marL="16002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4pPr>
            <a:lvl5pPr marL="20574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9pPr>
          </a:lstStyle>
          <a:p>
            <a:r>
              <a:rPr lang="en-US" altLang="en-US">
                <a:solidFill>
                  <a:schemeClr val="bg2"/>
                </a:solidFill>
              </a:rPr>
              <a:t>5.1 The Gaseous State</a:t>
            </a:r>
          </a:p>
        </p:txBody>
      </p:sp>
      <p:sp>
        <p:nvSpPr>
          <p:cNvPr id="19459" name="Rectangle 12"/>
          <p:cNvSpPr>
            <a:spLocks noGrp="1" noChangeArrowheads="1"/>
          </p:cNvSpPr>
          <p:nvPr>
            <p:ph type="title"/>
          </p:nvPr>
        </p:nvSpPr>
        <p:spPr>
          <a:xfrm>
            <a:off x="1066800" y="228600"/>
            <a:ext cx="7772400" cy="838200"/>
          </a:xfrm>
        </p:spPr>
        <p:txBody>
          <a:bodyPr/>
          <a:lstStyle/>
          <a:p>
            <a:r>
              <a:rPr lang="en-US" altLang="en-US" smtClean="0">
                <a:ea typeface="ＭＳ Ｐゴシック" pitchFamily="34" charset="-128"/>
              </a:rPr>
              <a:t>Charles</a:t>
            </a:r>
            <a:r>
              <a:rPr lang="ja-JP" altLang="en-US" smtClean="0">
                <a:ea typeface="ＭＳ Ｐゴシック" pitchFamily="34" charset="-128"/>
              </a:rPr>
              <a:t>’</a:t>
            </a:r>
            <a:r>
              <a:rPr lang="en-US" altLang="ja-JP" smtClean="0">
                <a:ea typeface="ＭＳ Ｐゴシック" pitchFamily="34" charset="-128"/>
              </a:rPr>
              <a:t>s Law</a:t>
            </a:r>
            <a:endParaRPr lang="en-US" altLang="en-US" smtClean="0">
              <a:ea typeface="ＭＳ Ｐゴシック" pitchFamily="34" charset="-128"/>
            </a:endParaRPr>
          </a:p>
        </p:txBody>
      </p:sp>
      <p:grpSp>
        <p:nvGrpSpPr>
          <p:cNvPr id="19460" name="Group 9"/>
          <p:cNvGrpSpPr>
            <a:grpSpLocks/>
          </p:cNvGrpSpPr>
          <p:nvPr/>
        </p:nvGrpSpPr>
        <p:grpSpPr bwMode="auto">
          <a:xfrm>
            <a:off x="8077200" y="838200"/>
            <a:ext cx="762000" cy="523875"/>
            <a:chOff x="3962400" y="5791200"/>
            <a:chExt cx="762000" cy="523220"/>
          </a:xfrm>
        </p:grpSpPr>
        <p:sp>
          <p:nvSpPr>
            <p:cNvPr id="19465" name="TextBox 6"/>
            <p:cNvSpPr txBox="1">
              <a:spLocks noChangeArrowheads="1"/>
            </p:cNvSpPr>
            <p:nvPr/>
          </p:nvSpPr>
          <p:spPr bwMode="auto">
            <a:xfrm>
              <a:off x="3962400" y="5791200"/>
              <a:ext cx="685800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1pPr>
              <a:lvl2pPr marL="742950" indent="-28575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2pPr>
              <a:lvl3pPr marL="1143000" indent="-22860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3pPr>
              <a:lvl4pPr marL="1600200" indent="-22860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4pPr>
              <a:lvl5pPr marL="2057400" indent="-22860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9pPr>
            </a:lstStyle>
            <a:p>
              <a:r>
                <a:rPr lang="en-US" altLang="en-US" sz="2800" dirty="0" smtClean="0">
                  <a:solidFill>
                    <a:schemeClr val="accent2"/>
                  </a:solidFill>
                  <a:latin typeface="Arial Black" pitchFamily="34" charset="0"/>
                </a:rPr>
                <a:t>4</a:t>
              </a:r>
              <a:endParaRPr lang="en-US" altLang="en-US" sz="2800" dirty="0">
                <a:solidFill>
                  <a:schemeClr val="accent2"/>
                </a:solidFill>
                <a:latin typeface="Arial Black" pitchFamily="34" charset="0"/>
              </a:endParaRPr>
            </a:p>
          </p:txBody>
        </p:sp>
        <p:sp>
          <p:nvSpPr>
            <p:cNvPr id="19466" name="Isosceles Triangle 8"/>
            <p:cNvSpPr>
              <a:spLocks noChangeArrowheads="1"/>
            </p:cNvSpPr>
            <p:nvPr/>
          </p:nvSpPr>
          <p:spPr bwMode="auto">
            <a:xfrm rot="5400000">
              <a:off x="4533900" y="5927108"/>
              <a:ext cx="152400" cy="228600"/>
            </a:xfrm>
            <a:prstGeom prst="triangle">
              <a:avLst>
                <a:gd name="adj" fmla="val 50000"/>
              </a:avLst>
            </a:prstGeom>
            <a:solidFill>
              <a:srgbClr val="F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1pPr>
              <a:lvl2pPr marL="742950" indent="-28575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2pPr>
              <a:lvl3pPr marL="1143000" indent="-22860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3pPr>
              <a:lvl4pPr marL="1600200" indent="-22860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4pPr>
              <a:lvl5pPr marL="2057400" indent="-22860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9pPr>
            </a:lstStyle>
            <a:p>
              <a:endParaRPr lang="en-IN" altLang="en-US"/>
            </a:p>
          </p:txBody>
        </p:sp>
      </p:grpSp>
      <p:grpSp>
        <p:nvGrpSpPr>
          <p:cNvPr id="19461" name="Group 2"/>
          <p:cNvGrpSpPr>
            <a:grpSpLocks/>
          </p:cNvGrpSpPr>
          <p:nvPr/>
        </p:nvGrpSpPr>
        <p:grpSpPr bwMode="auto">
          <a:xfrm>
            <a:off x="3657600" y="4572000"/>
            <a:ext cx="1981200" cy="1219200"/>
            <a:chOff x="3657600" y="3886200"/>
            <a:chExt cx="1981200" cy="1219200"/>
          </a:xfrm>
        </p:grpSpPr>
        <p:sp>
          <p:nvSpPr>
            <p:cNvPr id="10" name="Rounded Rectangle 9"/>
            <p:cNvSpPr>
              <a:spLocks noChangeArrowheads="1"/>
            </p:cNvSpPr>
            <p:nvPr/>
          </p:nvSpPr>
          <p:spPr bwMode="auto">
            <a:xfrm>
              <a:off x="3657600" y="3886200"/>
              <a:ext cx="1981200" cy="1219200"/>
            </a:xfrm>
            <a:prstGeom prst="roundRect">
              <a:avLst>
                <a:gd name="adj" fmla="val 16667"/>
              </a:avLst>
            </a:prstGeom>
            <a:solidFill>
              <a:srgbClr val="408000"/>
            </a:solidFill>
            <a:ln>
              <a:noFill/>
            </a:ln>
            <a:effectLst>
              <a:outerShdw blurRad="50800" dist="38100" dir="2700000" algn="tl" rotWithShape="0">
                <a:srgbClr val="808080">
                  <a:alpha val="39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l">
                <a:defRPr/>
              </a:pPr>
              <a:endParaRPr lang="en-US" sz="3600" i="1" dirty="0">
                <a:solidFill>
                  <a:schemeClr val="accent5"/>
                </a:solidFill>
                <a:ea typeface="ＭＳ Ｐゴシック" charset="0"/>
              </a:endParaRPr>
            </a:p>
          </p:txBody>
        </p:sp>
        <p:sp>
          <p:nvSpPr>
            <p:cNvPr id="2" name="TextBox 1"/>
            <p:cNvSpPr txBox="1"/>
            <p:nvPr/>
          </p:nvSpPr>
          <p:spPr>
            <a:xfrm>
              <a:off x="4057770" y="3976688"/>
              <a:ext cx="434734" cy="107721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3200" i="1" u="sng" dirty="0">
                  <a:solidFill>
                    <a:schemeClr val="accent5"/>
                  </a:solidFill>
                  <a:latin typeface="Times New Roman" charset="0"/>
                  <a:ea typeface="ＭＳ Ｐゴシック" charset="0"/>
                  <a:cs typeface="ＭＳ Ｐゴシック" charset="0"/>
                </a:rPr>
                <a:t>V</a:t>
              </a:r>
            </a:p>
            <a:p>
              <a:pPr>
                <a:defRPr/>
              </a:pPr>
              <a:r>
                <a:rPr lang="en-US" sz="3200" i="1" dirty="0">
                  <a:solidFill>
                    <a:schemeClr val="accent5"/>
                  </a:solidFill>
                  <a:latin typeface="Times New Roman" charset="0"/>
                  <a:ea typeface="ＭＳ Ｐゴシック" charset="0"/>
                  <a:cs typeface="ＭＳ Ｐゴシック" charset="0"/>
                </a:rPr>
                <a:t>T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4469213" y="4173538"/>
              <a:ext cx="869149" cy="58477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3200" i="1" dirty="0">
                  <a:solidFill>
                    <a:schemeClr val="accent5"/>
                  </a:solidFill>
                  <a:latin typeface="Times New Roman" charset="0"/>
                  <a:ea typeface="ＭＳ Ｐゴシック" charset="0"/>
                  <a:cs typeface="ＭＳ Ｐゴシック" charset="0"/>
                </a:rPr>
                <a:t>= </a:t>
              </a:r>
              <a:r>
                <a:rPr lang="en-US" sz="3200" i="1" dirty="0" smtClean="0">
                  <a:solidFill>
                    <a:schemeClr val="accent5"/>
                  </a:solidFill>
                  <a:latin typeface="Times New Roman" charset="0"/>
                  <a:ea typeface="ＭＳ Ｐゴシック" charset="0"/>
                  <a:cs typeface="ＭＳ Ｐゴシック" charset="0"/>
                </a:rPr>
                <a:t>k</a:t>
              </a:r>
              <a:r>
                <a:rPr lang="en-US" sz="3200" i="1" baseline="-25000" dirty="0" smtClean="0">
                  <a:solidFill>
                    <a:schemeClr val="accent5"/>
                  </a:solidFill>
                  <a:latin typeface="Times New Roman" charset="0"/>
                  <a:ea typeface="ＭＳ Ｐゴシック" charset="0"/>
                  <a:cs typeface="ＭＳ Ｐゴシック" charset="0"/>
                </a:rPr>
                <a:t>c</a:t>
              </a:r>
              <a:endParaRPr lang="en-US" sz="3200" i="1" baseline="-25000" dirty="0">
                <a:solidFill>
                  <a:schemeClr val="accent5"/>
                </a:solidFill>
                <a:latin typeface="Times New Roman" charset="0"/>
                <a:ea typeface="ＭＳ Ｐゴシック" charset="0"/>
                <a:cs typeface="ＭＳ Ｐゴシック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Text Box 3"/>
          <p:cNvSpPr txBox="1">
            <a:spLocks noChangeArrowheads="1"/>
          </p:cNvSpPr>
          <p:nvPr/>
        </p:nvSpPr>
        <p:spPr bwMode="auto">
          <a:xfrm>
            <a:off x="1736725" y="171450"/>
            <a:ext cx="1841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1pPr>
            <a:lvl2pPr marL="742950" indent="-28575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2pPr>
            <a:lvl3pPr marL="11430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3pPr>
            <a:lvl4pPr marL="16002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4pPr>
            <a:lvl5pPr marL="20574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9pPr>
          </a:lstStyle>
          <a:p>
            <a:pPr algn="l"/>
            <a:endParaRPr lang="en-IN" altLang="en-US" sz="3200" b="1">
              <a:solidFill>
                <a:srgbClr val="800080"/>
              </a:solidFill>
            </a:endParaRPr>
          </a:p>
        </p:txBody>
      </p:sp>
      <p:sp>
        <p:nvSpPr>
          <p:cNvPr id="20482" name="Rectangle 10"/>
          <p:cNvSpPr>
            <a:spLocks noChangeArrowheads="1"/>
          </p:cNvSpPr>
          <p:nvPr/>
        </p:nvSpPr>
        <p:spPr bwMode="auto">
          <a:xfrm rot="-5400000">
            <a:off x="-2590800" y="2895600"/>
            <a:ext cx="61722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1pPr>
            <a:lvl2pPr marL="742950" indent="-28575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2pPr>
            <a:lvl3pPr marL="11430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3pPr>
            <a:lvl4pPr marL="16002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4pPr>
            <a:lvl5pPr marL="20574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9pPr>
          </a:lstStyle>
          <a:p>
            <a:r>
              <a:rPr lang="en-US" altLang="en-US">
                <a:solidFill>
                  <a:schemeClr val="bg2"/>
                </a:solidFill>
              </a:rPr>
              <a:t>5.1 The Gaseous State</a:t>
            </a:r>
          </a:p>
        </p:txBody>
      </p:sp>
      <p:sp>
        <p:nvSpPr>
          <p:cNvPr id="20483" name="Rectangle 12"/>
          <p:cNvSpPr>
            <a:spLocks noGrp="1" noChangeArrowheads="1"/>
          </p:cNvSpPr>
          <p:nvPr>
            <p:ph type="title"/>
          </p:nvPr>
        </p:nvSpPr>
        <p:spPr>
          <a:xfrm>
            <a:off x="1066800" y="228600"/>
            <a:ext cx="7772400" cy="762000"/>
          </a:xfrm>
        </p:spPr>
        <p:txBody>
          <a:bodyPr/>
          <a:lstStyle/>
          <a:p>
            <a:r>
              <a:rPr lang="en-US" altLang="en-US" dirty="0" smtClean="0">
                <a:ea typeface="ＭＳ Ｐゴシック" pitchFamily="34" charset="-128"/>
              </a:rPr>
              <a:t>Charles</a:t>
            </a:r>
            <a:r>
              <a:rPr lang="ja-JP" altLang="en-US" dirty="0" smtClean="0">
                <a:ea typeface="ＭＳ Ｐゴシック" pitchFamily="34" charset="-128"/>
              </a:rPr>
              <a:t>’</a:t>
            </a:r>
            <a:r>
              <a:rPr lang="en-US" altLang="ja-JP" dirty="0" smtClean="0">
                <a:ea typeface="ＭＳ Ｐゴシック" pitchFamily="34" charset="-128"/>
              </a:rPr>
              <a:t>s Law Equation</a:t>
            </a:r>
            <a:endParaRPr lang="en-US" altLang="en-US" dirty="0" smtClean="0">
              <a:ea typeface="ＭＳ Ｐゴシック" pitchFamily="34" charset="-128"/>
            </a:endParaRPr>
          </a:p>
        </p:txBody>
      </p:sp>
      <p:grpSp>
        <p:nvGrpSpPr>
          <p:cNvPr id="20484" name="Group 9"/>
          <p:cNvGrpSpPr>
            <a:grpSpLocks/>
          </p:cNvGrpSpPr>
          <p:nvPr/>
        </p:nvGrpSpPr>
        <p:grpSpPr bwMode="auto">
          <a:xfrm>
            <a:off x="8077200" y="1295400"/>
            <a:ext cx="762000" cy="523875"/>
            <a:chOff x="3962400" y="5791200"/>
            <a:chExt cx="762000" cy="523220"/>
          </a:xfrm>
        </p:grpSpPr>
        <p:sp>
          <p:nvSpPr>
            <p:cNvPr id="20492" name="TextBox 6"/>
            <p:cNvSpPr txBox="1">
              <a:spLocks noChangeArrowheads="1"/>
            </p:cNvSpPr>
            <p:nvPr/>
          </p:nvSpPr>
          <p:spPr bwMode="auto">
            <a:xfrm>
              <a:off x="3962400" y="5791200"/>
              <a:ext cx="685800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1pPr>
              <a:lvl2pPr marL="742950" indent="-28575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2pPr>
              <a:lvl3pPr marL="1143000" indent="-22860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3pPr>
              <a:lvl4pPr marL="1600200" indent="-22860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4pPr>
              <a:lvl5pPr marL="2057400" indent="-22860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9pPr>
            </a:lstStyle>
            <a:p>
              <a:r>
                <a:rPr lang="en-US" altLang="en-US" sz="2800">
                  <a:solidFill>
                    <a:schemeClr val="accent2"/>
                  </a:solidFill>
                  <a:latin typeface="Arial Black" pitchFamily="34" charset="0"/>
                </a:rPr>
                <a:t>4</a:t>
              </a:r>
            </a:p>
          </p:txBody>
        </p:sp>
        <p:sp>
          <p:nvSpPr>
            <p:cNvPr id="20493" name="Isosceles Triangle 8"/>
            <p:cNvSpPr>
              <a:spLocks noChangeArrowheads="1"/>
            </p:cNvSpPr>
            <p:nvPr/>
          </p:nvSpPr>
          <p:spPr bwMode="auto">
            <a:xfrm rot="5400000">
              <a:off x="4533900" y="5927108"/>
              <a:ext cx="152400" cy="228600"/>
            </a:xfrm>
            <a:prstGeom prst="triangle">
              <a:avLst>
                <a:gd name="adj" fmla="val 50000"/>
              </a:avLst>
            </a:prstGeom>
            <a:solidFill>
              <a:srgbClr val="F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1pPr>
              <a:lvl2pPr marL="742950" indent="-28575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2pPr>
              <a:lvl3pPr marL="1143000" indent="-22860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3pPr>
              <a:lvl4pPr marL="1600200" indent="-22860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4pPr>
              <a:lvl5pPr marL="2057400" indent="-22860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9pPr>
            </a:lstStyle>
            <a:p>
              <a:endParaRPr lang="en-IN" altLang="en-US"/>
            </a:p>
          </p:txBody>
        </p:sp>
      </p:grpSp>
      <p:grpSp>
        <p:nvGrpSpPr>
          <p:cNvPr id="20486" name="Group 3"/>
          <p:cNvGrpSpPr>
            <a:grpSpLocks/>
          </p:cNvGrpSpPr>
          <p:nvPr/>
        </p:nvGrpSpPr>
        <p:grpSpPr bwMode="auto">
          <a:xfrm>
            <a:off x="3581400" y="1219200"/>
            <a:ext cx="1981200" cy="1219200"/>
            <a:chOff x="3581400" y="1219200"/>
            <a:chExt cx="1981200" cy="1219200"/>
          </a:xfrm>
        </p:grpSpPr>
        <p:grpSp>
          <p:nvGrpSpPr>
            <p:cNvPr id="20487" name="Group 12"/>
            <p:cNvGrpSpPr>
              <a:grpSpLocks/>
            </p:cNvGrpSpPr>
            <p:nvPr/>
          </p:nvGrpSpPr>
          <p:grpSpPr bwMode="auto">
            <a:xfrm>
              <a:off x="3581400" y="1219200"/>
              <a:ext cx="1981200" cy="1219200"/>
              <a:chOff x="3657600" y="3886200"/>
              <a:chExt cx="1981200" cy="1219200"/>
            </a:xfrm>
          </p:grpSpPr>
          <p:sp>
            <p:nvSpPr>
              <p:cNvPr id="14" name="Rounded Rectangle 13"/>
              <p:cNvSpPr>
                <a:spLocks noChangeArrowheads="1"/>
              </p:cNvSpPr>
              <p:nvPr/>
            </p:nvSpPr>
            <p:spPr bwMode="auto">
              <a:xfrm>
                <a:off x="3657600" y="3886200"/>
                <a:ext cx="1981200" cy="1219200"/>
              </a:xfrm>
              <a:prstGeom prst="roundRect">
                <a:avLst>
                  <a:gd name="adj" fmla="val 16667"/>
                </a:avLst>
              </a:prstGeom>
              <a:solidFill>
                <a:srgbClr val="408000"/>
              </a:solidFill>
              <a:ln>
                <a:noFill/>
              </a:ln>
              <a:effectLst>
                <a:outerShdw blurRad="50800" dist="38100" dir="2700000" algn="tl" rotWithShape="0">
                  <a:srgbClr val="808080">
                    <a:alpha val="39999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l">
                  <a:defRPr/>
                </a:pPr>
                <a:endParaRPr lang="en-US" sz="3600" i="1" dirty="0">
                  <a:solidFill>
                    <a:schemeClr val="accent5"/>
                  </a:solidFill>
                  <a:ea typeface="ＭＳ Ｐゴシック" charset="0"/>
                </a:endParaRPr>
              </a:p>
            </p:txBody>
          </p:sp>
          <p:sp>
            <p:nvSpPr>
              <p:cNvPr id="15" name="TextBox 14"/>
              <p:cNvSpPr txBox="1"/>
              <p:nvPr/>
            </p:nvSpPr>
            <p:spPr>
              <a:xfrm>
                <a:off x="3924997" y="3976688"/>
                <a:ext cx="479618" cy="1077218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en-US" sz="3200" i="1" u="sng" dirty="0">
                    <a:solidFill>
                      <a:schemeClr val="accent5"/>
                    </a:solidFill>
                    <a:latin typeface="Times New Roman" charset="0"/>
                    <a:ea typeface="ＭＳ Ｐゴシック" charset="0"/>
                    <a:cs typeface="ＭＳ Ｐゴシック" charset="0"/>
                  </a:rPr>
                  <a:t>V</a:t>
                </a:r>
                <a:r>
                  <a:rPr lang="en-US" sz="3200" i="1" u="sng" baseline="-25000" dirty="0">
                    <a:solidFill>
                      <a:schemeClr val="accent5"/>
                    </a:solidFill>
                    <a:latin typeface="Times New Roman" charset="0"/>
                    <a:ea typeface="ＭＳ Ｐゴシック" charset="0"/>
                    <a:cs typeface="ＭＳ Ｐゴシック" charset="0"/>
                  </a:rPr>
                  <a:t>i</a:t>
                </a:r>
                <a:endParaRPr lang="en-US" sz="3200" i="1" u="sng" dirty="0">
                  <a:solidFill>
                    <a:schemeClr val="accent5"/>
                  </a:solidFill>
                  <a:latin typeface="Times New Roman" charset="0"/>
                  <a:ea typeface="ＭＳ Ｐゴシック" charset="0"/>
                  <a:cs typeface="ＭＳ Ｐゴシック" charset="0"/>
                </a:endParaRPr>
              </a:p>
              <a:p>
                <a:pPr>
                  <a:defRPr/>
                </a:pPr>
                <a:r>
                  <a:rPr lang="en-US" sz="3200" i="1" dirty="0">
                    <a:solidFill>
                      <a:schemeClr val="accent5"/>
                    </a:solidFill>
                    <a:latin typeface="Times New Roman" charset="0"/>
                    <a:ea typeface="ＭＳ Ｐゴシック" charset="0"/>
                    <a:cs typeface="ＭＳ Ｐゴシック" charset="0"/>
                  </a:rPr>
                  <a:t>T</a:t>
                </a:r>
                <a:r>
                  <a:rPr lang="en-US" sz="3200" i="1" baseline="-25000" dirty="0">
                    <a:solidFill>
                      <a:schemeClr val="accent5"/>
                    </a:solidFill>
                    <a:latin typeface="Times New Roman" charset="0"/>
                    <a:ea typeface="ＭＳ Ｐゴシック" charset="0"/>
                    <a:cs typeface="ＭＳ Ｐゴシック" charset="0"/>
                  </a:rPr>
                  <a:t>i</a:t>
                </a:r>
                <a:endParaRPr lang="en-US" sz="3200" i="1" dirty="0">
                  <a:solidFill>
                    <a:schemeClr val="accent5"/>
                  </a:solidFill>
                  <a:latin typeface="Times New Roman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16" name="TextBox 15"/>
              <p:cNvSpPr txBox="1"/>
              <p:nvPr/>
            </p:nvSpPr>
            <p:spPr>
              <a:xfrm>
                <a:off x="4437845" y="4173538"/>
                <a:ext cx="461986" cy="58477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en-US" sz="3200" i="1" dirty="0">
                    <a:solidFill>
                      <a:schemeClr val="accent5"/>
                    </a:solidFill>
                    <a:latin typeface="Times New Roman" charset="0"/>
                    <a:ea typeface="ＭＳ Ｐゴシック" charset="0"/>
                    <a:cs typeface="ＭＳ Ｐゴシック" charset="0"/>
                  </a:rPr>
                  <a:t>=</a:t>
                </a:r>
              </a:p>
            </p:txBody>
          </p:sp>
        </p:grpSp>
        <p:sp>
          <p:nvSpPr>
            <p:cNvPr id="18" name="TextBox 17"/>
            <p:cNvSpPr txBox="1"/>
            <p:nvPr/>
          </p:nvSpPr>
          <p:spPr>
            <a:xfrm>
              <a:off x="4843218" y="1295400"/>
              <a:ext cx="510076" cy="107721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3200" i="1" u="sng" dirty="0" err="1">
                  <a:solidFill>
                    <a:schemeClr val="accent5"/>
                  </a:solidFill>
                  <a:latin typeface="Times New Roman" charset="0"/>
                  <a:ea typeface="ＭＳ Ｐゴシック" charset="0"/>
                  <a:cs typeface="ＭＳ Ｐゴシック" charset="0"/>
                </a:rPr>
                <a:t>V</a:t>
              </a:r>
              <a:r>
                <a:rPr lang="en-US" sz="3200" i="1" u="sng" baseline="-25000" dirty="0" err="1">
                  <a:solidFill>
                    <a:schemeClr val="accent5"/>
                  </a:solidFill>
                  <a:latin typeface="Times New Roman" charset="0"/>
                  <a:ea typeface="ＭＳ Ｐゴシック" charset="0"/>
                  <a:cs typeface="ＭＳ Ｐゴシック" charset="0"/>
                </a:rPr>
                <a:t>f</a:t>
              </a:r>
              <a:endParaRPr lang="en-US" sz="3200" i="1" u="sng" dirty="0">
                <a:solidFill>
                  <a:schemeClr val="accent5"/>
                </a:solidFill>
                <a:latin typeface="Times New Roman" charset="0"/>
                <a:ea typeface="ＭＳ Ｐゴシック" charset="0"/>
                <a:cs typeface="ＭＳ Ｐゴシック" charset="0"/>
              </a:endParaRPr>
            </a:p>
            <a:p>
              <a:pPr>
                <a:defRPr/>
              </a:pPr>
              <a:r>
                <a:rPr lang="en-US" sz="3200" i="1" dirty="0" err="1">
                  <a:solidFill>
                    <a:schemeClr val="accent5"/>
                  </a:solidFill>
                  <a:latin typeface="Times New Roman" charset="0"/>
                  <a:ea typeface="ＭＳ Ｐゴシック" charset="0"/>
                  <a:cs typeface="ＭＳ Ｐゴシック" charset="0"/>
                </a:rPr>
                <a:t>T</a:t>
              </a:r>
              <a:r>
                <a:rPr lang="en-US" sz="3200" i="1" baseline="-25000" dirty="0" err="1">
                  <a:solidFill>
                    <a:schemeClr val="accent5"/>
                  </a:solidFill>
                  <a:latin typeface="Times New Roman" charset="0"/>
                  <a:ea typeface="ＭＳ Ｐゴシック" charset="0"/>
                  <a:cs typeface="ＭＳ Ｐゴシック" charset="0"/>
                </a:rPr>
                <a:t>f</a:t>
              </a:r>
              <a:endParaRPr lang="en-US" sz="3200" i="1" dirty="0">
                <a:solidFill>
                  <a:schemeClr val="accent5"/>
                </a:solidFill>
                <a:latin typeface="Times New Roman" charset="0"/>
                <a:ea typeface="ＭＳ Ｐゴシック" charset="0"/>
                <a:cs typeface="ＭＳ Ｐゴシック" charset="0"/>
              </a:endParaRPr>
            </a:p>
          </p:txBody>
        </p:sp>
      </p:grpSp>
      <p:pic>
        <p:nvPicPr>
          <p:cNvPr id="20495" name="Picture 1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9375" y="2660868"/>
            <a:ext cx="6819900" cy="3981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A57BA8"/>
                    </a:gs>
                    <a:gs pos="100000">
                      <a:srgbClr val="61116D"/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</p:pic>
      <p:sp>
        <p:nvSpPr>
          <p:cNvPr id="17" name="Text Box 10"/>
          <p:cNvSpPr txBox="1">
            <a:spLocks noChangeArrowheads="1"/>
          </p:cNvSpPr>
          <p:nvPr/>
        </p:nvSpPr>
        <p:spPr bwMode="auto">
          <a:xfrm>
            <a:off x="0" y="6621463"/>
            <a:ext cx="4759325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2"/>
                </a:solidFill>
                <a:latin typeface="Times New Roman" pitchFamily="18" charset="0"/>
                <a:ea typeface="ＭＳ Ｐゴシック" pitchFamily="34" charset="-128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Char char="–"/>
              <a:defRPr sz="28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2pPr>
            <a:lvl3pPr marL="1143000" indent="-228600" algn="l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4pPr>
            <a:lvl5pPr marL="2057400" indent="-228600" algn="l">
              <a:spcBef>
                <a:spcPct val="20000"/>
              </a:spcBef>
              <a:buClr>
                <a:schemeClr val="tx2"/>
              </a:buClr>
              <a:buChar char="»"/>
              <a:defRPr sz="2000">
                <a:solidFill>
                  <a:srgbClr val="CDE1FF"/>
                </a:solidFill>
                <a:latin typeface="Times New Roman" pitchFamily="18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»"/>
              <a:defRPr sz="2000">
                <a:solidFill>
                  <a:srgbClr val="CDE1FF"/>
                </a:solidFill>
                <a:latin typeface="Times New Roman" pitchFamily="18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»"/>
              <a:defRPr sz="2000">
                <a:solidFill>
                  <a:srgbClr val="CDE1FF"/>
                </a:solidFill>
                <a:latin typeface="Times New Roman" pitchFamily="18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»"/>
              <a:defRPr sz="2000">
                <a:solidFill>
                  <a:srgbClr val="CDE1FF"/>
                </a:solidFill>
                <a:latin typeface="Times New Roman" pitchFamily="18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»"/>
              <a:defRPr sz="2000">
                <a:solidFill>
                  <a:srgbClr val="CDE1FF"/>
                </a:solidFill>
                <a:latin typeface="Times New Roman" pitchFamily="18" charset="0"/>
                <a:ea typeface="ＭＳ Ｐゴシック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900" b="1" dirty="0">
                <a:solidFill>
                  <a:schemeClr val="bg1">
                    <a:lumMod val="10000"/>
                  </a:schemeClr>
                </a:solidFill>
              </a:rPr>
              <a:t>Copyright © 2017 McGraw-Hill Education.  Permission required for reproduction or display</a:t>
            </a:r>
            <a:endParaRPr lang="en-US" altLang="en-US" dirty="0">
              <a:solidFill>
                <a:schemeClr val="bg1">
                  <a:lumMod val="10000"/>
                </a:schemeClr>
              </a:solidFill>
              <a:cs typeface="Times New Roman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4"/>
          <p:cNvSpPr>
            <a:spLocks noChangeArrowheads="1"/>
          </p:cNvSpPr>
          <p:nvPr/>
        </p:nvSpPr>
        <p:spPr bwMode="auto">
          <a:xfrm rot="-5400000">
            <a:off x="-2590800" y="2895600"/>
            <a:ext cx="61722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1pPr>
            <a:lvl2pPr marL="742950" indent="-28575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2pPr>
            <a:lvl3pPr marL="11430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3pPr>
            <a:lvl4pPr marL="16002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4pPr>
            <a:lvl5pPr marL="20574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9pPr>
          </a:lstStyle>
          <a:p>
            <a:r>
              <a:rPr lang="en-US" altLang="en-US">
                <a:solidFill>
                  <a:schemeClr val="bg2"/>
                </a:solidFill>
              </a:rPr>
              <a:t>5.1 The Gaseous State</a:t>
            </a:r>
          </a:p>
        </p:txBody>
      </p:sp>
      <p:sp>
        <p:nvSpPr>
          <p:cNvPr id="21506" name="Rectangle 5"/>
          <p:cNvSpPr>
            <a:spLocks noGrp="1" noChangeArrowheads="1"/>
          </p:cNvSpPr>
          <p:nvPr>
            <p:ph type="title"/>
          </p:nvPr>
        </p:nvSpPr>
        <p:spPr>
          <a:xfrm>
            <a:off x="1066800" y="228600"/>
            <a:ext cx="7772400" cy="838200"/>
          </a:xfrm>
        </p:spPr>
        <p:txBody>
          <a:bodyPr/>
          <a:lstStyle/>
          <a:p>
            <a:r>
              <a:rPr lang="en-US" altLang="en-US" smtClean="0">
                <a:ea typeface="ＭＳ Ｐゴシック" pitchFamily="34" charset="-128"/>
              </a:rPr>
              <a:t>Application of Charles</a:t>
            </a:r>
            <a:r>
              <a:rPr lang="ja-JP" altLang="en-US" smtClean="0">
                <a:ea typeface="ＭＳ Ｐゴシック" pitchFamily="34" charset="-128"/>
              </a:rPr>
              <a:t>’</a:t>
            </a:r>
            <a:r>
              <a:rPr lang="en-US" altLang="ja-JP" smtClean="0">
                <a:ea typeface="ＭＳ Ｐゴシック" pitchFamily="34" charset="-128"/>
              </a:rPr>
              <a:t>s Law</a:t>
            </a:r>
            <a:endParaRPr lang="en-US" altLang="en-US" smtClean="0">
              <a:ea typeface="ＭＳ Ｐゴシック" pitchFamily="34" charset="-128"/>
            </a:endParaRPr>
          </a:p>
        </p:txBody>
      </p:sp>
      <p:grpSp>
        <p:nvGrpSpPr>
          <p:cNvPr id="21507" name="Group 9"/>
          <p:cNvGrpSpPr>
            <a:grpSpLocks/>
          </p:cNvGrpSpPr>
          <p:nvPr/>
        </p:nvGrpSpPr>
        <p:grpSpPr bwMode="auto">
          <a:xfrm>
            <a:off x="8077200" y="1295400"/>
            <a:ext cx="762000" cy="523875"/>
            <a:chOff x="3962400" y="5791200"/>
            <a:chExt cx="762000" cy="523220"/>
          </a:xfrm>
        </p:grpSpPr>
        <p:sp>
          <p:nvSpPr>
            <p:cNvPr id="21521" name="TextBox 6"/>
            <p:cNvSpPr txBox="1">
              <a:spLocks noChangeArrowheads="1"/>
            </p:cNvSpPr>
            <p:nvPr/>
          </p:nvSpPr>
          <p:spPr bwMode="auto">
            <a:xfrm>
              <a:off x="3962400" y="5791200"/>
              <a:ext cx="685800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1pPr>
              <a:lvl2pPr marL="742950" indent="-28575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2pPr>
              <a:lvl3pPr marL="1143000" indent="-22860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3pPr>
              <a:lvl4pPr marL="1600200" indent="-22860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4pPr>
              <a:lvl5pPr marL="2057400" indent="-22860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9pPr>
            </a:lstStyle>
            <a:p>
              <a:r>
                <a:rPr lang="en-US" altLang="en-US" sz="2800" dirty="0" smtClean="0">
                  <a:solidFill>
                    <a:schemeClr val="accent2"/>
                  </a:solidFill>
                  <a:latin typeface="Arial Black" pitchFamily="34" charset="0"/>
                </a:rPr>
                <a:t>5</a:t>
              </a:r>
              <a:endParaRPr lang="en-US" altLang="en-US" sz="2800" dirty="0">
                <a:solidFill>
                  <a:schemeClr val="accent2"/>
                </a:solidFill>
                <a:latin typeface="Arial Black" pitchFamily="34" charset="0"/>
              </a:endParaRPr>
            </a:p>
          </p:txBody>
        </p:sp>
        <p:sp>
          <p:nvSpPr>
            <p:cNvPr id="21522" name="Isosceles Triangle 8"/>
            <p:cNvSpPr>
              <a:spLocks noChangeArrowheads="1"/>
            </p:cNvSpPr>
            <p:nvPr/>
          </p:nvSpPr>
          <p:spPr bwMode="auto">
            <a:xfrm rot="5400000">
              <a:off x="4533900" y="5927108"/>
              <a:ext cx="152400" cy="228600"/>
            </a:xfrm>
            <a:prstGeom prst="triangle">
              <a:avLst>
                <a:gd name="adj" fmla="val 50000"/>
              </a:avLst>
            </a:prstGeom>
            <a:solidFill>
              <a:srgbClr val="F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1pPr>
              <a:lvl2pPr marL="742950" indent="-28575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2pPr>
              <a:lvl3pPr marL="1143000" indent="-22860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3pPr>
              <a:lvl4pPr marL="1600200" indent="-22860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4pPr>
              <a:lvl5pPr marL="2057400" indent="-22860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9pPr>
            </a:lstStyle>
            <a:p>
              <a:endParaRPr lang="en-IN" altLang="en-US"/>
            </a:p>
          </p:txBody>
        </p:sp>
      </p:grpSp>
      <p:sp>
        <p:nvSpPr>
          <p:cNvPr id="21508" name="Rectangle 6"/>
          <p:cNvSpPr txBox="1">
            <a:spLocks noChangeArrowheads="1"/>
          </p:cNvSpPr>
          <p:nvPr/>
        </p:nvSpPr>
        <p:spPr bwMode="auto">
          <a:xfrm>
            <a:off x="1143000" y="1219200"/>
            <a:ext cx="6934200" cy="198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1pPr>
            <a:lvl2pPr marL="742950" indent="-28575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2pPr>
            <a:lvl3pPr marL="11430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3pPr>
            <a:lvl4pPr marL="16002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4pPr>
            <a:lvl5pPr marL="20574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9pPr>
          </a:lstStyle>
          <a:p>
            <a:pPr algn="l">
              <a:lnSpc>
                <a:spcPct val="90000"/>
              </a:lnSpc>
              <a:spcBef>
                <a:spcPct val="15000"/>
              </a:spcBef>
              <a:buClr>
                <a:schemeClr val="tx2"/>
              </a:buClr>
            </a:pPr>
            <a:r>
              <a:rPr lang="en-US" altLang="en-US" sz="3200" dirty="0">
                <a:solidFill>
                  <a:schemeClr val="tx2"/>
                </a:solidFill>
              </a:rPr>
              <a:t>A gas occupies 10.0 L at 273 K.</a:t>
            </a:r>
            <a:br>
              <a:rPr lang="en-US" altLang="en-US" sz="3200" dirty="0">
                <a:solidFill>
                  <a:schemeClr val="tx2"/>
                </a:solidFill>
              </a:rPr>
            </a:br>
            <a:endParaRPr lang="en-US" altLang="en-US" sz="3200" dirty="0">
              <a:solidFill>
                <a:schemeClr val="tx2"/>
              </a:solidFill>
            </a:endParaRPr>
          </a:p>
          <a:p>
            <a:pPr algn="l">
              <a:lnSpc>
                <a:spcPct val="90000"/>
              </a:lnSpc>
              <a:spcBef>
                <a:spcPct val="15000"/>
              </a:spcBef>
              <a:buClr>
                <a:schemeClr val="tx2"/>
              </a:buClr>
            </a:pPr>
            <a:r>
              <a:rPr lang="en-US" altLang="en-US" sz="3200" dirty="0">
                <a:solidFill>
                  <a:schemeClr val="tx2"/>
                </a:solidFill>
              </a:rPr>
              <a:t>If I doubled the temperature to 546 K, it would cause the volume to become:</a:t>
            </a:r>
          </a:p>
        </p:txBody>
      </p:sp>
      <p:sp>
        <p:nvSpPr>
          <p:cNvPr id="21509" name="TextBox 11"/>
          <p:cNvSpPr txBox="1">
            <a:spLocks noChangeArrowheads="1"/>
          </p:cNvSpPr>
          <p:nvPr/>
        </p:nvSpPr>
        <p:spPr bwMode="auto">
          <a:xfrm>
            <a:off x="5069781" y="4876800"/>
            <a:ext cx="2001637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1pPr>
            <a:lvl2pPr marL="742950" indent="-28575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2pPr>
            <a:lvl3pPr marL="11430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3pPr>
            <a:lvl4pPr marL="16002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4pPr>
            <a:lvl5pPr marL="20574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9pPr>
          </a:lstStyle>
          <a:p>
            <a:r>
              <a:rPr lang="en-US" altLang="en-US" sz="3200" dirty="0">
                <a:solidFill>
                  <a:schemeClr val="tx2"/>
                </a:solidFill>
              </a:rPr>
              <a:t>20.0 L = </a:t>
            </a:r>
            <a:r>
              <a:rPr lang="en-US" altLang="en-US" sz="3200" i="1" dirty="0" err="1">
                <a:solidFill>
                  <a:schemeClr val="tx2"/>
                </a:solidFill>
              </a:rPr>
              <a:t>V</a:t>
            </a:r>
            <a:r>
              <a:rPr lang="en-US" altLang="en-US" sz="3200" i="1" baseline="-25000" dirty="0" err="1">
                <a:solidFill>
                  <a:schemeClr val="tx2"/>
                </a:solidFill>
              </a:rPr>
              <a:t>f</a:t>
            </a:r>
            <a:endParaRPr lang="en-US" altLang="en-US" sz="3200" i="1" dirty="0">
              <a:solidFill>
                <a:schemeClr val="tx2"/>
              </a:solidFill>
            </a:endParaRPr>
          </a:p>
        </p:txBody>
      </p:sp>
      <p:sp>
        <p:nvSpPr>
          <p:cNvPr id="21510" name="TextBox 3"/>
          <p:cNvSpPr txBox="1">
            <a:spLocks noChangeArrowheads="1"/>
          </p:cNvSpPr>
          <p:nvPr/>
        </p:nvSpPr>
        <p:spPr bwMode="auto">
          <a:xfrm>
            <a:off x="1447800" y="5791200"/>
            <a:ext cx="647541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1pPr>
            <a:lvl2pPr marL="742950" indent="-28575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2pPr>
            <a:lvl3pPr marL="11430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3pPr>
            <a:lvl4pPr marL="16002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4pPr>
            <a:lvl5pPr marL="20574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9pPr>
          </a:lstStyle>
          <a:p>
            <a:r>
              <a:rPr lang="en-US" altLang="en-US" sz="3200" dirty="0">
                <a:solidFill>
                  <a:srgbClr val="003ABC"/>
                </a:solidFill>
              </a:rPr>
              <a:t>The volume would increase to 20.0 </a:t>
            </a:r>
            <a:r>
              <a:rPr lang="en-US" altLang="en-US" sz="3200" dirty="0" smtClean="0">
                <a:solidFill>
                  <a:srgbClr val="003ABC"/>
                </a:solidFill>
              </a:rPr>
              <a:t>L.</a:t>
            </a:r>
            <a:endParaRPr lang="en-US" altLang="en-US" sz="3200" dirty="0">
              <a:solidFill>
                <a:srgbClr val="003ABC"/>
              </a:solidFill>
            </a:endParaRPr>
          </a:p>
        </p:txBody>
      </p:sp>
      <p:grpSp>
        <p:nvGrpSpPr>
          <p:cNvPr id="21511" name="Group 13"/>
          <p:cNvGrpSpPr>
            <a:grpSpLocks/>
          </p:cNvGrpSpPr>
          <p:nvPr/>
        </p:nvGrpSpPr>
        <p:grpSpPr bwMode="auto">
          <a:xfrm>
            <a:off x="1791355" y="3352801"/>
            <a:ext cx="1504627" cy="1091468"/>
            <a:chOff x="3848748" y="1295400"/>
            <a:chExt cx="1504363" cy="1090726"/>
          </a:xfrm>
        </p:grpSpPr>
        <p:grpSp>
          <p:nvGrpSpPr>
            <p:cNvPr id="21517" name="Group 14"/>
            <p:cNvGrpSpPr>
              <a:grpSpLocks/>
            </p:cNvGrpSpPr>
            <p:nvPr/>
          </p:nvGrpSpPr>
          <p:grpSpPr bwMode="auto">
            <a:xfrm>
              <a:off x="3848748" y="1309640"/>
              <a:ext cx="974755" cy="1076486"/>
              <a:chOff x="3924948" y="3976640"/>
              <a:chExt cx="974755" cy="1076486"/>
            </a:xfrm>
          </p:grpSpPr>
          <p:sp>
            <p:nvSpPr>
              <p:cNvPr id="21519" name="TextBox 17"/>
              <p:cNvSpPr txBox="1">
                <a:spLocks noChangeArrowheads="1"/>
              </p:cNvSpPr>
              <p:nvPr/>
            </p:nvSpPr>
            <p:spPr bwMode="auto">
              <a:xfrm>
                <a:off x="3924948" y="3976640"/>
                <a:ext cx="479534" cy="10764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4400">
                    <a:solidFill>
                      <a:srgbClr val="D0C1D5"/>
                    </a:solidFill>
                    <a:latin typeface="Times New Roman" pitchFamily="18" charset="0"/>
                    <a:ea typeface="ＭＳ Ｐゴシック" pitchFamily="34" charset="-128"/>
                  </a:defRPr>
                </a:lvl1pPr>
                <a:lvl2pPr marL="742950" indent="-285750">
                  <a:defRPr sz="4400">
                    <a:solidFill>
                      <a:srgbClr val="D0C1D5"/>
                    </a:solidFill>
                    <a:latin typeface="Times New Roman" pitchFamily="18" charset="0"/>
                    <a:ea typeface="ＭＳ Ｐゴシック" pitchFamily="34" charset="-128"/>
                  </a:defRPr>
                </a:lvl2pPr>
                <a:lvl3pPr marL="1143000" indent="-228600">
                  <a:defRPr sz="4400">
                    <a:solidFill>
                      <a:srgbClr val="D0C1D5"/>
                    </a:solidFill>
                    <a:latin typeface="Times New Roman" pitchFamily="18" charset="0"/>
                    <a:ea typeface="ＭＳ Ｐゴシック" pitchFamily="34" charset="-128"/>
                  </a:defRPr>
                </a:lvl3pPr>
                <a:lvl4pPr marL="1600200" indent="-228600">
                  <a:defRPr sz="4400">
                    <a:solidFill>
                      <a:srgbClr val="D0C1D5"/>
                    </a:solidFill>
                    <a:latin typeface="Times New Roman" pitchFamily="18" charset="0"/>
                    <a:ea typeface="ＭＳ Ｐゴシック" pitchFamily="34" charset="-128"/>
                  </a:defRPr>
                </a:lvl4pPr>
                <a:lvl5pPr marL="2057400" indent="-228600">
                  <a:defRPr sz="4400">
                    <a:solidFill>
                      <a:srgbClr val="D0C1D5"/>
                    </a:solidFill>
                    <a:latin typeface="Times New Roman" pitchFamily="18" charset="0"/>
                    <a:ea typeface="ＭＳ Ｐゴシック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rgbClr val="D0C1D5"/>
                    </a:solidFill>
                    <a:latin typeface="Times New Roman" pitchFamily="18" charset="0"/>
                    <a:ea typeface="ＭＳ Ｐゴシック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rgbClr val="D0C1D5"/>
                    </a:solidFill>
                    <a:latin typeface="Times New Roman" pitchFamily="18" charset="0"/>
                    <a:ea typeface="ＭＳ Ｐゴシック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rgbClr val="D0C1D5"/>
                    </a:solidFill>
                    <a:latin typeface="Times New Roman" pitchFamily="18" charset="0"/>
                    <a:ea typeface="ＭＳ Ｐゴシック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rgbClr val="D0C1D5"/>
                    </a:solidFill>
                    <a:latin typeface="Times New Roman" pitchFamily="18" charset="0"/>
                    <a:ea typeface="ＭＳ Ｐゴシック" pitchFamily="34" charset="-128"/>
                  </a:defRPr>
                </a:lvl9pPr>
              </a:lstStyle>
              <a:p>
                <a:r>
                  <a:rPr lang="en-US" altLang="en-US" sz="3200" i="1" u="sng">
                    <a:solidFill>
                      <a:schemeClr val="tx2"/>
                    </a:solidFill>
                  </a:rPr>
                  <a:t>V</a:t>
                </a:r>
                <a:r>
                  <a:rPr lang="en-US" altLang="en-US" sz="3200" i="1" u="sng" baseline="-25000">
                    <a:solidFill>
                      <a:schemeClr val="tx2"/>
                    </a:solidFill>
                  </a:rPr>
                  <a:t>i</a:t>
                </a:r>
                <a:endParaRPr lang="en-US" altLang="en-US" sz="3200" i="1" u="sng">
                  <a:solidFill>
                    <a:schemeClr val="tx2"/>
                  </a:solidFill>
                </a:endParaRPr>
              </a:p>
              <a:p>
                <a:r>
                  <a:rPr lang="en-US" altLang="en-US" sz="3200" i="1">
                    <a:solidFill>
                      <a:schemeClr val="tx2"/>
                    </a:solidFill>
                  </a:rPr>
                  <a:t>T</a:t>
                </a:r>
                <a:r>
                  <a:rPr lang="en-US" altLang="en-US" sz="3200" i="1" baseline="-25000">
                    <a:solidFill>
                      <a:schemeClr val="tx2"/>
                    </a:solidFill>
                  </a:rPr>
                  <a:t>i</a:t>
                </a:r>
                <a:endParaRPr lang="en-US" altLang="en-US" sz="3200" i="1">
                  <a:solidFill>
                    <a:schemeClr val="tx2"/>
                  </a:solidFill>
                </a:endParaRPr>
              </a:p>
            </p:txBody>
          </p:sp>
          <p:sp>
            <p:nvSpPr>
              <p:cNvPr id="21520" name="TextBox 18"/>
              <p:cNvSpPr txBox="1">
                <a:spLocks noChangeArrowheads="1"/>
              </p:cNvSpPr>
              <p:nvPr/>
            </p:nvSpPr>
            <p:spPr bwMode="auto">
              <a:xfrm>
                <a:off x="4437798" y="4174260"/>
                <a:ext cx="461905" cy="58437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4400">
                    <a:solidFill>
                      <a:srgbClr val="D0C1D5"/>
                    </a:solidFill>
                    <a:latin typeface="Times New Roman" pitchFamily="18" charset="0"/>
                    <a:ea typeface="ＭＳ Ｐゴシック" pitchFamily="34" charset="-128"/>
                  </a:defRPr>
                </a:lvl1pPr>
                <a:lvl2pPr marL="742950" indent="-285750">
                  <a:defRPr sz="4400">
                    <a:solidFill>
                      <a:srgbClr val="D0C1D5"/>
                    </a:solidFill>
                    <a:latin typeface="Times New Roman" pitchFamily="18" charset="0"/>
                    <a:ea typeface="ＭＳ Ｐゴシック" pitchFamily="34" charset="-128"/>
                  </a:defRPr>
                </a:lvl2pPr>
                <a:lvl3pPr marL="1143000" indent="-228600">
                  <a:defRPr sz="4400">
                    <a:solidFill>
                      <a:srgbClr val="D0C1D5"/>
                    </a:solidFill>
                    <a:latin typeface="Times New Roman" pitchFamily="18" charset="0"/>
                    <a:ea typeface="ＭＳ Ｐゴシック" pitchFamily="34" charset="-128"/>
                  </a:defRPr>
                </a:lvl3pPr>
                <a:lvl4pPr marL="1600200" indent="-228600">
                  <a:defRPr sz="4400">
                    <a:solidFill>
                      <a:srgbClr val="D0C1D5"/>
                    </a:solidFill>
                    <a:latin typeface="Times New Roman" pitchFamily="18" charset="0"/>
                    <a:ea typeface="ＭＳ Ｐゴシック" pitchFamily="34" charset="-128"/>
                  </a:defRPr>
                </a:lvl4pPr>
                <a:lvl5pPr marL="2057400" indent="-228600">
                  <a:defRPr sz="4400">
                    <a:solidFill>
                      <a:srgbClr val="D0C1D5"/>
                    </a:solidFill>
                    <a:latin typeface="Times New Roman" pitchFamily="18" charset="0"/>
                    <a:ea typeface="ＭＳ Ｐゴシック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rgbClr val="D0C1D5"/>
                    </a:solidFill>
                    <a:latin typeface="Times New Roman" pitchFamily="18" charset="0"/>
                    <a:ea typeface="ＭＳ Ｐゴシック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rgbClr val="D0C1D5"/>
                    </a:solidFill>
                    <a:latin typeface="Times New Roman" pitchFamily="18" charset="0"/>
                    <a:ea typeface="ＭＳ Ｐゴシック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rgbClr val="D0C1D5"/>
                    </a:solidFill>
                    <a:latin typeface="Times New Roman" pitchFamily="18" charset="0"/>
                    <a:ea typeface="ＭＳ Ｐゴシック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rgbClr val="D0C1D5"/>
                    </a:solidFill>
                    <a:latin typeface="Times New Roman" pitchFamily="18" charset="0"/>
                    <a:ea typeface="ＭＳ Ｐゴシック" pitchFamily="34" charset="-128"/>
                  </a:defRPr>
                </a:lvl9pPr>
              </a:lstStyle>
              <a:p>
                <a:r>
                  <a:rPr lang="en-US" altLang="en-US" sz="3200" i="1">
                    <a:solidFill>
                      <a:schemeClr val="tx2"/>
                    </a:solidFill>
                  </a:rPr>
                  <a:t>=</a:t>
                </a:r>
              </a:p>
            </p:txBody>
          </p:sp>
        </p:grpSp>
        <p:sp>
          <p:nvSpPr>
            <p:cNvPr id="21518" name="TextBox 15"/>
            <p:cNvSpPr txBox="1">
              <a:spLocks noChangeArrowheads="1"/>
            </p:cNvSpPr>
            <p:nvPr/>
          </p:nvSpPr>
          <p:spPr bwMode="auto">
            <a:xfrm>
              <a:off x="4843124" y="1295400"/>
              <a:ext cx="509987" cy="10764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1pPr>
              <a:lvl2pPr marL="742950" indent="-28575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2pPr>
              <a:lvl3pPr marL="1143000" indent="-22860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3pPr>
              <a:lvl4pPr marL="1600200" indent="-22860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4pPr>
              <a:lvl5pPr marL="2057400" indent="-22860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9pPr>
            </a:lstStyle>
            <a:p>
              <a:r>
                <a:rPr lang="en-US" altLang="en-US" sz="3200" i="1" u="sng">
                  <a:solidFill>
                    <a:schemeClr val="tx2"/>
                  </a:solidFill>
                </a:rPr>
                <a:t>V</a:t>
              </a:r>
              <a:r>
                <a:rPr lang="en-US" altLang="en-US" sz="3200" i="1" u="sng" baseline="-25000">
                  <a:solidFill>
                    <a:schemeClr val="tx2"/>
                  </a:solidFill>
                </a:rPr>
                <a:t>f</a:t>
              </a:r>
              <a:endParaRPr lang="en-US" altLang="en-US" sz="3200" i="1" u="sng">
                <a:solidFill>
                  <a:schemeClr val="tx2"/>
                </a:solidFill>
              </a:endParaRPr>
            </a:p>
            <a:p>
              <a:r>
                <a:rPr lang="en-US" altLang="en-US" sz="3200" i="1">
                  <a:solidFill>
                    <a:schemeClr val="tx2"/>
                  </a:solidFill>
                </a:rPr>
                <a:t>T</a:t>
              </a:r>
              <a:r>
                <a:rPr lang="en-US" altLang="en-US" sz="3200" i="1" baseline="-25000">
                  <a:solidFill>
                    <a:schemeClr val="tx2"/>
                  </a:solidFill>
                </a:rPr>
                <a:t>f</a:t>
              </a:r>
              <a:endParaRPr lang="en-US" altLang="en-US" sz="3200" i="1">
                <a:solidFill>
                  <a:schemeClr val="tx2"/>
                </a:solidFill>
              </a:endParaRPr>
            </a:p>
          </p:txBody>
        </p:sp>
      </p:grpSp>
      <p:grpSp>
        <p:nvGrpSpPr>
          <p:cNvPr id="21512" name="Group 19"/>
          <p:cNvGrpSpPr>
            <a:grpSpLocks/>
          </p:cNvGrpSpPr>
          <p:nvPr/>
        </p:nvGrpSpPr>
        <p:grpSpPr bwMode="auto">
          <a:xfrm>
            <a:off x="4648200" y="3352800"/>
            <a:ext cx="2917825" cy="1092200"/>
            <a:chOff x="3102556" y="1295400"/>
            <a:chExt cx="2917244" cy="1091458"/>
          </a:xfrm>
        </p:grpSpPr>
        <p:grpSp>
          <p:nvGrpSpPr>
            <p:cNvPr id="21513" name="Group 20"/>
            <p:cNvGrpSpPr>
              <a:grpSpLocks/>
            </p:cNvGrpSpPr>
            <p:nvPr/>
          </p:nvGrpSpPr>
          <p:grpSpPr bwMode="auto">
            <a:xfrm>
              <a:off x="3102556" y="1309640"/>
              <a:ext cx="1698044" cy="1077218"/>
              <a:chOff x="3178756" y="3976640"/>
              <a:chExt cx="1698044" cy="1077218"/>
            </a:xfrm>
          </p:grpSpPr>
          <p:sp>
            <p:nvSpPr>
              <p:cNvPr id="21515" name="TextBox 22"/>
              <p:cNvSpPr txBox="1">
                <a:spLocks noChangeArrowheads="1"/>
              </p:cNvSpPr>
              <p:nvPr/>
            </p:nvSpPr>
            <p:spPr bwMode="auto">
              <a:xfrm>
                <a:off x="3178756" y="3976640"/>
                <a:ext cx="1240844" cy="107721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4400">
                    <a:solidFill>
                      <a:srgbClr val="D0C1D5"/>
                    </a:solidFill>
                    <a:latin typeface="Times New Roman" pitchFamily="18" charset="0"/>
                    <a:ea typeface="ＭＳ Ｐゴシック" pitchFamily="34" charset="-128"/>
                  </a:defRPr>
                </a:lvl1pPr>
                <a:lvl2pPr marL="742950" indent="-285750">
                  <a:defRPr sz="4400">
                    <a:solidFill>
                      <a:srgbClr val="D0C1D5"/>
                    </a:solidFill>
                    <a:latin typeface="Times New Roman" pitchFamily="18" charset="0"/>
                    <a:ea typeface="ＭＳ Ｐゴシック" pitchFamily="34" charset="-128"/>
                  </a:defRPr>
                </a:lvl2pPr>
                <a:lvl3pPr marL="1143000" indent="-228600">
                  <a:defRPr sz="4400">
                    <a:solidFill>
                      <a:srgbClr val="D0C1D5"/>
                    </a:solidFill>
                    <a:latin typeface="Times New Roman" pitchFamily="18" charset="0"/>
                    <a:ea typeface="ＭＳ Ｐゴシック" pitchFamily="34" charset="-128"/>
                  </a:defRPr>
                </a:lvl3pPr>
                <a:lvl4pPr marL="1600200" indent="-228600">
                  <a:defRPr sz="4400">
                    <a:solidFill>
                      <a:srgbClr val="D0C1D5"/>
                    </a:solidFill>
                    <a:latin typeface="Times New Roman" pitchFamily="18" charset="0"/>
                    <a:ea typeface="ＭＳ Ｐゴシック" pitchFamily="34" charset="-128"/>
                  </a:defRPr>
                </a:lvl4pPr>
                <a:lvl5pPr marL="2057400" indent="-228600">
                  <a:defRPr sz="4400">
                    <a:solidFill>
                      <a:srgbClr val="D0C1D5"/>
                    </a:solidFill>
                    <a:latin typeface="Times New Roman" pitchFamily="18" charset="0"/>
                    <a:ea typeface="ＭＳ Ｐゴシック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rgbClr val="D0C1D5"/>
                    </a:solidFill>
                    <a:latin typeface="Times New Roman" pitchFamily="18" charset="0"/>
                    <a:ea typeface="ＭＳ Ｐゴシック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rgbClr val="D0C1D5"/>
                    </a:solidFill>
                    <a:latin typeface="Times New Roman" pitchFamily="18" charset="0"/>
                    <a:ea typeface="ＭＳ Ｐゴシック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rgbClr val="D0C1D5"/>
                    </a:solidFill>
                    <a:latin typeface="Times New Roman" pitchFamily="18" charset="0"/>
                    <a:ea typeface="ＭＳ Ｐゴシック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rgbClr val="D0C1D5"/>
                    </a:solidFill>
                    <a:latin typeface="Times New Roman" pitchFamily="18" charset="0"/>
                    <a:ea typeface="ＭＳ Ｐゴシック" pitchFamily="34" charset="-128"/>
                  </a:defRPr>
                </a:lvl9pPr>
              </a:lstStyle>
              <a:p>
                <a:r>
                  <a:rPr lang="en-US" altLang="en-US" sz="3200" u="sng">
                    <a:solidFill>
                      <a:schemeClr val="tx2"/>
                    </a:solidFill>
                  </a:rPr>
                  <a:t>10.0 L</a:t>
                </a:r>
              </a:p>
              <a:p>
                <a:r>
                  <a:rPr lang="en-US" altLang="en-US" sz="3200">
                    <a:solidFill>
                      <a:schemeClr val="tx2"/>
                    </a:solidFill>
                  </a:rPr>
                  <a:t>273 K</a:t>
                </a:r>
              </a:p>
            </p:txBody>
          </p:sp>
          <p:sp>
            <p:nvSpPr>
              <p:cNvPr id="21516" name="TextBox 23"/>
              <p:cNvSpPr txBox="1">
                <a:spLocks noChangeArrowheads="1"/>
              </p:cNvSpPr>
              <p:nvPr/>
            </p:nvSpPr>
            <p:spPr bwMode="auto">
              <a:xfrm>
                <a:off x="4460701" y="4174260"/>
                <a:ext cx="416099" cy="5847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4400">
                    <a:solidFill>
                      <a:srgbClr val="D0C1D5"/>
                    </a:solidFill>
                    <a:latin typeface="Times New Roman" pitchFamily="18" charset="0"/>
                    <a:ea typeface="ＭＳ Ｐゴシック" pitchFamily="34" charset="-128"/>
                  </a:defRPr>
                </a:lvl1pPr>
                <a:lvl2pPr marL="742950" indent="-285750">
                  <a:defRPr sz="4400">
                    <a:solidFill>
                      <a:srgbClr val="D0C1D5"/>
                    </a:solidFill>
                    <a:latin typeface="Times New Roman" pitchFamily="18" charset="0"/>
                    <a:ea typeface="ＭＳ Ｐゴシック" pitchFamily="34" charset="-128"/>
                  </a:defRPr>
                </a:lvl2pPr>
                <a:lvl3pPr marL="1143000" indent="-228600">
                  <a:defRPr sz="4400">
                    <a:solidFill>
                      <a:srgbClr val="D0C1D5"/>
                    </a:solidFill>
                    <a:latin typeface="Times New Roman" pitchFamily="18" charset="0"/>
                    <a:ea typeface="ＭＳ Ｐゴシック" pitchFamily="34" charset="-128"/>
                  </a:defRPr>
                </a:lvl3pPr>
                <a:lvl4pPr marL="1600200" indent="-228600">
                  <a:defRPr sz="4400">
                    <a:solidFill>
                      <a:srgbClr val="D0C1D5"/>
                    </a:solidFill>
                    <a:latin typeface="Times New Roman" pitchFamily="18" charset="0"/>
                    <a:ea typeface="ＭＳ Ｐゴシック" pitchFamily="34" charset="-128"/>
                  </a:defRPr>
                </a:lvl4pPr>
                <a:lvl5pPr marL="2057400" indent="-228600">
                  <a:defRPr sz="4400">
                    <a:solidFill>
                      <a:srgbClr val="D0C1D5"/>
                    </a:solidFill>
                    <a:latin typeface="Times New Roman" pitchFamily="18" charset="0"/>
                    <a:ea typeface="ＭＳ Ｐゴシック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rgbClr val="D0C1D5"/>
                    </a:solidFill>
                    <a:latin typeface="Times New Roman" pitchFamily="18" charset="0"/>
                    <a:ea typeface="ＭＳ Ｐゴシック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rgbClr val="D0C1D5"/>
                    </a:solidFill>
                    <a:latin typeface="Times New Roman" pitchFamily="18" charset="0"/>
                    <a:ea typeface="ＭＳ Ｐゴシック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rgbClr val="D0C1D5"/>
                    </a:solidFill>
                    <a:latin typeface="Times New Roman" pitchFamily="18" charset="0"/>
                    <a:ea typeface="ＭＳ Ｐゴシック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rgbClr val="D0C1D5"/>
                    </a:solidFill>
                    <a:latin typeface="Times New Roman" pitchFamily="18" charset="0"/>
                    <a:ea typeface="ＭＳ Ｐゴシック" pitchFamily="34" charset="-128"/>
                  </a:defRPr>
                </a:lvl9pPr>
              </a:lstStyle>
              <a:p>
                <a:r>
                  <a:rPr lang="en-US" altLang="en-US" sz="3200">
                    <a:solidFill>
                      <a:schemeClr val="tx2"/>
                    </a:solidFill>
                  </a:rPr>
                  <a:t>=</a:t>
                </a:r>
              </a:p>
            </p:txBody>
          </p:sp>
        </p:grpSp>
        <p:sp>
          <p:nvSpPr>
            <p:cNvPr id="21514" name="TextBox 21"/>
            <p:cNvSpPr txBox="1">
              <a:spLocks noChangeArrowheads="1"/>
            </p:cNvSpPr>
            <p:nvPr/>
          </p:nvSpPr>
          <p:spPr bwMode="auto">
            <a:xfrm>
              <a:off x="4820634" y="1295400"/>
              <a:ext cx="1199166" cy="10772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1pPr>
              <a:lvl2pPr marL="742950" indent="-28575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2pPr>
              <a:lvl3pPr marL="1143000" indent="-22860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3pPr>
              <a:lvl4pPr marL="1600200" indent="-22860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4pPr>
              <a:lvl5pPr marL="2057400" indent="-22860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9pPr>
            </a:lstStyle>
            <a:p>
              <a:r>
                <a:rPr lang="en-US" altLang="en-US" sz="3200" i="1" u="sng" dirty="0" err="1">
                  <a:solidFill>
                    <a:schemeClr val="tx2"/>
                  </a:solidFill>
                </a:rPr>
                <a:t>V</a:t>
              </a:r>
              <a:r>
                <a:rPr lang="en-US" altLang="en-US" sz="3200" i="1" u="sng" baseline="-25000" dirty="0" err="1">
                  <a:solidFill>
                    <a:schemeClr val="tx2"/>
                  </a:solidFill>
                </a:rPr>
                <a:t>f</a:t>
              </a:r>
              <a:endParaRPr lang="en-US" altLang="en-US" sz="3200" i="1" u="sng" dirty="0">
                <a:solidFill>
                  <a:schemeClr val="tx2"/>
                </a:solidFill>
              </a:endParaRPr>
            </a:p>
            <a:p>
              <a:r>
                <a:rPr lang="en-US" altLang="en-US" sz="3200" dirty="0">
                  <a:solidFill>
                    <a:schemeClr val="tx2"/>
                  </a:solidFill>
                </a:rPr>
                <a:t>546 K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7"/>
          <p:cNvSpPr>
            <a:spLocks noChangeArrowheads="1"/>
          </p:cNvSpPr>
          <p:nvPr/>
        </p:nvSpPr>
        <p:spPr bwMode="auto">
          <a:xfrm rot="-5400000">
            <a:off x="-2590800" y="2895600"/>
            <a:ext cx="61722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1pPr>
            <a:lvl2pPr marL="742950" indent="-28575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2pPr>
            <a:lvl3pPr marL="11430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3pPr>
            <a:lvl4pPr marL="16002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4pPr>
            <a:lvl5pPr marL="20574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9pPr>
          </a:lstStyle>
          <a:p>
            <a:r>
              <a:rPr lang="en-US" altLang="en-US">
                <a:solidFill>
                  <a:schemeClr val="bg2"/>
                </a:solidFill>
              </a:rPr>
              <a:t>5.1 The Gaseous State</a:t>
            </a:r>
          </a:p>
        </p:txBody>
      </p:sp>
      <p:sp>
        <p:nvSpPr>
          <p:cNvPr id="22530" name="Rectangle 8"/>
          <p:cNvSpPr>
            <a:spLocks noGrp="1" noChangeArrowheads="1"/>
          </p:cNvSpPr>
          <p:nvPr>
            <p:ph type="title"/>
          </p:nvPr>
        </p:nvSpPr>
        <p:spPr>
          <a:xfrm>
            <a:off x="1066800" y="152400"/>
            <a:ext cx="7772400" cy="1143000"/>
          </a:xfrm>
        </p:spPr>
        <p:txBody>
          <a:bodyPr/>
          <a:lstStyle/>
          <a:p>
            <a:r>
              <a:rPr lang="en-US" altLang="en-US" smtClean="0">
                <a:ea typeface="ＭＳ Ｐゴシック" pitchFamily="34" charset="-128"/>
              </a:rPr>
              <a:t>Practice with Charles</a:t>
            </a:r>
            <a:r>
              <a:rPr lang="ja-JP" altLang="en-US" smtClean="0">
                <a:ea typeface="ＭＳ Ｐゴシック" pitchFamily="34" charset="-128"/>
              </a:rPr>
              <a:t>’</a:t>
            </a:r>
            <a:r>
              <a:rPr lang="en-US" altLang="ja-JP" smtClean="0">
                <a:ea typeface="ＭＳ Ｐゴシック" pitchFamily="34" charset="-128"/>
              </a:rPr>
              <a:t>s Law</a:t>
            </a:r>
            <a:endParaRPr lang="en-US" altLang="en-US" smtClean="0">
              <a:ea typeface="ＭＳ Ｐゴシック" pitchFamily="34" charset="-128"/>
            </a:endParaRPr>
          </a:p>
        </p:txBody>
      </p:sp>
      <p:sp>
        <p:nvSpPr>
          <p:cNvPr id="22531" name="Rectangle 9"/>
          <p:cNvSpPr>
            <a:spLocks noGrp="1" noChangeArrowheads="1"/>
          </p:cNvSpPr>
          <p:nvPr>
            <p:ph type="body" idx="1"/>
          </p:nvPr>
        </p:nvSpPr>
        <p:spPr>
          <a:xfrm>
            <a:off x="1143000" y="1600200"/>
            <a:ext cx="7772400" cy="4572000"/>
          </a:xfrm>
        </p:spPr>
        <p:txBody>
          <a:bodyPr/>
          <a:lstStyle/>
          <a:p>
            <a:pPr marL="609600" indent="-609600">
              <a:lnSpc>
                <a:spcPct val="120000"/>
              </a:lnSpc>
              <a:spcBef>
                <a:spcPct val="50000"/>
              </a:spcBef>
              <a:buFontTx/>
              <a:buAutoNum type="arabicPeriod"/>
            </a:pPr>
            <a:r>
              <a:rPr lang="en-US" altLang="en-US" smtClean="0">
                <a:ea typeface="ＭＳ Ｐゴシック" pitchFamily="34" charset="-128"/>
              </a:rPr>
              <a:t>A 2.5 L sample of gas at 25</a:t>
            </a:r>
            <a:r>
              <a:rPr lang="en-US" altLang="en-US" baseline="30000" smtClean="0">
                <a:ea typeface="ＭＳ Ｐゴシック" pitchFamily="34" charset="-128"/>
              </a:rPr>
              <a:t>o</a:t>
            </a:r>
            <a:r>
              <a:rPr lang="en-US" altLang="en-US" smtClean="0">
                <a:ea typeface="ＭＳ Ｐゴシック" pitchFamily="34" charset="-128"/>
              </a:rPr>
              <a:t>C is heated to 50</a:t>
            </a:r>
            <a:r>
              <a:rPr lang="en-US" altLang="en-US" baseline="30000" smtClean="0">
                <a:ea typeface="ＭＳ Ｐゴシック" pitchFamily="34" charset="-128"/>
              </a:rPr>
              <a:t>o</a:t>
            </a:r>
            <a:r>
              <a:rPr lang="en-US" altLang="en-US" smtClean="0">
                <a:ea typeface="ＭＳ Ｐゴシック" pitchFamily="34" charset="-128"/>
              </a:rPr>
              <a:t>C at constant pressure. Will the volume double?</a:t>
            </a:r>
          </a:p>
          <a:p>
            <a:pPr marL="609600" indent="-609600">
              <a:lnSpc>
                <a:spcPct val="120000"/>
              </a:lnSpc>
              <a:spcBef>
                <a:spcPct val="50000"/>
              </a:spcBef>
              <a:buFontTx/>
              <a:buAutoNum type="arabicPeriod"/>
            </a:pPr>
            <a:r>
              <a:rPr lang="en-US" altLang="en-US" smtClean="0">
                <a:ea typeface="ＭＳ Ｐゴシック" pitchFamily="34" charset="-128"/>
              </a:rPr>
              <a:t>What would be the volume?</a:t>
            </a:r>
          </a:p>
          <a:p>
            <a:pPr marL="609600" indent="-609600">
              <a:lnSpc>
                <a:spcPct val="120000"/>
              </a:lnSpc>
              <a:spcBef>
                <a:spcPct val="50000"/>
              </a:spcBef>
              <a:buFontTx/>
              <a:buAutoNum type="arabicPeriod"/>
            </a:pPr>
            <a:r>
              <a:rPr lang="en-US" altLang="en-US" smtClean="0">
                <a:ea typeface="ＭＳ Ｐゴシック" pitchFamily="34" charset="-128"/>
              </a:rPr>
              <a:t>What temperature would be required to double the volume?</a:t>
            </a:r>
          </a:p>
          <a:p>
            <a:pPr marL="609600" indent="-609600"/>
            <a:endParaRPr lang="en-US" altLang="en-US" smtClean="0">
              <a:ea typeface="ＭＳ Ｐゴシック" pitchFamily="34" charset="-128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10"/>
          <p:cNvSpPr>
            <a:spLocks noGrp="1" noChangeArrowheads="1"/>
          </p:cNvSpPr>
          <p:nvPr>
            <p:ph type="body" idx="1"/>
          </p:nvPr>
        </p:nvSpPr>
        <p:spPr>
          <a:xfrm>
            <a:off x="1143000" y="1371600"/>
            <a:ext cx="7772400" cy="4800600"/>
          </a:xfrm>
        </p:spPr>
        <p:txBody>
          <a:bodyPr/>
          <a:lstStyle/>
          <a:p>
            <a:pPr>
              <a:spcBef>
                <a:spcPct val="50000"/>
              </a:spcBef>
            </a:pPr>
            <a:r>
              <a:rPr lang="en-US" altLang="en-US" dirty="0" smtClean="0">
                <a:ea typeface="ＭＳ Ｐゴシック" pitchFamily="34" charset="-128"/>
              </a:rPr>
              <a:t>If a sample of gas undergoes change involving volume, pressure, and temperature simultaneously, use the </a:t>
            </a:r>
            <a:r>
              <a:rPr lang="en-US" altLang="en-US" dirty="0" smtClean="0">
                <a:solidFill>
                  <a:srgbClr val="3366FF"/>
                </a:solidFill>
                <a:ea typeface="ＭＳ Ｐゴシック" pitchFamily="34" charset="-128"/>
              </a:rPr>
              <a:t>combined gas law</a:t>
            </a:r>
          </a:p>
          <a:p>
            <a:pPr>
              <a:spcBef>
                <a:spcPct val="50000"/>
              </a:spcBef>
            </a:pPr>
            <a:r>
              <a:rPr lang="en-US" altLang="en-US" dirty="0" smtClean="0">
                <a:ea typeface="ＭＳ Ｐゴシック" pitchFamily="34" charset="-128"/>
              </a:rPr>
              <a:t>Derived from a combination of Boyle</a:t>
            </a:r>
            <a:r>
              <a:rPr lang="ja-JP" altLang="en-US" dirty="0" smtClean="0">
                <a:ea typeface="ＭＳ Ｐゴシック" pitchFamily="34" charset="-128"/>
              </a:rPr>
              <a:t>’</a:t>
            </a:r>
            <a:r>
              <a:rPr lang="en-US" altLang="ja-JP" dirty="0" smtClean="0">
                <a:ea typeface="ＭＳ Ｐゴシック" pitchFamily="34" charset="-128"/>
              </a:rPr>
              <a:t>s law and Charles</a:t>
            </a:r>
            <a:r>
              <a:rPr lang="ja-JP" altLang="en-US" dirty="0" smtClean="0">
                <a:ea typeface="ＭＳ Ｐゴシック" pitchFamily="34" charset="-128"/>
              </a:rPr>
              <a:t>’</a:t>
            </a:r>
            <a:r>
              <a:rPr lang="en-US" altLang="ja-JP" dirty="0" smtClean="0">
                <a:ea typeface="ＭＳ Ｐゴシック" pitchFamily="34" charset="-128"/>
              </a:rPr>
              <a:t>s law</a:t>
            </a:r>
          </a:p>
          <a:p>
            <a:endParaRPr lang="en-US" altLang="en-US" dirty="0" smtClean="0">
              <a:ea typeface="ＭＳ Ｐゴシック" pitchFamily="34" charset="-128"/>
            </a:endParaRPr>
          </a:p>
        </p:txBody>
      </p:sp>
      <p:sp>
        <p:nvSpPr>
          <p:cNvPr id="23554" name="Rectangle 8"/>
          <p:cNvSpPr>
            <a:spLocks noChangeArrowheads="1"/>
          </p:cNvSpPr>
          <p:nvPr/>
        </p:nvSpPr>
        <p:spPr bwMode="auto">
          <a:xfrm rot="-5400000">
            <a:off x="-2590800" y="2895600"/>
            <a:ext cx="61722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1pPr>
            <a:lvl2pPr marL="742950" indent="-28575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2pPr>
            <a:lvl3pPr marL="11430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3pPr>
            <a:lvl4pPr marL="16002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4pPr>
            <a:lvl5pPr marL="20574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9pPr>
          </a:lstStyle>
          <a:p>
            <a:r>
              <a:rPr lang="en-US" altLang="en-US">
                <a:solidFill>
                  <a:schemeClr val="bg2"/>
                </a:solidFill>
              </a:rPr>
              <a:t>5.1 The Gaseous State</a:t>
            </a:r>
          </a:p>
        </p:txBody>
      </p:sp>
      <p:sp>
        <p:nvSpPr>
          <p:cNvPr id="23555" name="Rectangle 9"/>
          <p:cNvSpPr>
            <a:spLocks noGrp="1" noChangeArrowheads="1"/>
          </p:cNvSpPr>
          <p:nvPr>
            <p:ph type="title"/>
          </p:nvPr>
        </p:nvSpPr>
        <p:spPr>
          <a:xfrm>
            <a:off x="1066800" y="304800"/>
            <a:ext cx="7772400" cy="838200"/>
          </a:xfrm>
        </p:spPr>
        <p:txBody>
          <a:bodyPr/>
          <a:lstStyle/>
          <a:p>
            <a:r>
              <a:rPr lang="en-US" altLang="en-US" smtClean="0">
                <a:ea typeface="ＭＳ Ｐゴシック" pitchFamily="34" charset="-128"/>
              </a:rPr>
              <a:t>Combined Gas Law</a:t>
            </a:r>
            <a:r>
              <a:rPr lang="en-US" altLang="en-US" sz="3200" b="1" smtClean="0">
                <a:solidFill>
                  <a:srgbClr val="800080"/>
                </a:solidFill>
                <a:ea typeface="ＭＳ Ｐゴシック" pitchFamily="34" charset="-128"/>
              </a:rPr>
              <a:t> </a:t>
            </a:r>
          </a:p>
        </p:txBody>
      </p:sp>
      <p:grpSp>
        <p:nvGrpSpPr>
          <p:cNvPr id="23556" name="Group 9"/>
          <p:cNvGrpSpPr>
            <a:grpSpLocks/>
          </p:cNvGrpSpPr>
          <p:nvPr/>
        </p:nvGrpSpPr>
        <p:grpSpPr bwMode="auto">
          <a:xfrm>
            <a:off x="8077200" y="1295400"/>
            <a:ext cx="762000" cy="523875"/>
            <a:chOff x="3962400" y="5791200"/>
            <a:chExt cx="762000" cy="523220"/>
          </a:xfrm>
        </p:grpSpPr>
        <p:sp>
          <p:nvSpPr>
            <p:cNvPr id="23563" name="TextBox 6"/>
            <p:cNvSpPr txBox="1">
              <a:spLocks noChangeArrowheads="1"/>
            </p:cNvSpPr>
            <p:nvPr/>
          </p:nvSpPr>
          <p:spPr bwMode="auto">
            <a:xfrm>
              <a:off x="3962400" y="5791200"/>
              <a:ext cx="685800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1pPr>
              <a:lvl2pPr marL="742950" indent="-28575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2pPr>
              <a:lvl3pPr marL="1143000" indent="-22860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3pPr>
              <a:lvl4pPr marL="1600200" indent="-22860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4pPr>
              <a:lvl5pPr marL="2057400" indent="-22860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9pPr>
            </a:lstStyle>
            <a:p>
              <a:r>
                <a:rPr lang="en-US" altLang="en-US" sz="2800">
                  <a:solidFill>
                    <a:schemeClr val="accent2"/>
                  </a:solidFill>
                  <a:latin typeface="Arial Black" pitchFamily="34" charset="0"/>
                </a:rPr>
                <a:t>4</a:t>
              </a:r>
            </a:p>
          </p:txBody>
        </p:sp>
        <p:sp>
          <p:nvSpPr>
            <p:cNvPr id="23564" name="Isosceles Triangle 8"/>
            <p:cNvSpPr>
              <a:spLocks noChangeArrowheads="1"/>
            </p:cNvSpPr>
            <p:nvPr/>
          </p:nvSpPr>
          <p:spPr bwMode="auto">
            <a:xfrm rot="5400000">
              <a:off x="4533900" y="5927108"/>
              <a:ext cx="152400" cy="228600"/>
            </a:xfrm>
            <a:prstGeom prst="triangle">
              <a:avLst>
                <a:gd name="adj" fmla="val 50000"/>
              </a:avLst>
            </a:prstGeom>
            <a:solidFill>
              <a:srgbClr val="F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1pPr>
              <a:lvl2pPr marL="742950" indent="-28575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2pPr>
              <a:lvl3pPr marL="1143000" indent="-22860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3pPr>
              <a:lvl4pPr marL="1600200" indent="-22860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4pPr>
              <a:lvl5pPr marL="2057400" indent="-22860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9pPr>
            </a:lstStyle>
            <a:p>
              <a:endParaRPr lang="en-IN" altLang="en-US"/>
            </a:p>
          </p:txBody>
        </p:sp>
      </p:grpSp>
      <p:grpSp>
        <p:nvGrpSpPr>
          <p:cNvPr id="23557" name="Group 8"/>
          <p:cNvGrpSpPr>
            <a:grpSpLocks/>
          </p:cNvGrpSpPr>
          <p:nvPr/>
        </p:nvGrpSpPr>
        <p:grpSpPr bwMode="auto">
          <a:xfrm>
            <a:off x="3200400" y="4876800"/>
            <a:ext cx="2286000" cy="1219200"/>
            <a:chOff x="3429000" y="1219200"/>
            <a:chExt cx="2286000" cy="1219200"/>
          </a:xfrm>
        </p:grpSpPr>
        <p:grpSp>
          <p:nvGrpSpPr>
            <p:cNvPr id="23558" name="Group 9"/>
            <p:cNvGrpSpPr>
              <a:grpSpLocks/>
            </p:cNvGrpSpPr>
            <p:nvPr/>
          </p:nvGrpSpPr>
          <p:grpSpPr bwMode="auto">
            <a:xfrm>
              <a:off x="3429000" y="1219200"/>
              <a:ext cx="2286000" cy="1219200"/>
              <a:chOff x="3505200" y="3886200"/>
              <a:chExt cx="2286000" cy="1219200"/>
            </a:xfrm>
          </p:grpSpPr>
          <p:sp>
            <p:nvSpPr>
              <p:cNvPr id="12" name="Rounded Rectangle 11"/>
              <p:cNvSpPr>
                <a:spLocks noChangeArrowheads="1"/>
              </p:cNvSpPr>
              <p:nvPr/>
            </p:nvSpPr>
            <p:spPr bwMode="auto">
              <a:xfrm>
                <a:off x="3505200" y="3886200"/>
                <a:ext cx="2286000" cy="1219200"/>
              </a:xfrm>
              <a:prstGeom prst="roundRect">
                <a:avLst>
                  <a:gd name="adj" fmla="val 16667"/>
                </a:avLst>
              </a:prstGeom>
              <a:solidFill>
                <a:srgbClr val="408000"/>
              </a:solidFill>
              <a:ln>
                <a:noFill/>
              </a:ln>
              <a:effectLst>
                <a:outerShdw blurRad="50800" dist="38100" dir="2700000" algn="tl" rotWithShape="0">
                  <a:srgbClr val="808080">
                    <a:alpha val="39999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l">
                  <a:defRPr/>
                </a:pPr>
                <a:endParaRPr lang="en-US" sz="3600" i="1" dirty="0">
                  <a:solidFill>
                    <a:schemeClr val="accent5"/>
                  </a:solidFill>
                  <a:ea typeface="ＭＳ Ｐゴシック" charset="0"/>
                </a:endParaRPr>
              </a:p>
            </p:txBody>
          </p:sp>
          <p:sp>
            <p:nvSpPr>
              <p:cNvPr id="13" name="TextBox 12"/>
              <p:cNvSpPr txBox="1"/>
              <p:nvPr/>
            </p:nvSpPr>
            <p:spPr>
              <a:xfrm>
                <a:off x="3609892" y="3976688"/>
                <a:ext cx="805029" cy="1077218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en-US" sz="3200" i="1" u="sng" dirty="0" err="1">
                    <a:solidFill>
                      <a:schemeClr val="accent5"/>
                    </a:solidFill>
                    <a:latin typeface="Times New Roman" charset="0"/>
                    <a:ea typeface="ＭＳ Ｐゴシック" charset="0"/>
                    <a:cs typeface="ＭＳ Ｐゴシック" charset="0"/>
                  </a:rPr>
                  <a:t>P</a:t>
                </a:r>
                <a:r>
                  <a:rPr lang="en-US" sz="3200" i="1" u="sng" baseline="-25000" dirty="0" err="1">
                    <a:solidFill>
                      <a:schemeClr val="accent5"/>
                    </a:solidFill>
                    <a:latin typeface="Times New Roman" charset="0"/>
                    <a:ea typeface="ＭＳ Ｐゴシック" charset="0"/>
                    <a:cs typeface="ＭＳ Ｐゴシック" charset="0"/>
                  </a:rPr>
                  <a:t>i</a:t>
                </a:r>
                <a:r>
                  <a:rPr lang="en-US" sz="3200" i="1" u="sng" dirty="0" err="1">
                    <a:solidFill>
                      <a:schemeClr val="accent5"/>
                    </a:solidFill>
                    <a:latin typeface="Times New Roman" charset="0"/>
                    <a:ea typeface="ＭＳ Ｐゴシック" charset="0"/>
                    <a:cs typeface="ＭＳ Ｐゴシック" charset="0"/>
                  </a:rPr>
                  <a:t>V</a:t>
                </a:r>
                <a:r>
                  <a:rPr lang="en-US" sz="3200" i="1" u="sng" baseline="-25000" dirty="0" err="1">
                    <a:solidFill>
                      <a:schemeClr val="accent5"/>
                    </a:solidFill>
                    <a:latin typeface="Times New Roman" charset="0"/>
                    <a:ea typeface="ＭＳ Ｐゴシック" charset="0"/>
                    <a:cs typeface="ＭＳ Ｐゴシック" charset="0"/>
                  </a:rPr>
                  <a:t>i</a:t>
                </a:r>
                <a:endParaRPr lang="en-US" sz="3200" i="1" u="sng" dirty="0">
                  <a:solidFill>
                    <a:schemeClr val="accent5"/>
                  </a:solidFill>
                  <a:latin typeface="Times New Roman" charset="0"/>
                  <a:ea typeface="ＭＳ Ｐゴシック" charset="0"/>
                  <a:cs typeface="ＭＳ Ｐゴシック" charset="0"/>
                </a:endParaRPr>
              </a:p>
              <a:p>
                <a:pPr>
                  <a:defRPr/>
                </a:pPr>
                <a:r>
                  <a:rPr lang="en-US" sz="3200" i="1" dirty="0">
                    <a:solidFill>
                      <a:schemeClr val="accent5"/>
                    </a:solidFill>
                    <a:latin typeface="Times New Roman" charset="0"/>
                    <a:ea typeface="ＭＳ Ｐゴシック" charset="0"/>
                    <a:cs typeface="ＭＳ Ｐゴシック" charset="0"/>
                  </a:rPr>
                  <a:t>T</a:t>
                </a:r>
                <a:r>
                  <a:rPr lang="en-US" sz="3200" i="1" baseline="-25000" dirty="0">
                    <a:solidFill>
                      <a:schemeClr val="accent5"/>
                    </a:solidFill>
                    <a:latin typeface="Times New Roman" charset="0"/>
                    <a:ea typeface="ＭＳ Ｐゴシック" charset="0"/>
                    <a:cs typeface="ＭＳ Ｐゴシック" charset="0"/>
                  </a:rPr>
                  <a:t>i</a:t>
                </a:r>
                <a:endParaRPr lang="en-US" sz="3200" i="1" dirty="0">
                  <a:solidFill>
                    <a:schemeClr val="accent5"/>
                  </a:solidFill>
                  <a:latin typeface="Times New Roman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14" name="TextBox 13"/>
              <p:cNvSpPr txBox="1"/>
              <p:nvPr/>
            </p:nvSpPr>
            <p:spPr>
              <a:xfrm>
                <a:off x="4437845" y="4173538"/>
                <a:ext cx="461986" cy="58477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en-US" sz="3200" i="1" dirty="0">
                    <a:solidFill>
                      <a:schemeClr val="accent5"/>
                    </a:solidFill>
                    <a:latin typeface="Times New Roman" charset="0"/>
                    <a:ea typeface="ＭＳ Ｐゴシック" charset="0"/>
                    <a:cs typeface="ＭＳ Ｐゴシック" charset="0"/>
                  </a:rPr>
                  <a:t>=</a:t>
                </a:r>
              </a:p>
            </p:txBody>
          </p:sp>
        </p:grpSp>
        <p:sp>
          <p:nvSpPr>
            <p:cNvPr id="11" name="TextBox 10"/>
            <p:cNvSpPr txBox="1"/>
            <p:nvPr/>
          </p:nvSpPr>
          <p:spPr>
            <a:xfrm>
              <a:off x="4763064" y="1295400"/>
              <a:ext cx="835485" cy="107721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3200" i="1" u="sng" dirty="0" err="1">
                  <a:solidFill>
                    <a:schemeClr val="accent5"/>
                  </a:solidFill>
                  <a:latin typeface="Times New Roman" charset="0"/>
                  <a:ea typeface="ＭＳ Ｐゴシック" charset="0"/>
                  <a:cs typeface="ＭＳ Ｐゴシック" charset="0"/>
                </a:rPr>
                <a:t>P</a:t>
              </a:r>
              <a:r>
                <a:rPr lang="en-US" sz="3200" i="1" u="sng" baseline="-25000" dirty="0" err="1">
                  <a:solidFill>
                    <a:schemeClr val="accent5"/>
                  </a:solidFill>
                  <a:latin typeface="Times New Roman" charset="0"/>
                  <a:ea typeface="ＭＳ Ｐゴシック" charset="0"/>
                  <a:cs typeface="ＭＳ Ｐゴシック" charset="0"/>
                </a:rPr>
                <a:t>f</a:t>
              </a:r>
              <a:r>
                <a:rPr lang="en-US" sz="3200" i="1" u="sng" dirty="0" err="1">
                  <a:solidFill>
                    <a:schemeClr val="accent5"/>
                  </a:solidFill>
                  <a:latin typeface="Times New Roman" charset="0"/>
                  <a:ea typeface="ＭＳ Ｐゴシック" charset="0"/>
                  <a:cs typeface="ＭＳ Ｐゴシック" charset="0"/>
                </a:rPr>
                <a:t>V</a:t>
              </a:r>
              <a:r>
                <a:rPr lang="en-US" sz="3200" i="1" u="sng" baseline="-25000" dirty="0" err="1">
                  <a:solidFill>
                    <a:schemeClr val="accent5"/>
                  </a:solidFill>
                  <a:latin typeface="Times New Roman" charset="0"/>
                  <a:ea typeface="ＭＳ Ｐゴシック" charset="0"/>
                  <a:cs typeface="ＭＳ Ｐゴシック" charset="0"/>
                </a:rPr>
                <a:t>f</a:t>
              </a:r>
              <a:endParaRPr lang="en-US" sz="3200" i="1" u="sng" dirty="0">
                <a:solidFill>
                  <a:schemeClr val="accent5"/>
                </a:solidFill>
                <a:latin typeface="Times New Roman" charset="0"/>
                <a:ea typeface="ＭＳ Ｐゴシック" charset="0"/>
                <a:cs typeface="ＭＳ Ｐゴシック" charset="0"/>
              </a:endParaRPr>
            </a:p>
            <a:p>
              <a:pPr>
                <a:defRPr/>
              </a:pPr>
              <a:r>
                <a:rPr lang="en-US" sz="3200" i="1" dirty="0" err="1">
                  <a:solidFill>
                    <a:schemeClr val="accent5"/>
                  </a:solidFill>
                  <a:latin typeface="Times New Roman" charset="0"/>
                  <a:ea typeface="ＭＳ Ｐゴシック" charset="0"/>
                  <a:cs typeface="ＭＳ Ｐゴシック" charset="0"/>
                </a:rPr>
                <a:t>T</a:t>
              </a:r>
              <a:r>
                <a:rPr lang="en-US" sz="3200" i="1" baseline="-25000" dirty="0" err="1">
                  <a:solidFill>
                    <a:schemeClr val="accent5"/>
                  </a:solidFill>
                  <a:latin typeface="Times New Roman" charset="0"/>
                  <a:ea typeface="ＭＳ Ｐゴシック" charset="0"/>
                  <a:cs typeface="ＭＳ Ｐゴシック" charset="0"/>
                </a:rPr>
                <a:t>f</a:t>
              </a:r>
              <a:endParaRPr lang="en-US" sz="3200" i="1" dirty="0">
                <a:solidFill>
                  <a:schemeClr val="accent5"/>
                </a:solidFill>
                <a:latin typeface="Times New Roman" charset="0"/>
                <a:ea typeface="ＭＳ Ｐゴシック" charset="0"/>
                <a:cs typeface="ＭＳ Ｐゴシック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143000" y="1371600"/>
            <a:ext cx="7772400" cy="1524000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altLang="en-US" dirty="0" smtClean="0">
                <a:ea typeface="ＭＳ Ｐゴシック" pitchFamily="34" charset="-128"/>
              </a:rPr>
              <a:t>Calculate the volume of N</a:t>
            </a:r>
            <a:r>
              <a:rPr lang="en-US" altLang="en-US" baseline="-25000" dirty="0" smtClean="0">
                <a:ea typeface="ＭＳ Ｐゴシック" pitchFamily="34" charset="-128"/>
              </a:rPr>
              <a:t>2</a:t>
            </a:r>
            <a:r>
              <a:rPr lang="en-US" altLang="en-US" dirty="0" smtClean="0">
                <a:ea typeface="ＭＳ Ｐゴシック" pitchFamily="34" charset="-128"/>
              </a:rPr>
              <a:t> resulting when 0.100 L of the gas is heated from 300. K to 350. K at 1.00 atm.</a:t>
            </a:r>
            <a:br>
              <a:rPr lang="en-US" altLang="en-US" dirty="0" smtClean="0">
                <a:ea typeface="ＭＳ Ｐゴシック" pitchFamily="34" charset="-128"/>
              </a:rPr>
            </a:br>
            <a:r>
              <a:rPr lang="en-US" altLang="en-US" dirty="0" smtClean="0">
                <a:ea typeface="ＭＳ Ｐゴシック" pitchFamily="34" charset="-128"/>
              </a:rPr>
              <a:t/>
            </a:r>
            <a:br>
              <a:rPr lang="en-US" altLang="en-US" dirty="0" smtClean="0">
                <a:ea typeface="ＭＳ Ｐゴシック" pitchFamily="34" charset="-128"/>
              </a:rPr>
            </a:br>
            <a:r>
              <a:rPr lang="en-US" altLang="en-US" dirty="0" smtClean="0">
                <a:ea typeface="ＭＳ Ｐゴシック" pitchFamily="34" charset="-128"/>
              </a:rPr>
              <a:t/>
            </a:r>
            <a:br>
              <a:rPr lang="en-US" altLang="en-US" dirty="0" smtClean="0">
                <a:ea typeface="ＭＳ Ｐゴシック" pitchFamily="34" charset="-128"/>
              </a:rPr>
            </a:br>
            <a:endParaRPr lang="en-US" altLang="en-US" dirty="0" smtClean="0">
              <a:ea typeface="ＭＳ Ｐゴシック" pitchFamily="34" charset="-128"/>
            </a:endParaRP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altLang="en-US" dirty="0" smtClean="0">
                <a:ea typeface="ＭＳ Ｐゴシック" pitchFamily="34" charset="-128"/>
              </a:rPr>
              <a:t>Summarize the data:</a:t>
            </a:r>
          </a:p>
        </p:txBody>
      </p:sp>
      <p:sp>
        <p:nvSpPr>
          <p:cNvPr id="24578" name="Rectangle 4"/>
          <p:cNvSpPr>
            <a:spLocks noChangeArrowheads="1"/>
          </p:cNvSpPr>
          <p:nvPr/>
        </p:nvSpPr>
        <p:spPr bwMode="auto">
          <a:xfrm rot="-5400000">
            <a:off x="-2590800" y="2895600"/>
            <a:ext cx="61722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1pPr>
            <a:lvl2pPr marL="742950" indent="-28575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2pPr>
            <a:lvl3pPr marL="11430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3pPr>
            <a:lvl4pPr marL="16002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4pPr>
            <a:lvl5pPr marL="20574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9pPr>
          </a:lstStyle>
          <a:p>
            <a:r>
              <a:rPr lang="en-US" altLang="en-US">
                <a:solidFill>
                  <a:schemeClr val="bg2"/>
                </a:solidFill>
              </a:rPr>
              <a:t>5.1 The Gaseous State</a:t>
            </a:r>
          </a:p>
        </p:txBody>
      </p:sp>
      <p:sp>
        <p:nvSpPr>
          <p:cNvPr id="24579" name="Rectangle 5"/>
          <p:cNvSpPr>
            <a:spLocks noGrp="1" noChangeArrowheads="1"/>
          </p:cNvSpPr>
          <p:nvPr>
            <p:ph type="title"/>
          </p:nvPr>
        </p:nvSpPr>
        <p:spPr>
          <a:xfrm>
            <a:off x="1066800" y="152400"/>
            <a:ext cx="7772400" cy="838200"/>
          </a:xfrm>
        </p:spPr>
        <p:txBody>
          <a:bodyPr/>
          <a:lstStyle/>
          <a:p>
            <a:r>
              <a:rPr lang="en-US" altLang="en-US" smtClean="0">
                <a:ea typeface="ＭＳ Ｐゴシック" pitchFamily="34" charset="-128"/>
              </a:rPr>
              <a:t>Using the Combined Gas Law</a:t>
            </a:r>
            <a:r>
              <a:rPr lang="en-US" altLang="en-US" sz="3200" b="1" smtClean="0">
                <a:solidFill>
                  <a:srgbClr val="800080"/>
                </a:solidFill>
                <a:ea typeface="ＭＳ Ｐゴシック" pitchFamily="34" charset="-128"/>
              </a:rPr>
              <a:t> </a:t>
            </a:r>
          </a:p>
        </p:txBody>
      </p:sp>
      <p:grpSp>
        <p:nvGrpSpPr>
          <p:cNvPr id="24580" name="Group 9"/>
          <p:cNvGrpSpPr>
            <a:grpSpLocks/>
          </p:cNvGrpSpPr>
          <p:nvPr/>
        </p:nvGrpSpPr>
        <p:grpSpPr bwMode="auto">
          <a:xfrm>
            <a:off x="8077200" y="923925"/>
            <a:ext cx="762000" cy="523875"/>
            <a:chOff x="3962400" y="5791200"/>
            <a:chExt cx="762000" cy="523220"/>
          </a:xfrm>
        </p:grpSpPr>
        <p:sp>
          <p:nvSpPr>
            <p:cNvPr id="24586" name="TextBox 6"/>
            <p:cNvSpPr txBox="1">
              <a:spLocks noChangeArrowheads="1"/>
            </p:cNvSpPr>
            <p:nvPr/>
          </p:nvSpPr>
          <p:spPr bwMode="auto">
            <a:xfrm>
              <a:off x="3962400" y="5791200"/>
              <a:ext cx="685800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1pPr>
              <a:lvl2pPr marL="742950" indent="-28575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2pPr>
              <a:lvl3pPr marL="1143000" indent="-22860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3pPr>
              <a:lvl4pPr marL="1600200" indent="-22860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4pPr>
              <a:lvl5pPr marL="2057400" indent="-22860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9pPr>
            </a:lstStyle>
            <a:p>
              <a:r>
                <a:rPr lang="en-US" altLang="en-US" sz="2800" dirty="0" smtClean="0">
                  <a:solidFill>
                    <a:schemeClr val="accent2"/>
                  </a:solidFill>
                  <a:latin typeface="Arial Black" pitchFamily="34" charset="0"/>
                </a:rPr>
                <a:t>5</a:t>
              </a:r>
              <a:endParaRPr lang="en-US" altLang="en-US" sz="2800" dirty="0">
                <a:solidFill>
                  <a:schemeClr val="accent2"/>
                </a:solidFill>
                <a:latin typeface="Arial Black" pitchFamily="34" charset="0"/>
              </a:endParaRPr>
            </a:p>
          </p:txBody>
        </p:sp>
        <p:sp>
          <p:nvSpPr>
            <p:cNvPr id="24587" name="Isosceles Triangle 8"/>
            <p:cNvSpPr>
              <a:spLocks noChangeArrowheads="1"/>
            </p:cNvSpPr>
            <p:nvPr/>
          </p:nvSpPr>
          <p:spPr bwMode="auto">
            <a:xfrm rot="5400000">
              <a:off x="4533900" y="5927108"/>
              <a:ext cx="152400" cy="228600"/>
            </a:xfrm>
            <a:prstGeom prst="triangle">
              <a:avLst>
                <a:gd name="adj" fmla="val 50000"/>
              </a:avLst>
            </a:prstGeom>
            <a:solidFill>
              <a:srgbClr val="F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1pPr>
              <a:lvl2pPr marL="742950" indent="-28575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2pPr>
              <a:lvl3pPr marL="1143000" indent="-22860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3pPr>
              <a:lvl4pPr marL="1600200" indent="-22860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4pPr>
              <a:lvl5pPr marL="2057400" indent="-22860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9pPr>
            </a:lstStyle>
            <a:p>
              <a:endParaRPr lang="en-IN" altLang="en-US"/>
            </a:p>
          </p:txBody>
        </p:sp>
      </p:grpSp>
      <p:grpSp>
        <p:nvGrpSpPr>
          <p:cNvPr id="24581" name="Group 1"/>
          <p:cNvGrpSpPr>
            <a:grpSpLocks/>
          </p:cNvGrpSpPr>
          <p:nvPr/>
        </p:nvGrpSpPr>
        <p:grpSpPr bwMode="auto">
          <a:xfrm>
            <a:off x="3723819" y="2819401"/>
            <a:ext cx="2065406" cy="1091468"/>
            <a:chOff x="1780719" y="3033760"/>
            <a:chExt cx="2065406" cy="1090726"/>
          </a:xfrm>
        </p:grpSpPr>
        <p:sp>
          <p:nvSpPr>
            <p:cNvPr id="24583" name="TextBox 14"/>
            <p:cNvSpPr txBox="1">
              <a:spLocks noChangeArrowheads="1"/>
            </p:cNvSpPr>
            <p:nvPr/>
          </p:nvSpPr>
          <p:spPr bwMode="auto">
            <a:xfrm>
              <a:off x="1780719" y="3048000"/>
              <a:ext cx="805029" cy="10764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1pPr>
              <a:lvl2pPr marL="742950" indent="-28575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2pPr>
              <a:lvl3pPr marL="1143000" indent="-22860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3pPr>
              <a:lvl4pPr marL="1600200" indent="-22860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4pPr>
              <a:lvl5pPr marL="2057400" indent="-22860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9pPr>
            </a:lstStyle>
            <a:p>
              <a:r>
                <a:rPr lang="en-US" altLang="en-US" sz="3200" i="1" u="sng">
                  <a:solidFill>
                    <a:schemeClr val="tx2"/>
                  </a:solidFill>
                </a:rPr>
                <a:t>P</a:t>
              </a:r>
              <a:r>
                <a:rPr lang="en-US" altLang="en-US" sz="3200" i="1" u="sng" baseline="-25000">
                  <a:solidFill>
                    <a:schemeClr val="tx2"/>
                  </a:solidFill>
                </a:rPr>
                <a:t>i</a:t>
              </a:r>
              <a:r>
                <a:rPr lang="en-US" altLang="en-US" sz="3200" i="1" u="sng">
                  <a:solidFill>
                    <a:schemeClr val="tx2"/>
                  </a:solidFill>
                </a:rPr>
                <a:t>V</a:t>
              </a:r>
              <a:r>
                <a:rPr lang="en-US" altLang="en-US" sz="3200" i="1" u="sng" baseline="-25000">
                  <a:solidFill>
                    <a:schemeClr val="tx2"/>
                  </a:solidFill>
                </a:rPr>
                <a:t>i</a:t>
              </a:r>
              <a:endParaRPr lang="en-US" altLang="en-US" sz="3200" i="1" u="sng">
                <a:solidFill>
                  <a:schemeClr val="tx2"/>
                </a:solidFill>
              </a:endParaRPr>
            </a:p>
            <a:p>
              <a:r>
                <a:rPr lang="en-US" altLang="en-US" sz="3200" i="1">
                  <a:solidFill>
                    <a:schemeClr val="tx2"/>
                  </a:solidFill>
                </a:rPr>
                <a:t>T</a:t>
              </a:r>
              <a:r>
                <a:rPr lang="en-US" altLang="en-US" sz="3200" i="1" baseline="-25000">
                  <a:solidFill>
                    <a:schemeClr val="tx2"/>
                  </a:solidFill>
                </a:rPr>
                <a:t>i</a:t>
              </a:r>
              <a:endParaRPr lang="en-US" altLang="en-US" sz="3200" i="1">
                <a:solidFill>
                  <a:schemeClr val="tx2"/>
                </a:solidFill>
              </a:endParaRPr>
            </a:p>
          </p:txBody>
        </p:sp>
        <p:sp>
          <p:nvSpPr>
            <p:cNvPr id="24584" name="TextBox 15"/>
            <p:cNvSpPr txBox="1">
              <a:spLocks noChangeArrowheads="1"/>
            </p:cNvSpPr>
            <p:nvPr/>
          </p:nvSpPr>
          <p:spPr bwMode="auto">
            <a:xfrm>
              <a:off x="2608958" y="3245620"/>
              <a:ext cx="461986" cy="5843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1pPr>
              <a:lvl2pPr marL="742950" indent="-28575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2pPr>
              <a:lvl3pPr marL="1143000" indent="-22860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3pPr>
              <a:lvl4pPr marL="1600200" indent="-22860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4pPr>
              <a:lvl5pPr marL="2057400" indent="-22860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9pPr>
            </a:lstStyle>
            <a:p>
              <a:r>
                <a:rPr lang="en-US" altLang="en-US" sz="3200" i="1">
                  <a:solidFill>
                    <a:schemeClr val="tx2"/>
                  </a:solidFill>
                </a:rPr>
                <a:t>=</a:t>
              </a:r>
            </a:p>
          </p:txBody>
        </p:sp>
        <p:sp>
          <p:nvSpPr>
            <p:cNvPr id="24585" name="TextBox 16"/>
            <p:cNvSpPr txBox="1">
              <a:spLocks noChangeArrowheads="1"/>
            </p:cNvSpPr>
            <p:nvPr/>
          </p:nvSpPr>
          <p:spPr bwMode="auto">
            <a:xfrm>
              <a:off x="3010640" y="3033760"/>
              <a:ext cx="835485" cy="10764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1pPr>
              <a:lvl2pPr marL="742950" indent="-28575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2pPr>
              <a:lvl3pPr marL="1143000" indent="-22860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3pPr>
              <a:lvl4pPr marL="1600200" indent="-22860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4pPr>
              <a:lvl5pPr marL="2057400" indent="-22860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9pPr>
            </a:lstStyle>
            <a:p>
              <a:r>
                <a:rPr lang="en-US" altLang="en-US" sz="3200" i="1" u="sng">
                  <a:solidFill>
                    <a:schemeClr val="tx2"/>
                  </a:solidFill>
                </a:rPr>
                <a:t>P</a:t>
              </a:r>
              <a:r>
                <a:rPr lang="en-US" altLang="en-US" sz="3200" i="1" u="sng" baseline="-25000">
                  <a:solidFill>
                    <a:schemeClr val="tx2"/>
                  </a:solidFill>
                </a:rPr>
                <a:t>f</a:t>
              </a:r>
              <a:r>
                <a:rPr lang="en-US" altLang="en-US" sz="3200" i="1" u="sng">
                  <a:solidFill>
                    <a:schemeClr val="tx2"/>
                  </a:solidFill>
                </a:rPr>
                <a:t>V</a:t>
              </a:r>
              <a:r>
                <a:rPr lang="en-US" altLang="en-US" sz="3200" i="1" u="sng" baseline="-25000">
                  <a:solidFill>
                    <a:schemeClr val="tx2"/>
                  </a:solidFill>
                </a:rPr>
                <a:t>f</a:t>
              </a:r>
              <a:endParaRPr lang="en-US" altLang="en-US" sz="3200" i="1" u="sng">
                <a:solidFill>
                  <a:schemeClr val="tx2"/>
                </a:solidFill>
              </a:endParaRPr>
            </a:p>
            <a:p>
              <a:r>
                <a:rPr lang="en-US" altLang="en-US" sz="3200" i="1">
                  <a:solidFill>
                    <a:schemeClr val="tx2"/>
                  </a:solidFill>
                </a:rPr>
                <a:t>T</a:t>
              </a:r>
              <a:r>
                <a:rPr lang="en-US" altLang="en-US" sz="3200" i="1" baseline="-25000">
                  <a:solidFill>
                    <a:schemeClr val="tx2"/>
                  </a:solidFill>
                </a:rPr>
                <a:t>f</a:t>
              </a:r>
              <a:endParaRPr lang="en-US" altLang="en-US" sz="3200" i="1">
                <a:solidFill>
                  <a:schemeClr val="tx2"/>
                </a:solidFill>
              </a:endParaRPr>
            </a:p>
          </p:txBody>
        </p:sp>
      </p:grpSp>
      <p:sp>
        <p:nvSpPr>
          <p:cNvPr id="24582" name="TextBox 6"/>
          <p:cNvSpPr txBox="1">
            <a:spLocks noChangeArrowheads="1"/>
          </p:cNvSpPr>
          <p:nvPr/>
        </p:nvSpPr>
        <p:spPr bwMode="auto">
          <a:xfrm>
            <a:off x="2633663" y="4940300"/>
            <a:ext cx="4529137" cy="138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1pPr>
            <a:lvl2pPr marL="742950" indent="-28575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2pPr>
            <a:lvl3pPr marL="11430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3pPr>
            <a:lvl4pPr marL="16002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4pPr>
            <a:lvl5pPr marL="20574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9pPr>
          </a:lstStyle>
          <a:p>
            <a:pPr algn="l"/>
            <a:r>
              <a:rPr lang="en-US" altLang="en-US" sz="2800" i="1" dirty="0" smtClean="0">
                <a:solidFill>
                  <a:srgbClr val="003ABC"/>
                </a:solidFill>
              </a:rPr>
              <a:t>P</a:t>
            </a:r>
            <a:r>
              <a:rPr lang="en-US" altLang="en-US" sz="2800" i="1" baseline="-25000" dirty="0" smtClean="0">
                <a:solidFill>
                  <a:srgbClr val="003ABC"/>
                </a:solidFill>
              </a:rPr>
              <a:t>i</a:t>
            </a:r>
            <a:r>
              <a:rPr lang="en-US" altLang="en-US" sz="2800" dirty="0" smtClean="0">
                <a:solidFill>
                  <a:srgbClr val="003ABC"/>
                </a:solidFill>
              </a:rPr>
              <a:t> </a:t>
            </a:r>
            <a:r>
              <a:rPr lang="en-US" altLang="en-US" sz="2800" dirty="0">
                <a:solidFill>
                  <a:srgbClr val="003ABC"/>
                </a:solidFill>
              </a:rPr>
              <a:t>= 1.00 </a:t>
            </a:r>
            <a:r>
              <a:rPr lang="en-US" altLang="en-US" sz="2800" dirty="0" err="1">
                <a:solidFill>
                  <a:srgbClr val="003ABC"/>
                </a:solidFill>
              </a:rPr>
              <a:t>atm</a:t>
            </a:r>
            <a:r>
              <a:rPr lang="en-US" altLang="en-US" sz="2800" dirty="0">
                <a:solidFill>
                  <a:srgbClr val="003ABC"/>
                </a:solidFill>
              </a:rPr>
              <a:t>     </a:t>
            </a:r>
            <a:r>
              <a:rPr lang="en-US" altLang="en-US" sz="2800" i="1" dirty="0">
                <a:solidFill>
                  <a:srgbClr val="003ABC"/>
                </a:solidFill>
              </a:rPr>
              <a:t>P</a:t>
            </a:r>
            <a:r>
              <a:rPr lang="en-US" altLang="en-US" sz="2800" i="1" baseline="-25000" dirty="0">
                <a:solidFill>
                  <a:srgbClr val="003ABC"/>
                </a:solidFill>
              </a:rPr>
              <a:t>f</a:t>
            </a:r>
            <a:r>
              <a:rPr lang="en-US" altLang="en-US" sz="2800" dirty="0">
                <a:solidFill>
                  <a:srgbClr val="003ABC"/>
                </a:solidFill>
              </a:rPr>
              <a:t> = 1.00 </a:t>
            </a:r>
            <a:r>
              <a:rPr lang="en-US" altLang="en-US" sz="2800" dirty="0" err="1">
                <a:solidFill>
                  <a:srgbClr val="003ABC"/>
                </a:solidFill>
              </a:rPr>
              <a:t>atm</a:t>
            </a:r>
            <a:endParaRPr lang="en-US" altLang="en-US" sz="2800" dirty="0">
              <a:solidFill>
                <a:srgbClr val="003ABC"/>
              </a:solidFill>
            </a:endParaRPr>
          </a:p>
          <a:p>
            <a:pPr algn="l"/>
            <a:r>
              <a:rPr lang="en-US" altLang="en-US" sz="2800" i="1" dirty="0">
                <a:solidFill>
                  <a:srgbClr val="003ABC"/>
                </a:solidFill>
              </a:rPr>
              <a:t>V</a:t>
            </a:r>
            <a:r>
              <a:rPr lang="en-US" altLang="en-US" sz="2800" i="1" baseline="-25000" dirty="0">
                <a:solidFill>
                  <a:srgbClr val="003ABC"/>
                </a:solidFill>
              </a:rPr>
              <a:t>i</a:t>
            </a:r>
            <a:r>
              <a:rPr lang="en-US" altLang="en-US" sz="2800" dirty="0">
                <a:solidFill>
                  <a:srgbClr val="003ABC"/>
                </a:solidFill>
              </a:rPr>
              <a:t> = 0.100 L      </a:t>
            </a:r>
            <a:r>
              <a:rPr lang="en-US" altLang="en-US" sz="2800" i="1" dirty="0" err="1">
                <a:solidFill>
                  <a:srgbClr val="003ABC"/>
                </a:solidFill>
              </a:rPr>
              <a:t>V</a:t>
            </a:r>
            <a:r>
              <a:rPr lang="en-US" altLang="en-US" sz="2800" i="1" baseline="-25000" dirty="0" err="1">
                <a:solidFill>
                  <a:srgbClr val="003ABC"/>
                </a:solidFill>
              </a:rPr>
              <a:t>f</a:t>
            </a:r>
            <a:r>
              <a:rPr lang="en-US" altLang="en-US" sz="2800" i="1" dirty="0">
                <a:solidFill>
                  <a:srgbClr val="003ABC"/>
                </a:solidFill>
              </a:rPr>
              <a:t> </a:t>
            </a:r>
            <a:r>
              <a:rPr lang="en-US" altLang="en-US" sz="2800" dirty="0">
                <a:solidFill>
                  <a:srgbClr val="003ABC"/>
                </a:solidFill>
              </a:rPr>
              <a:t>= ? L</a:t>
            </a:r>
          </a:p>
          <a:p>
            <a:pPr algn="l"/>
            <a:r>
              <a:rPr lang="en-US" altLang="en-US" sz="2800" i="1" dirty="0" err="1">
                <a:solidFill>
                  <a:srgbClr val="003ABC"/>
                </a:solidFill>
              </a:rPr>
              <a:t>T</a:t>
            </a:r>
            <a:r>
              <a:rPr lang="en-US" altLang="en-US" sz="2800" i="1" baseline="-25000" dirty="0" err="1">
                <a:solidFill>
                  <a:srgbClr val="003ABC"/>
                </a:solidFill>
              </a:rPr>
              <a:t>i</a:t>
            </a:r>
            <a:r>
              <a:rPr lang="en-US" altLang="en-US" sz="2800" dirty="0">
                <a:solidFill>
                  <a:srgbClr val="003ABC"/>
                </a:solidFill>
              </a:rPr>
              <a:t> = 300. K        </a:t>
            </a:r>
            <a:r>
              <a:rPr lang="en-US" altLang="en-US" sz="2800" i="1" dirty="0" err="1">
                <a:solidFill>
                  <a:srgbClr val="003ABC"/>
                </a:solidFill>
              </a:rPr>
              <a:t>T</a:t>
            </a:r>
            <a:r>
              <a:rPr lang="en-US" altLang="en-US" sz="2800" i="1" baseline="-25000" dirty="0" err="1">
                <a:solidFill>
                  <a:srgbClr val="003ABC"/>
                </a:solidFill>
              </a:rPr>
              <a:t>f</a:t>
            </a:r>
            <a:r>
              <a:rPr lang="en-US" altLang="en-US" sz="2800" dirty="0">
                <a:solidFill>
                  <a:srgbClr val="003ABC"/>
                </a:solidFill>
              </a:rPr>
              <a:t> = 350. K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143000" y="1371600"/>
            <a:ext cx="7772400" cy="1524000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altLang="en-US" dirty="0" smtClean="0">
                <a:ea typeface="ＭＳ Ｐゴシック" pitchFamily="34" charset="-128"/>
              </a:rPr>
              <a:t>Calculate the volume of N</a:t>
            </a:r>
            <a:r>
              <a:rPr lang="en-US" altLang="en-US" baseline="-25000" dirty="0" smtClean="0">
                <a:ea typeface="ＭＳ Ｐゴシック" pitchFamily="34" charset="-128"/>
              </a:rPr>
              <a:t>2</a:t>
            </a:r>
            <a:r>
              <a:rPr lang="en-US" altLang="en-US" dirty="0" smtClean="0">
                <a:ea typeface="ＭＳ Ｐゴシック" pitchFamily="34" charset="-128"/>
              </a:rPr>
              <a:t> resulting when 0.100 L of the gas is heated from 300. K to 350. K at 1.00 atm.</a:t>
            </a:r>
          </a:p>
        </p:txBody>
      </p:sp>
      <p:sp>
        <p:nvSpPr>
          <p:cNvPr id="25602" name="Rectangle 4"/>
          <p:cNvSpPr>
            <a:spLocks noChangeArrowheads="1"/>
          </p:cNvSpPr>
          <p:nvPr/>
        </p:nvSpPr>
        <p:spPr bwMode="auto">
          <a:xfrm rot="-5400000">
            <a:off x="-2590800" y="2895600"/>
            <a:ext cx="61722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1pPr>
            <a:lvl2pPr marL="742950" indent="-28575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2pPr>
            <a:lvl3pPr marL="11430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3pPr>
            <a:lvl4pPr marL="16002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4pPr>
            <a:lvl5pPr marL="20574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9pPr>
          </a:lstStyle>
          <a:p>
            <a:r>
              <a:rPr lang="en-US" altLang="en-US">
                <a:solidFill>
                  <a:schemeClr val="bg2"/>
                </a:solidFill>
              </a:rPr>
              <a:t>5.1 The Gaseous State</a:t>
            </a:r>
          </a:p>
        </p:txBody>
      </p:sp>
      <p:sp>
        <p:nvSpPr>
          <p:cNvPr id="25603" name="Rectangle 5"/>
          <p:cNvSpPr>
            <a:spLocks noGrp="1" noChangeArrowheads="1"/>
          </p:cNvSpPr>
          <p:nvPr>
            <p:ph type="title"/>
          </p:nvPr>
        </p:nvSpPr>
        <p:spPr>
          <a:xfrm>
            <a:off x="1066800" y="152400"/>
            <a:ext cx="7772400" cy="838200"/>
          </a:xfrm>
        </p:spPr>
        <p:txBody>
          <a:bodyPr/>
          <a:lstStyle/>
          <a:p>
            <a:r>
              <a:rPr lang="en-US" altLang="en-US" dirty="0" smtClean="0">
                <a:ea typeface="ＭＳ Ｐゴシック" pitchFamily="34" charset="-128"/>
              </a:rPr>
              <a:t>Using the Combined Gas Law – continued </a:t>
            </a:r>
            <a:r>
              <a:rPr lang="en-US" altLang="en-US" sz="3200" b="1" dirty="0" smtClean="0">
                <a:solidFill>
                  <a:srgbClr val="800080"/>
                </a:solidFill>
                <a:ea typeface="ＭＳ Ｐゴシック" pitchFamily="34" charset="-128"/>
              </a:rPr>
              <a:t> </a:t>
            </a:r>
          </a:p>
        </p:txBody>
      </p:sp>
      <p:grpSp>
        <p:nvGrpSpPr>
          <p:cNvPr id="25605" name="Group 1"/>
          <p:cNvGrpSpPr>
            <a:grpSpLocks/>
          </p:cNvGrpSpPr>
          <p:nvPr/>
        </p:nvGrpSpPr>
        <p:grpSpPr bwMode="auto">
          <a:xfrm>
            <a:off x="3723819" y="2819401"/>
            <a:ext cx="2065406" cy="1091468"/>
            <a:chOff x="1780719" y="3033760"/>
            <a:chExt cx="2065406" cy="1090726"/>
          </a:xfrm>
        </p:grpSpPr>
        <p:sp>
          <p:nvSpPr>
            <p:cNvPr id="25613" name="TextBox 14"/>
            <p:cNvSpPr txBox="1">
              <a:spLocks noChangeArrowheads="1"/>
            </p:cNvSpPr>
            <p:nvPr/>
          </p:nvSpPr>
          <p:spPr bwMode="auto">
            <a:xfrm>
              <a:off x="1780719" y="3048000"/>
              <a:ext cx="805029" cy="10764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1pPr>
              <a:lvl2pPr marL="742950" indent="-28575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2pPr>
              <a:lvl3pPr marL="1143000" indent="-22860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3pPr>
              <a:lvl4pPr marL="1600200" indent="-22860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4pPr>
              <a:lvl5pPr marL="2057400" indent="-22860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9pPr>
            </a:lstStyle>
            <a:p>
              <a:r>
                <a:rPr lang="en-US" altLang="en-US" sz="3200" i="1" u="sng" dirty="0" err="1">
                  <a:solidFill>
                    <a:schemeClr val="tx2"/>
                  </a:solidFill>
                </a:rPr>
                <a:t>P</a:t>
              </a:r>
              <a:r>
                <a:rPr lang="en-US" altLang="en-US" sz="3200" i="1" u="sng" baseline="-25000" dirty="0" err="1">
                  <a:solidFill>
                    <a:schemeClr val="tx2"/>
                  </a:solidFill>
                </a:rPr>
                <a:t>i</a:t>
              </a:r>
              <a:r>
                <a:rPr lang="en-US" altLang="en-US" sz="3200" i="1" u="sng" dirty="0" err="1">
                  <a:solidFill>
                    <a:schemeClr val="tx2"/>
                  </a:solidFill>
                </a:rPr>
                <a:t>V</a:t>
              </a:r>
              <a:r>
                <a:rPr lang="en-US" altLang="en-US" sz="3200" i="1" u="sng" baseline="-25000" dirty="0" err="1">
                  <a:solidFill>
                    <a:schemeClr val="tx2"/>
                  </a:solidFill>
                </a:rPr>
                <a:t>i</a:t>
              </a:r>
              <a:endParaRPr lang="en-US" altLang="en-US" sz="3200" i="1" u="sng" dirty="0">
                <a:solidFill>
                  <a:schemeClr val="tx2"/>
                </a:solidFill>
              </a:endParaRPr>
            </a:p>
            <a:p>
              <a:r>
                <a:rPr lang="en-US" altLang="en-US" sz="3200" i="1" dirty="0" err="1">
                  <a:solidFill>
                    <a:schemeClr val="tx2"/>
                  </a:solidFill>
                </a:rPr>
                <a:t>T</a:t>
              </a:r>
              <a:r>
                <a:rPr lang="en-US" altLang="en-US" sz="3200" i="1" baseline="-25000" dirty="0" err="1">
                  <a:solidFill>
                    <a:schemeClr val="tx2"/>
                  </a:solidFill>
                </a:rPr>
                <a:t>i</a:t>
              </a:r>
              <a:endParaRPr lang="en-US" altLang="en-US" sz="3200" i="1" dirty="0">
                <a:solidFill>
                  <a:schemeClr val="tx2"/>
                </a:solidFill>
              </a:endParaRPr>
            </a:p>
          </p:txBody>
        </p:sp>
        <p:sp>
          <p:nvSpPr>
            <p:cNvPr id="25614" name="TextBox 15"/>
            <p:cNvSpPr txBox="1">
              <a:spLocks noChangeArrowheads="1"/>
            </p:cNvSpPr>
            <p:nvPr/>
          </p:nvSpPr>
          <p:spPr bwMode="auto">
            <a:xfrm>
              <a:off x="2608958" y="3245620"/>
              <a:ext cx="461986" cy="5843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1pPr>
              <a:lvl2pPr marL="742950" indent="-28575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2pPr>
              <a:lvl3pPr marL="1143000" indent="-22860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3pPr>
              <a:lvl4pPr marL="1600200" indent="-22860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4pPr>
              <a:lvl5pPr marL="2057400" indent="-22860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9pPr>
            </a:lstStyle>
            <a:p>
              <a:r>
                <a:rPr lang="en-US" altLang="en-US" sz="3200" i="1">
                  <a:solidFill>
                    <a:schemeClr val="tx2"/>
                  </a:solidFill>
                </a:rPr>
                <a:t>=</a:t>
              </a:r>
            </a:p>
          </p:txBody>
        </p:sp>
        <p:sp>
          <p:nvSpPr>
            <p:cNvPr id="25615" name="TextBox 16"/>
            <p:cNvSpPr txBox="1">
              <a:spLocks noChangeArrowheads="1"/>
            </p:cNvSpPr>
            <p:nvPr/>
          </p:nvSpPr>
          <p:spPr bwMode="auto">
            <a:xfrm>
              <a:off x="3010640" y="3033760"/>
              <a:ext cx="835485" cy="10764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1pPr>
              <a:lvl2pPr marL="742950" indent="-28575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2pPr>
              <a:lvl3pPr marL="1143000" indent="-22860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3pPr>
              <a:lvl4pPr marL="1600200" indent="-22860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4pPr>
              <a:lvl5pPr marL="2057400" indent="-22860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9pPr>
            </a:lstStyle>
            <a:p>
              <a:r>
                <a:rPr lang="en-US" altLang="en-US" sz="3200" i="1" u="sng">
                  <a:solidFill>
                    <a:schemeClr val="tx2"/>
                  </a:solidFill>
                </a:rPr>
                <a:t>P</a:t>
              </a:r>
              <a:r>
                <a:rPr lang="en-US" altLang="en-US" sz="3200" i="1" u="sng" baseline="-25000">
                  <a:solidFill>
                    <a:schemeClr val="tx2"/>
                  </a:solidFill>
                </a:rPr>
                <a:t>f</a:t>
              </a:r>
              <a:r>
                <a:rPr lang="en-US" altLang="en-US" sz="3200" i="1" u="sng">
                  <a:solidFill>
                    <a:schemeClr val="tx2"/>
                  </a:solidFill>
                </a:rPr>
                <a:t>V</a:t>
              </a:r>
              <a:r>
                <a:rPr lang="en-US" altLang="en-US" sz="3200" i="1" u="sng" baseline="-25000">
                  <a:solidFill>
                    <a:schemeClr val="tx2"/>
                  </a:solidFill>
                </a:rPr>
                <a:t>f</a:t>
              </a:r>
              <a:endParaRPr lang="en-US" altLang="en-US" sz="3200" i="1" u="sng">
                <a:solidFill>
                  <a:schemeClr val="tx2"/>
                </a:solidFill>
              </a:endParaRPr>
            </a:p>
            <a:p>
              <a:r>
                <a:rPr lang="en-US" altLang="en-US" sz="3200" i="1">
                  <a:solidFill>
                    <a:schemeClr val="tx2"/>
                  </a:solidFill>
                </a:rPr>
                <a:t>T</a:t>
              </a:r>
              <a:r>
                <a:rPr lang="en-US" altLang="en-US" sz="3200" i="1" baseline="-25000">
                  <a:solidFill>
                    <a:schemeClr val="tx2"/>
                  </a:solidFill>
                </a:rPr>
                <a:t>f</a:t>
              </a:r>
              <a:endParaRPr lang="en-US" altLang="en-US" sz="3200" i="1">
                <a:solidFill>
                  <a:schemeClr val="tx2"/>
                </a:solidFill>
              </a:endParaRPr>
            </a:p>
          </p:txBody>
        </p:sp>
      </p:grpSp>
      <p:grpSp>
        <p:nvGrpSpPr>
          <p:cNvPr id="25606" name="Group 2"/>
          <p:cNvGrpSpPr>
            <a:grpSpLocks/>
          </p:cNvGrpSpPr>
          <p:nvPr/>
        </p:nvGrpSpPr>
        <p:grpSpPr bwMode="auto">
          <a:xfrm>
            <a:off x="1447800" y="3976688"/>
            <a:ext cx="6629400" cy="1092200"/>
            <a:chOff x="949236" y="2971800"/>
            <a:chExt cx="6629400" cy="1091458"/>
          </a:xfrm>
        </p:grpSpPr>
        <p:sp>
          <p:nvSpPr>
            <p:cNvPr id="25610" name="TextBox 18"/>
            <p:cNvSpPr txBox="1">
              <a:spLocks noChangeArrowheads="1"/>
            </p:cNvSpPr>
            <p:nvPr/>
          </p:nvSpPr>
          <p:spPr bwMode="auto">
            <a:xfrm>
              <a:off x="949236" y="2986040"/>
              <a:ext cx="3546564" cy="10772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1pPr>
              <a:lvl2pPr marL="742950" indent="-28575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2pPr>
              <a:lvl3pPr marL="1143000" indent="-22860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3pPr>
              <a:lvl4pPr marL="1600200" indent="-22860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4pPr>
              <a:lvl5pPr marL="2057400" indent="-22860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9pPr>
            </a:lstStyle>
            <a:p>
              <a:r>
                <a:rPr lang="en-US" altLang="en-US" sz="3200" u="sng">
                  <a:solidFill>
                    <a:schemeClr val="tx2"/>
                  </a:solidFill>
                </a:rPr>
                <a:t>(1.00 atm) (0.100 L)</a:t>
              </a:r>
            </a:p>
            <a:p>
              <a:r>
                <a:rPr lang="en-US" altLang="en-US" sz="3200">
                  <a:solidFill>
                    <a:schemeClr val="tx2"/>
                  </a:solidFill>
                </a:rPr>
                <a:t>300. K</a:t>
              </a:r>
            </a:p>
          </p:txBody>
        </p:sp>
        <p:sp>
          <p:nvSpPr>
            <p:cNvPr id="25611" name="TextBox 19"/>
            <p:cNvSpPr txBox="1">
              <a:spLocks noChangeArrowheads="1"/>
            </p:cNvSpPr>
            <p:nvPr/>
          </p:nvSpPr>
          <p:spPr bwMode="auto">
            <a:xfrm>
              <a:off x="4613101" y="3183660"/>
              <a:ext cx="416099" cy="5847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1pPr>
              <a:lvl2pPr marL="742950" indent="-28575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2pPr>
              <a:lvl3pPr marL="1143000" indent="-22860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3pPr>
              <a:lvl4pPr marL="1600200" indent="-22860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4pPr>
              <a:lvl5pPr marL="2057400" indent="-22860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9pPr>
            </a:lstStyle>
            <a:p>
              <a:r>
                <a:rPr lang="en-US" altLang="en-US" sz="3200">
                  <a:solidFill>
                    <a:schemeClr val="tx2"/>
                  </a:solidFill>
                </a:rPr>
                <a:t>=</a:t>
              </a:r>
            </a:p>
          </p:txBody>
        </p:sp>
        <p:sp>
          <p:nvSpPr>
            <p:cNvPr id="25612" name="TextBox 20"/>
            <p:cNvSpPr txBox="1">
              <a:spLocks noChangeArrowheads="1"/>
            </p:cNvSpPr>
            <p:nvPr/>
          </p:nvSpPr>
          <p:spPr bwMode="auto">
            <a:xfrm>
              <a:off x="5175414" y="2971800"/>
              <a:ext cx="2403222" cy="10772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1pPr>
              <a:lvl2pPr marL="742950" indent="-28575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2pPr>
              <a:lvl3pPr marL="1143000" indent="-22860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3pPr>
              <a:lvl4pPr marL="1600200" indent="-22860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4pPr>
              <a:lvl5pPr marL="2057400" indent="-22860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9pPr>
            </a:lstStyle>
            <a:p>
              <a:r>
                <a:rPr lang="en-US" altLang="en-US" sz="3200" u="sng" dirty="0">
                  <a:solidFill>
                    <a:schemeClr val="tx2"/>
                  </a:solidFill>
                </a:rPr>
                <a:t>(1.00 </a:t>
              </a:r>
              <a:r>
                <a:rPr lang="en-US" altLang="en-US" sz="3200" u="sng" dirty="0" err="1">
                  <a:solidFill>
                    <a:schemeClr val="tx2"/>
                  </a:solidFill>
                </a:rPr>
                <a:t>atm</a:t>
              </a:r>
              <a:r>
                <a:rPr lang="en-US" altLang="en-US" sz="3200" u="sng" dirty="0">
                  <a:solidFill>
                    <a:schemeClr val="tx2"/>
                  </a:solidFill>
                </a:rPr>
                <a:t>) </a:t>
              </a:r>
              <a:r>
                <a:rPr lang="en-US" altLang="en-US" sz="3200" i="1" u="sng" dirty="0" err="1">
                  <a:solidFill>
                    <a:schemeClr val="tx2"/>
                  </a:solidFill>
                </a:rPr>
                <a:t>V</a:t>
              </a:r>
              <a:r>
                <a:rPr lang="en-US" altLang="en-US" sz="3200" i="1" u="sng" baseline="-25000" dirty="0" err="1">
                  <a:solidFill>
                    <a:schemeClr val="tx2"/>
                  </a:solidFill>
                </a:rPr>
                <a:t>f</a:t>
              </a:r>
              <a:endParaRPr lang="en-US" altLang="en-US" sz="3200" i="1" u="sng" dirty="0">
                <a:solidFill>
                  <a:schemeClr val="tx2"/>
                </a:solidFill>
              </a:endParaRPr>
            </a:p>
            <a:p>
              <a:r>
                <a:rPr lang="en-US" altLang="en-US" sz="3200" dirty="0">
                  <a:solidFill>
                    <a:schemeClr val="tx2"/>
                  </a:solidFill>
                </a:rPr>
                <a:t>350. K</a:t>
              </a:r>
            </a:p>
          </p:txBody>
        </p:sp>
      </p:grpSp>
      <p:cxnSp>
        <p:nvCxnSpPr>
          <p:cNvPr id="25607" name="Straight Connector 4"/>
          <p:cNvCxnSpPr>
            <a:cxnSpLocks noChangeShapeType="1"/>
            <a:stCxn id="25610" idx="1"/>
          </p:cNvCxnSpPr>
          <p:nvPr/>
        </p:nvCxnSpPr>
        <p:spPr bwMode="auto">
          <a:xfrm flipV="1">
            <a:off x="1447800" y="4191000"/>
            <a:ext cx="1828800" cy="338138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</p:spPr>
      </p:cxnSp>
      <p:cxnSp>
        <p:nvCxnSpPr>
          <p:cNvPr id="25608" name="Straight Connector 24"/>
          <p:cNvCxnSpPr>
            <a:cxnSpLocks noChangeShapeType="1"/>
          </p:cNvCxnSpPr>
          <p:nvPr/>
        </p:nvCxnSpPr>
        <p:spPr bwMode="auto">
          <a:xfrm flipV="1">
            <a:off x="5638800" y="4114800"/>
            <a:ext cx="1828800" cy="338138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</p:spPr>
      </p:cxnSp>
      <p:sp>
        <p:nvSpPr>
          <p:cNvPr id="25609" name="TextBox 5"/>
          <p:cNvSpPr txBox="1">
            <a:spLocks noChangeArrowheads="1"/>
          </p:cNvSpPr>
          <p:nvPr/>
        </p:nvSpPr>
        <p:spPr bwMode="auto">
          <a:xfrm>
            <a:off x="3235325" y="5334000"/>
            <a:ext cx="247967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1pPr>
            <a:lvl2pPr marL="742950" indent="-28575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2pPr>
            <a:lvl3pPr marL="11430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3pPr>
            <a:lvl4pPr marL="16002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4pPr>
            <a:lvl5pPr marL="20574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9pPr>
          </a:lstStyle>
          <a:p>
            <a:r>
              <a:rPr lang="en-US" altLang="en-US" sz="3200" dirty="0">
                <a:solidFill>
                  <a:srgbClr val="003ABC"/>
                </a:solidFill>
              </a:rPr>
              <a:t>0.117 L  =  </a:t>
            </a:r>
            <a:r>
              <a:rPr lang="en-US" altLang="en-US" sz="3200" i="1" dirty="0" err="1">
                <a:solidFill>
                  <a:srgbClr val="003ABC"/>
                </a:solidFill>
              </a:rPr>
              <a:t>V</a:t>
            </a:r>
            <a:r>
              <a:rPr lang="en-US" altLang="en-US" sz="3200" i="1" baseline="-25000" dirty="0" err="1">
                <a:solidFill>
                  <a:srgbClr val="003ABC"/>
                </a:solidFill>
              </a:rPr>
              <a:t>f</a:t>
            </a:r>
            <a:endParaRPr lang="en-US" altLang="en-US" sz="3200" i="1" dirty="0">
              <a:solidFill>
                <a:srgbClr val="003ABC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7"/>
          <p:cNvSpPr>
            <a:spLocks noChangeArrowheads="1"/>
          </p:cNvSpPr>
          <p:nvPr/>
        </p:nvSpPr>
        <p:spPr bwMode="auto">
          <a:xfrm rot="-5400000">
            <a:off x="-2590800" y="2895600"/>
            <a:ext cx="61722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1pPr>
            <a:lvl2pPr marL="742950" indent="-28575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2pPr>
            <a:lvl3pPr marL="11430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3pPr>
            <a:lvl4pPr marL="16002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4pPr>
            <a:lvl5pPr marL="20574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9pPr>
          </a:lstStyle>
          <a:p>
            <a:r>
              <a:rPr lang="en-US" altLang="en-US">
                <a:solidFill>
                  <a:schemeClr val="bg2"/>
                </a:solidFill>
              </a:rPr>
              <a:t>5.1 The Gaseous State</a:t>
            </a:r>
          </a:p>
        </p:txBody>
      </p:sp>
      <p:sp>
        <p:nvSpPr>
          <p:cNvPr id="26626" name="Rectangle 8"/>
          <p:cNvSpPr>
            <a:spLocks noGrp="1" noChangeArrowheads="1"/>
          </p:cNvSpPr>
          <p:nvPr>
            <p:ph type="title"/>
          </p:nvPr>
        </p:nvSpPr>
        <p:spPr>
          <a:xfrm>
            <a:off x="1066800" y="381000"/>
            <a:ext cx="7772400" cy="1143000"/>
          </a:xfrm>
        </p:spPr>
        <p:txBody>
          <a:bodyPr/>
          <a:lstStyle/>
          <a:p>
            <a:r>
              <a:rPr lang="en-US" altLang="en-US" smtClean="0">
                <a:ea typeface="ＭＳ Ｐゴシック" pitchFamily="34" charset="-128"/>
              </a:rPr>
              <a:t>Practice With the Combined </a:t>
            </a:r>
            <a:br>
              <a:rPr lang="en-US" altLang="en-US" smtClean="0">
                <a:ea typeface="ＭＳ Ｐゴシック" pitchFamily="34" charset="-128"/>
              </a:rPr>
            </a:br>
            <a:r>
              <a:rPr lang="en-US" altLang="en-US" smtClean="0">
                <a:ea typeface="ＭＳ Ｐゴシック" pitchFamily="34" charset="-128"/>
              </a:rPr>
              <a:t>Gas Law</a:t>
            </a:r>
          </a:p>
        </p:txBody>
      </p:sp>
      <p:sp>
        <p:nvSpPr>
          <p:cNvPr id="26627" name="Rectangle 9"/>
          <p:cNvSpPr>
            <a:spLocks noGrp="1" noChangeArrowheads="1"/>
          </p:cNvSpPr>
          <p:nvPr>
            <p:ph type="body" idx="1"/>
          </p:nvPr>
        </p:nvSpPr>
        <p:spPr>
          <a:xfrm>
            <a:off x="1524000" y="1676400"/>
            <a:ext cx="7391400" cy="4648200"/>
          </a:xfrm>
        </p:spPr>
        <p:txBody>
          <a:bodyPr/>
          <a:lstStyle/>
          <a:p>
            <a:pPr marL="0" indent="0">
              <a:spcBef>
                <a:spcPct val="50000"/>
              </a:spcBef>
              <a:buClrTx/>
              <a:buFontTx/>
              <a:buNone/>
            </a:pPr>
            <a:r>
              <a:rPr lang="en-US" altLang="en-US" smtClean="0">
                <a:ea typeface="ＭＳ Ｐゴシック" pitchFamily="34" charset="-128"/>
              </a:rPr>
              <a:t>Calculate the temperature when a 0.50 L sample of gas at 1.0 atm and 25</a:t>
            </a:r>
            <a:r>
              <a:rPr lang="en-US" altLang="en-US" baseline="30000" smtClean="0">
                <a:ea typeface="ＭＳ Ｐゴシック" pitchFamily="34" charset="-128"/>
              </a:rPr>
              <a:t>o</a:t>
            </a:r>
            <a:r>
              <a:rPr lang="en-US" altLang="en-US" smtClean="0">
                <a:ea typeface="ＭＳ Ｐゴシック" pitchFamily="34" charset="-128"/>
              </a:rPr>
              <a:t>C is compressed to 0.05 L of gas at 5.0 atm.</a:t>
            </a:r>
          </a:p>
          <a:p>
            <a:pPr marL="0" indent="0">
              <a:buFontTx/>
              <a:buNone/>
            </a:pPr>
            <a:endParaRPr lang="en-US" altLang="en-US" smtClean="0">
              <a:ea typeface="ＭＳ Ｐゴシック" pitchFamily="34" charset="-128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13"/>
          <p:cNvSpPr>
            <a:spLocks noGrp="1" noChangeArrowheads="1"/>
          </p:cNvSpPr>
          <p:nvPr>
            <p:ph type="body" idx="1"/>
          </p:nvPr>
        </p:nvSpPr>
        <p:spPr>
          <a:xfrm>
            <a:off x="1066800" y="1295400"/>
            <a:ext cx="7772400" cy="4724400"/>
          </a:xfrm>
        </p:spPr>
        <p:txBody>
          <a:bodyPr/>
          <a:lstStyle/>
          <a:p>
            <a:pPr>
              <a:spcBef>
                <a:spcPct val="50000"/>
              </a:spcBef>
              <a:buClrTx/>
            </a:pPr>
            <a:r>
              <a:rPr lang="en-US" altLang="en-US" dirty="0" smtClean="0">
                <a:solidFill>
                  <a:schemeClr val="accent2"/>
                </a:solidFill>
                <a:ea typeface="ＭＳ Ｐゴシック" pitchFamily="34" charset="-128"/>
              </a:rPr>
              <a:t>Avogadro</a:t>
            </a:r>
            <a:r>
              <a:rPr lang="ja-JP" altLang="en-US" dirty="0" smtClean="0">
                <a:solidFill>
                  <a:schemeClr val="accent2"/>
                </a:solidFill>
                <a:ea typeface="ＭＳ Ｐゴシック" pitchFamily="34" charset="-128"/>
              </a:rPr>
              <a:t>’</a:t>
            </a:r>
            <a:r>
              <a:rPr lang="en-US" altLang="ja-JP" dirty="0" smtClean="0">
                <a:solidFill>
                  <a:schemeClr val="accent2"/>
                </a:solidFill>
                <a:ea typeface="ＭＳ Ｐゴシック" pitchFamily="34" charset="-128"/>
              </a:rPr>
              <a:t>s Law</a:t>
            </a:r>
            <a:r>
              <a:rPr lang="en-US" altLang="ja-JP" dirty="0" smtClean="0">
                <a:ea typeface="ＭＳ Ｐゴシック" pitchFamily="34" charset="-128"/>
              </a:rPr>
              <a:t> - equal volumes of any ideal gas contain the same number of moles if measured under the same conditions of temperature and pressure</a:t>
            </a:r>
          </a:p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en-US" dirty="0" smtClean="0">
                <a:ea typeface="ＭＳ Ｐゴシック" pitchFamily="34" charset="-128"/>
              </a:rPr>
              <a:t/>
            </a:r>
            <a:br>
              <a:rPr lang="en-US" altLang="en-US" dirty="0" smtClean="0">
                <a:ea typeface="ＭＳ Ｐゴシック" pitchFamily="34" charset="-128"/>
              </a:rPr>
            </a:br>
            <a:endParaRPr lang="en-US" altLang="en-US" dirty="0" smtClean="0">
              <a:ea typeface="ＭＳ Ｐゴシック" pitchFamily="34" charset="-128"/>
            </a:endParaRPr>
          </a:p>
          <a:p>
            <a:pPr>
              <a:spcBef>
                <a:spcPct val="50000"/>
              </a:spcBef>
            </a:pPr>
            <a:r>
              <a:rPr lang="en-US" altLang="en-US" dirty="0" smtClean="0">
                <a:ea typeface="ＭＳ Ｐゴシック" pitchFamily="34" charset="-128"/>
              </a:rPr>
              <a:t>Changes in conditions can be calculated by rewriting the equation</a:t>
            </a:r>
          </a:p>
          <a:p>
            <a:endParaRPr lang="en-US" altLang="en-US" dirty="0" smtClean="0">
              <a:ea typeface="ＭＳ Ｐゴシック" pitchFamily="34" charset="-128"/>
            </a:endParaRPr>
          </a:p>
        </p:txBody>
      </p:sp>
      <p:sp>
        <p:nvSpPr>
          <p:cNvPr id="27650" name="Rectangle 10"/>
          <p:cNvSpPr>
            <a:spLocks noChangeArrowheads="1"/>
          </p:cNvSpPr>
          <p:nvPr/>
        </p:nvSpPr>
        <p:spPr bwMode="auto">
          <a:xfrm rot="-5400000">
            <a:off x="-2590800" y="2895600"/>
            <a:ext cx="61722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1pPr>
            <a:lvl2pPr marL="742950" indent="-28575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2pPr>
            <a:lvl3pPr marL="11430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3pPr>
            <a:lvl4pPr marL="16002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4pPr>
            <a:lvl5pPr marL="20574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9pPr>
          </a:lstStyle>
          <a:p>
            <a:r>
              <a:rPr lang="en-US" altLang="en-US">
                <a:solidFill>
                  <a:schemeClr val="bg2"/>
                </a:solidFill>
              </a:rPr>
              <a:t>5.1 The Gaseous State</a:t>
            </a:r>
          </a:p>
        </p:txBody>
      </p:sp>
      <p:sp>
        <p:nvSpPr>
          <p:cNvPr id="27651" name="Rectangle 12"/>
          <p:cNvSpPr>
            <a:spLocks noGrp="1" noChangeArrowheads="1"/>
          </p:cNvSpPr>
          <p:nvPr>
            <p:ph type="title"/>
          </p:nvPr>
        </p:nvSpPr>
        <p:spPr>
          <a:xfrm>
            <a:off x="1905000" y="228600"/>
            <a:ext cx="6096000" cy="914400"/>
          </a:xfrm>
        </p:spPr>
        <p:txBody>
          <a:bodyPr/>
          <a:lstStyle/>
          <a:p>
            <a:r>
              <a:rPr lang="en-US" altLang="en-US" smtClean="0">
                <a:ea typeface="ＭＳ Ｐゴシック" pitchFamily="34" charset="-128"/>
              </a:rPr>
              <a:t>Avogadro</a:t>
            </a:r>
            <a:r>
              <a:rPr lang="ja-JP" altLang="en-US" smtClean="0">
                <a:ea typeface="ＭＳ Ｐゴシック" pitchFamily="34" charset="-128"/>
              </a:rPr>
              <a:t>’</a:t>
            </a:r>
            <a:r>
              <a:rPr lang="en-US" altLang="ja-JP" smtClean="0">
                <a:ea typeface="ＭＳ Ｐゴシック" pitchFamily="34" charset="-128"/>
              </a:rPr>
              <a:t>s Law</a:t>
            </a:r>
            <a:r>
              <a:rPr lang="en-US" altLang="ja-JP" sz="3200" b="1" smtClean="0">
                <a:solidFill>
                  <a:srgbClr val="800080"/>
                </a:solidFill>
                <a:ea typeface="ＭＳ Ｐゴシック" pitchFamily="34" charset="-128"/>
              </a:rPr>
              <a:t> </a:t>
            </a:r>
            <a:endParaRPr lang="en-US" altLang="en-US" sz="3200" b="1" smtClean="0">
              <a:solidFill>
                <a:srgbClr val="800080"/>
              </a:solidFill>
              <a:ea typeface="ＭＳ Ｐゴシック" pitchFamily="34" charset="-128"/>
            </a:endParaRPr>
          </a:p>
        </p:txBody>
      </p:sp>
      <p:grpSp>
        <p:nvGrpSpPr>
          <p:cNvPr id="27652" name="Group 9"/>
          <p:cNvGrpSpPr>
            <a:grpSpLocks/>
          </p:cNvGrpSpPr>
          <p:nvPr/>
        </p:nvGrpSpPr>
        <p:grpSpPr bwMode="auto">
          <a:xfrm>
            <a:off x="8077200" y="990600"/>
            <a:ext cx="762000" cy="523875"/>
            <a:chOff x="3962400" y="5791200"/>
            <a:chExt cx="762000" cy="523220"/>
          </a:xfrm>
        </p:grpSpPr>
        <p:sp>
          <p:nvSpPr>
            <p:cNvPr id="27663" name="TextBox 6"/>
            <p:cNvSpPr txBox="1">
              <a:spLocks noChangeArrowheads="1"/>
            </p:cNvSpPr>
            <p:nvPr/>
          </p:nvSpPr>
          <p:spPr bwMode="auto">
            <a:xfrm>
              <a:off x="3962400" y="5791200"/>
              <a:ext cx="685800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1pPr>
              <a:lvl2pPr marL="742950" indent="-28575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2pPr>
              <a:lvl3pPr marL="1143000" indent="-22860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3pPr>
              <a:lvl4pPr marL="1600200" indent="-22860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4pPr>
              <a:lvl5pPr marL="2057400" indent="-22860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9pPr>
            </a:lstStyle>
            <a:p>
              <a:r>
                <a:rPr lang="en-US" altLang="en-US" sz="2800" dirty="0" smtClean="0">
                  <a:solidFill>
                    <a:schemeClr val="accent2"/>
                  </a:solidFill>
                  <a:latin typeface="Arial Black" pitchFamily="34" charset="0"/>
                </a:rPr>
                <a:t>4</a:t>
              </a:r>
              <a:endParaRPr lang="en-US" altLang="en-US" sz="2800" dirty="0">
                <a:solidFill>
                  <a:schemeClr val="accent2"/>
                </a:solidFill>
                <a:latin typeface="Arial Black" pitchFamily="34" charset="0"/>
              </a:endParaRPr>
            </a:p>
          </p:txBody>
        </p:sp>
        <p:sp>
          <p:nvSpPr>
            <p:cNvPr id="27664" name="Isosceles Triangle 8"/>
            <p:cNvSpPr>
              <a:spLocks noChangeArrowheads="1"/>
            </p:cNvSpPr>
            <p:nvPr/>
          </p:nvSpPr>
          <p:spPr bwMode="auto">
            <a:xfrm rot="5400000">
              <a:off x="4533900" y="5927108"/>
              <a:ext cx="152400" cy="228600"/>
            </a:xfrm>
            <a:prstGeom prst="triangle">
              <a:avLst>
                <a:gd name="adj" fmla="val 50000"/>
              </a:avLst>
            </a:prstGeom>
            <a:solidFill>
              <a:srgbClr val="F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1pPr>
              <a:lvl2pPr marL="742950" indent="-28575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2pPr>
              <a:lvl3pPr marL="1143000" indent="-22860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3pPr>
              <a:lvl4pPr marL="1600200" indent="-22860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4pPr>
              <a:lvl5pPr marL="2057400" indent="-22860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9pPr>
            </a:lstStyle>
            <a:p>
              <a:endParaRPr lang="en-IN" altLang="en-US"/>
            </a:p>
          </p:txBody>
        </p:sp>
      </p:grpSp>
      <p:grpSp>
        <p:nvGrpSpPr>
          <p:cNvPr id="27653" name="Group 9"/>
          <p:cNvGrpSpPr>
            <a:grpSpLocks/>
          </p:cNvGrpSpPr>
          <p:nvPr/>
        </p:nvGrpSpPr>
        <p:grpSpPr bwMode="auto">
          <a:xfrm>
            <a:off x="6019800" y="5410200"/>
            <a:ext cx="1981200" cy="1219200"/>
            <a:chOff x="3581400" y="1219200"/>
            <a:chExt cx="1981200" cy="1219200"/>
          </a:xfrm>
        </p:grpSpPr>
        <p:grpSp>
          <p:nvGrpSpPr>
            <p:cNvPr id="27658" name="Group 10"/>
            <p:cNvGrpSpPr>
              <a:grpSpLocks/>
            </p:cNvGrpSpPr>
            <p:nvPr/>
          </p:nvGrpSpPr>
          <p:grpSpPr bwMode="auto">
            <a:xfrm>
              <a:off x="3581400" y="1219200"/>
              <a:ext cx="1981200" cy="1219200"/>
              <a:chOff x="3657600" y="3886200"/>
              <a:chExt cx="1981200" cy="1219200"/>
            </a:xfrm>
          </p:grpSpPr>
          <p:sp>
            <p:nvSpPr>
              <p:cNvPr id="13" name="Rounded Rectangle 12"/>
              <p:cNvSpPr>
                <a:spLocks noChangeArrowheads="1"/>
              </p:cNvSpPr>
              <p:nvPr/>
            </p:nvSpPr>
            <p:spPr bwMode="auto">
              <a:xfrm>
                <a:off x="3657600" y="3886200"/>
                <a:ext cx="1981200" cy="1219200"/>
              </a:xfrm>
              <a:prstGeom prst="roundRect">
                <a:avLst>
                  <a:gd name="adj" fmla="val 16667"/>
                </a:avLst>
              </a:prstGeom>
              <a:solidFill>
                <a:srgbClr val="408000"/>
              </a:solidFill>
              <a:ln>
                <a:noFill/>
              </a:ln>
              <a:effectLst>
                <a:outerShdw blurRad="50800" dist="38100" dir="2700000" algn="tl" rotWithShape="0">
                  <a:srgbClr val="808080">
                    <a:alpha val="39999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l">
                  <a:defRPr/>
                </a:pPr>
                <a:endParaRPr lang="en-US" sz="3600" i="1" dirty="0">
                  <a:solidFill>
                    <a:schemeClr val="accent5"/>
                  </a:solidFill>
                  <a:ea typeface="ＭＳ Ｐゴシック" charset="0"/>
                </a:endParaRPr>
              </a:p>
            </p:txBody>
          </p:sp>
          <p:sp>
            <p:nvSpPr>
              <p:cNvPr id="14" name="TextBox 13"/>
              <p:cNvSpPr txBox="1"/>
              <p:nvPr/>
            </p:nvSpPr>
            <p:spPr>
              <a:xfrm>
                <a:off x="3924997" y="3976688"/>
                <a:ext cx="479618" cy="1077218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en-US" sz="3200" i="1" u="sng" dirty="0">
                    <a:solidFill>
                      <a:schemeClr val="accent5"/>
                    </a:solidFill>
                    <a:latin typeface="Times New Roman" charset="0"/>
                    <a:ea typeface="ＭＳ Ｐゴシック" charset="0"/>
                    <a:cs typeface="ＭＳ Ｐゴシック" charset="0"/>
                  </a:rPr>
                  <a:t>V</a:t>
                </a:r>
                <a:r>
                  <a:rPr lang="en-US" sz="3200" i="1" u="sng" baseline="-25000" dirty="0">
                    <a:solidFill>
                      <a:schemeClr val="accent5"/>
                    </a:solidFill>
                    <a:latin typeface="Times New Roman" charset="0"/>
                    <a:ea typeface="ＭＳ Ｐゴシック" charset="0"/>
                    <a:cs typeface="ＭＳ Ｐゴシック" charset="0"/>
                  </a:rPr>
                  <a:t>i</a:t>
                </a:r>
                <a:endParaRPr lang="en-US" sz="3200" i="1" u="sng" dirty="0">
                  <a:solidFill>
                    <a:schemeClr val="accent5"/>
                  </a:solidFill>
                  <a:latin typeface="Times New Roman" charset="0"/>
                  <a:ea typeface="ＭＳ Ｐゴシック" charset="0"/>
                  <a:cs typeface="ＭＳ Ｐゴシック" charset="0"/>
                </a:endParaRPr>
              </a:p>
              <a:p>
                <a:pPr>
                  <a:defRPr/>
                </a:pPr>
                <a:r>
                  <a:rPr lang="en-US" sz="3200" i="1" dirty="0" err="1">
                    <a:solidFill>
                      <a:schemeClr val="accent5"/>
                    </a:solidFill>
                    <a:latin typeface="Times New Roman" charset="0"/>
                    <a:ea typeface="ＭＳ Ｐゴシック" charset="0"/>
                    <a:cs typeface="ＭＳ Ｐゴシック" charset="0"/>
                  </a:rPr>
                  <a:t>n</a:t>
                </a:r>
                <a:r>
                  <a:rPr lang="en-US" sz="3200" i="1" baseline="-25000" dirty="0" err="1">
                    <a:solidFill>
                      <a:schemeClr val="accent5"/>
                    </a:solidFill>
                    <a:latin typeface="Times New Roman" charset="0"/>
                    <a:ea typeface="ＭＳ Ｐゴシック" charset="0"/>
                    <a:cs typeface="ＭＳ Ｐゴシック" charset="0"/>
                  </a:rPr>
                  <a:t>i</a:t>
                </a:r>
                <a:endParaRPr lang="en-US" sz="3200" i="1" dirty="0">
                  <a:solidFill>
                    <a:schemeClr val="accent5"/>
                  </a:solidFill>
                  <a:latin typeface="Times New Roman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15" name="TextBox 14"/>
              <p:cNvSpPr txBox="1"/>
              <p:nvPr/>
            </p:nvSpPr>
            <p:spPr>
              <a:xfrm>
                <a:off x="4437845" y="4173538"/>
                <a:ext cx="461986" cy="58477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en-US" sz="3200" i="1" dirty="0">
                    <a:solidFill>
                      <a:schemeClr val="accent5"/>
                    </a:solidFill>
                    <a:latin typeface="Times New Roman" charset="0"/>
                    <a:ea typeface="ＭＳ Ｐゴシック" charset="0"/>
                    <a:cs typeface="ＭＳ Ｐゴシック" charset="0"/>
                  </a:rPr>
                  <a:t>=</a:t>
                </a:r>
              </a:p>
            </p:txBody>
          </p:sp>
        </p:grpSp>
        <p:sp>
          <p:nvSpPr>
            <p:cNvPr id="12" name="TextBox 11"/>
            <p:cNvSpPr txBox="1"/>
            <p:nvPr/>
          </p:nvSpPr>
          <p:spPr>
            <a:xfrm>
              <a:off x="4843218" y="1295400"/>
              <a:ext cx="510076" cy="107721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3200" i="1" u="sng" dirty="0" err="1">
                  <a:solidFill>
                    <a:schemeClr val="accent5"/>
                  </a:solidFill>
                  <a:latin typeface="Times New Roman" charset="0"/>
                  <a:ea typeface="ＭＳ Ｐゴシック" charset="0"/>
                  <a:cs typeface="ＭＳ Ｐゴシック" charset="0"/>
                </a:rPr>
                <a:t>V</a:t>
              </a:r>
              <a:r>
                <a:rPr lang="en-US" sz="3200" i="1" u="sng" baseline="-25000" dirty="0" err="1">
                  <a:solidFill>
                    <a:schemeClr val="accent5"/>
                  </a:solidFill>
                  <a:latin typeface="Times New Roman" charset="0"/>
                  <a:ea typeface="ＭＳ Ｐゴシック" charset="0"/>
                  <a:cs typeface="ＭＳ Ｐゴシック" charset="0"/>
                </a:rPr>
                <a:t>f</a:t>
              </a:r>
              <a:endParaRPr lang="en-US" sz="3200" i="1" u="sng" dirty="0">
                <a:solidFill>
                  <a:schemeClr val="accent5"/>
                </a:solidFill>
                <a:latin typeface="Times New Roman" charset="0"/>
                <a:ea typeface="ＭＳ Ｐゴシック" charset="0"/>
                <a:cs typeface="ＭＳ Ｐゴシック" charset="0"/>
              </a:endParaRPr>
            </a:p>
            <a:p>
              <a:pPr>
                <a:defRPr/>
              </a:pPr>
              <a:r>
                <a:rPr lang="en-US" sz="3200" i="1" dirty="0" err="1">
                  <a:solidFill>
                    <a:schemeClr val="accent5"/>
                  </a:solidFill>
                  <a:latin typeface="Times New Roman" charset="0"/>
                  <a:ea typeface="ＭＳ Ｐゴシック" charset="0"/>
                  <a:cs typeface="ＭＳ Ｐゴシック" charset="0"/>
                </a:rPr>
                <a:t>n</a:t>
              </a:r>
              <a:r>
                <a:rPr lang="en-US" sz="3200" i="1" baseline="-25000" dirty="0" err="1">
                  <a:solidFill>
                    <a:schemeClr val="accent5"/>
                  </a:solidFill>
                  <a:latin typeface="Times New Roman" charset="0"/>
                  <a:ea typeface="ＭＳ Ｐゴシック" charset="0"/>
                  <a:cs typeface="ＭＳ Ｐゴシック" charset="0"/>
                </a:rPr>
                <a:t>f</a:t>
              </a:r>
              <a:endParaRPr lang="en-US" sz="3200" i="1" dirty="0">
                <a:solidFill>
                  <a:schemeClr val="accent5"/>
                </a:solidFill>
                <a:latin typeface="Times New Roman" charset="0"/>
                <a:ea typeface="ＭＳ Ｐゴシック" charset="0"/>
                <a:cs typeface="ＭＳ Ｐゴシック" charset="0"/>
              </a:endParaRPr>
            </a:p>
          </p:txBody>
        </p:sp>
      </p:grpSp>
      <p:grpSp>
        <p:nvGrpSpPr>
          <p:cNvPr id="27654" name="Group 15"/>
          <p:cNvGrpSpPr>
            <a:grpSpLocks/>
          </p:cNvGrpSpPr>
          <p:nvPr/>
        </p:nvGrpSpPr>
        <p:grpSpPr bwMode="auto">
          <a:xfrm>
            <a:off x="3733800" y="3429000"/>
            <a:ext cx="1981200" cy="1219200"/>
            <a:chOff x="3657600" y="3886200"/>
            <a:chExt cx="1981200" cy="1219200"/>
          </a:xfrm>
        </p:grpSpPr>
        <p:sp>
          <p:nvSpPr>
            <p:cNvPr id="17" name="Rounded Rectangle 16"/>
            <p:cNvSpPr>
              <a:spLocks noChangeArrowheads="1"/>
            </p:cNvSpPr>
            <p:nvPr/>
          </p:nvSpPr>
          <p:spPr bwMode="auto">
            <a:xfrm>
              <a:off x="3657600" y="3886200"/>
              <a:ext cx="1981200" cy="1219200"/>
            </a:xfrm>
            <a:prstGeom prst="roundRect">
              <a:avLst>
                <a:gd name="adj" fmla="val 16667"/>
              </a:avLst>
            </a:prstGeom>
            <a:solidFill>
              <a:srgbClr val="408000"/>
            </a:solidFill>
            <a:ln>
              <a:noFill/>
            </a:ln>
            <a:effectLst>
              <a:outerShdw blurRad="50800" dist="38100" dir="2700000" algn="tl" rotWithShape="0">
                <a:srgbClr val="808080">
                  <a:alpha val="39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l">
                <a:defRPr/>
              </a:pPr>
              <a:endParaRPr lang="en-US" sz="3600" i="1" dirty="0">
                <a:solidFill>
                  <a:schemeClr val="accent5"/>
                </a:solidFill>
                <a:ea typeface="ＭＳ Ｐゴシック" charset="0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4057770" y="3976688"/>
              <a:ext cx="434734" cy="107721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3200" i="1" u="sng" dirty="0">
                  <a:solidFill>
                    <a:schemeClr val="accent5"/>
                  </a:solidFill>
                  <a:latin typeface="Times New Roman" charset="0"/>
                  <a:ea typeface="ＭＳ Ｐゴシック" charset="0"/>
                  <a:cs typeface="ＭＳ Ｐゴシック" charset="0"/>
                </a:rPr>
                <a:t>V</a:t>
              </a:r>
            </a:p>
            <a:p>
              <a:pPr>
                <a:defRPr/>
              </a:pPr>
              <a:r>
                <a:rPr lang="en-US" sz="3200" i="1" dirty="0">
                  <a:solidFill>
                    <a:schemeClr val="accent5"/>
                  </a:solidFill>
                  <a:latin typeface="Times New Roman" charset="0"/>
                  <a:ea typeface="ＭＳ Ｐゴシック" charset="0"/>
                  <a:cs typeface="ＭＳ Ｐゴシック" charset="0"/>
                </a:rPr>
                <a:t>n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4462000" y="4173538"/>
              <a:ext cx="883576" cy="58477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3200" i="1" dirty="0">
                  <a:solidFill>
                    <a:schemeClr val="accent5"/>
                  </a:solidFill>
                  <a:latin typeface="Times New Roman" charset="0"/>
                  <a:ea typeface="ＭＳ Ｐゴシック" charset="0"/>
                  <a:cs typeface="ＭＳ Ｐゴシック" charset="0"/>
                </a:rPr>
                <a:t>= </a:t>
              </a:r>
              <a:r>
                <a:rPr lang="en-US" sz="3200" i="1" dirty="0" err="1" smtClean="0">
                  <a:solidFill>
                    <a:schemeClr val="accent5"/>
                  </a:solidFill>
                  <a:latin typeface="Times New Roman" charset="0"/>
                  <a:ea typeface="ＭＳ Ｐゴシック" charset="0"/>
                  <a:cs typeface="ＭＳ Ｐゴシック" charset="0"/>
                </a:rPr>
                <a:t>k</a:t>
              </a:r>
              <a:r>
                <a:rPr lang="en-US" sz="3200" i="1" baseline="-25000" dirty="0" err="1" smtClean="0">
                  <a:solidFill>
                    <a:schemeClr val="accent5"/>
                  </a:solidFill>
                  <a:latin typeface="Times New Roman" charset="0"/>
                  <a:ea typeface="ＭＳ Ｐゴシック" charset="0"/>
                  <a:cs typeface="ＭＳ Ｐゴシック" charset="0"/>
                </a:rPr>
                <a:t>a</a:t>
              </a:r>
              <a:endParaRPr lang="en-US" sz="3200" i="1" baseline="-25000" dirty="0">
                <a:solidFill>
                  <a:schemeClr val="accent5"/>
                </a:solidFill>
                <a:latin typeface="Times New Roman" charset="0"/>
                <a:ea typeface="ＭＳ Ｐゴシック" charset="0"/>
                <a:cs typeface="ＭＳ Ｐゴシック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7"/>
          <p:cNvSpPr>
            <a:spLocks noChangeArrowheads="1"/>
          </p:cNvSpPr>
          <p:nvPr/>
        </p:nvSpPr>
        <p:spPr bwMode="auto">
          <a:xfrm rot="-5400000">
            <a:off x="-2590800" y="2895600"/>
            <a:ext cx="61722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1pPr>
            <a:lvl2pPr marL="742950" indent="-28575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2pPr>
            <a:lvl3pPr marL="11430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3pPr>
            <a:lvl4pPr marL="16002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4pPr>
            <a:lvl5pPr marL="20574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9pPr>
          </a:lstStyle>
          <a:p>
            <a:r>
              <a:rPr lang="en-US" altLang="en-US">
                <a:solidFill>
                  <a:schemeClr val="bg2"/>
                </a:solidFill>
              </a:rPr>
              <a:t>5.1 The Gaseous State</a:t>
            </a:r>
          </a:p>
        </p:txBody>
      </p:sp>
      <p:sp>
        <p:nvSpPr>
          <p:cNvPr id="28674" name="Rectangle 9"/>
          <p:cNvSpPr>
            <a:spLocks noGrp="1" noChangeArrowheads="1"/>
          </p:cNvSpPr>
          <p:nvPr>
            <p:ph type="title"/>
          </p:nvPr>
        </p:nvSpPr>
        <p:spPr>
          <a:xfrm>
            <a:off x="1066800" y="76200"/>
            <a:ext cx="7772400" cy="1143000"/>
          </a:xfrm>
        </p:spPr>
        <p:txBody>
          <a:bodyPr/>
          <a:lstStyle/>
          <a:p>
            <a:r>
              <a:rPr lang="en-US" altLang="en-US" smtClean="0">
                <a:ea typeface="ＭＳ Ｐゴシック" pitchFamily="34" charset="-128"/>
              </a:rPr>
              <a:t>Using Avogadro</a:t>
            </a:r>
            <a:r>
              <a:rPr lang="ja-JP" altLang="en-US" smtClean="0">
                <a:ea typeface="ＭＳ Ｐゴシック" pitchFamily="34" charset="-128"/>
              </a:rPr>
              <a:t>’</a:t>
            </a:r>
            <a:r>
              <a:rPr lang="en-US" altLang="ja-JP" smtClean="0">
                <a:ea typeface="ＭＳ Ｐゴシック" pitchFamily="34" charset="-128"/>
              </a:rPr>
              <a:t>s Law</a:t>
            </a:r>
            <a:endParaRPr lang="en-US" altLang="en-US" smtClean="0">
              <a:ea typeface="ＭＳ Ｐゴシック" pitchFamily="34" charset="-128"/>
            </a:endParaRPr>
          </a:p>
        </p:txBody>
      </p:sp>
      <p:sp>
        <p:nvSpPr>
          <p:cNvPr id="28675" name="Rectangle 10"/>
          <p:cNvSpPr>
            <a:spLocks noGrp="1" noChangeArrowheads="1"/>
          </p:cNvSpPr>
          <p:nvPr>
            <p:ph type="body" idx="1"/>
          </p:nvPr>
        </p:nvSpPr>
        <p:spPr>
          <a:xfrm>
            <a:off x="1143000" y="1295400"/>
            <a:ext cx="7772400" cy="1752600"/>
          </a:xfrm>
        </p:spPr>
        <p:txBody>
          <a:bodyPr/>
          <a:lstStyle/>
          <a:p>
            <a:r>
              <a:rPr lang="en-US" altLang="en-US" smtClean="0">
                <a:ea typeface="ＭＳ Ｐゴシック" pitchFamily="34" charset="-128"/>
              </a:rPr>
              <a:t>If 5.50 mol of CO occupy 20.6 L, how many liters will 16.5 mol of CO occupy at the same temperature and pressure?</a:t>
            </a:r>
          </a:p>
        </p:txBody>
      </p:sp>
      <p:grpSp>
        <p:nvGrpSpPr>
          <p:cNvPr id="28676" name="Group 9"/>
          <p:cNvGrpSpPr>
            <a:grpSpLocks/>
          </p:cNvGrpSpPr>
          <p:nvPr/>
        </p:nvGrpSpPr>
        <p:grpSpPr bwMode="auto">
          <a:xfrm>
            <a:off x="8077200" y="914400"/>
            <a:ext cx="762000" cy="523875"/>
            <a:chOff x="3962400" y="5791200"/>
            <a:chExt cx="762000" cy="523220"/>
          </a:xfrm>
        </p:grpSpPr>
        <p:sp>
          <p:nvSpPr>
            <p:cNvPr id="28689" name="TextBox 6"/>
            <p:cNvSpPr txBox="1">
              <a:spLocks noChangeArrowheads="1"/>
            </p:cNvSpPr>
            <p:nvPr/>
          </p:nvSpPr>
          <p:spPr bwMode="auto">
            <a:xfrm>
              <a:off x="3962400" y="5791200"/>
              <a:ext cx="685800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1pPr>
              <a:lvl2pPr marL="742950" indent="-28575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2pPr>
              <a:lvl3pPr marL="1143000" indent="-22860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3pPr>
              <a:lvl4pPr marL="1600200" indent="-22860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4pPr>
              <a:lvl5pPr marL="2057400" indent="-22860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9pPr>
            </a:lstStyle>
            <a:p>
              <a:r>
                <a:rPr lang="en-US" altLang="en-US" sz="2800" dirty="0" smtClean="0">
                  <a:solidFill>
                    <a:schemeClr val="accent2"/>
                  </a:solidFill>
                  <a:latin typeface="Arial Black" pitchFamily="34" charset="0"/>
                </a:rPr>
                <a:t>5</a:t>
              </a:r>
              <a:endParaRPr lang="en-US" altLang="en-US" sz="2800" dirty="0">
                <a:solidFill>
                  <a:schemeClr val="accent2"/>
                </a:solidFill>
                <a:latin typeface="Arial Black" pitchFamily="34" charset="0"/>
              </a:endParaRPr>
            </a:p>
          </p:txBody>
        </p:sp>
        <p:sp>
          <p:nvSpPr>
            <p:cNvPr id="28690" name="Isosceles Triangle 8"/>
            <p:cNvSpPr>
              <a:spLocks noChangeArrowheads="1"/>
            </p:cNvSpPr>
            <p:nvPr/>
          </p:nvSpPr>
          <p:spPr bwMode="auto">
            <a:xfrm rot="5400000">
              <a:off x="4533900" y="5927108"/>
              <a:ext cx="152400" cy="228600"/>
            </a:xfrm>
            <a:prstGeom prst="triangle">
              <a:avLst>
                <a:gd name="adj" fmla="val 50000"/>
              </a:avLst>
            </a:prstGeom>
            <a:solidFill>
              <a:srgbClr val="F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1pPr>
              <a:lvl2pPr marL="742950" indent="-28575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2pPr>
              <a:lvl3pPr marL="1143000" indent="-22860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3pPr>
              <a:lvl4pPr marL="1600200" indent="-22860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4pPr>
              <a:lvl5pPr marL="2057400" indent="-22860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9pPr>
            </a:lstStyle>
            <a:p>
              <a:endParaRPr lang="en-IN" altLang="en-US"/>
            </a:p>
          </p:txBody>
        </p:sp>
      </p:grpSp>
      <p:sp>
        <p:nvSpPr>
          <p:cNvPr id="28677" name="TextBox 7"/>
          <p:cNvSpPr txBox="1">
            <a:spLocks noChangeArrowheads="1"/>
          </p:cNvSpPr>
          <p:nvPr/>
        </p:nvSpPr>
        <p:spPr bwMode="auto">
          <a:xfrm>
            <a:off x="5069781" y="4876800"/>
            <a:ext cx="2001637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1pPr>
            <a:lvl2pPr marL="742950" indent="-28575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2pPr>
            <a:lvl3pPr marL="11430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3pPr>
            <a:lvl4pPr marL="16002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4pPr>
            <a:lvl5pPr marL="20574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9pPr>
          </a:lstStyle>
          <a:p>
            <a:r>
              <a:rPr lang="en-US" altLang="en-US" sz="3200" dirty="0">
                <a:solidFill>
                  <a:schemeClr val="tx2"/>
                </a:solidFill>
              </a:rPr>
              <a:t>61.8 L = </a:t>
            </a:r>
            <a:r>
              <a:rPr lang="en-US" altLang="en-US" sz="3200" i="1" dirty="0" err="1">
                <a:solidFill>
                  <a:schemeClr val="tx2"/>
                </a:solidFill>
              </a:rPr>
              <a:t>V</a:t>
            </a:r>
            <a:r>
              <a:rPr lang="en-US" altLang="en-US" sz="3200" i="1" baseline="-25000" dirty="0" err="1">
                <a:solidFill>
                  <a:schemeClr val="tx2"/>
                </a:solidFill>
              </a:rPr>
              <a:t>f</a:t>
            </a:r>
            <a:endParaRPr lang="en-US" altLang="en-US" sz="3200" i="1" dirty="0">
              <a:solidFill>
                <a:schemeClr val="tx2"/>
              </a:solidFill>
            </a:endParaRPr>
          </a:p>
        </p:txBody>
      </p:sp>
      <p:sp>
        <p:nvSpPr>
          <p:cNvPr id="28678" name="TextBox 3"/>
          <p:cNvSpPr txBox="1">
            <a:spLocks noChangeArrowheads="1"/>
          </p:cNvSpPr>
          <p:nvPr/>
        </p:nvSpPr>
        <p:spPr bwMode="auto">
          <a:xfrm>
            <a:off x="1469722" y="5791200"/>
            <a:ext cx="6431569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1pPr>
            <a:lvl2pPr marL="742950" indent="-28575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2pPr>
            <a:lvl3pPr marL="11430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3pPr>
            <a:lvl4pPr marL="16002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4pPr>
            <a:lvl5pPr marL="20574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9pPr>
          </a:lstStyle>
          <a:p>
            <a:r>
              <a:rPr lang="en-US" altLang="en-US" sz="3200" dirty="0">
                <a:solidFill>
                  <a:srgbClr val="003ABC"/>
                </a:solidFill>
              </a:rPr>
              <a:t>The volume would increase to </a:t>
            </a:r>
            <a:r>
              <a:rPr lang="en-US" altLang="en-US" sz="3200" dirty="0" smtClean="0">
                <a:solidFill>
                  <a:srgbClr val="003ABC"/>
                </a:solidFill>
              </a:rPr>
              <a:t>61.8 L</a:t>
            </a:r>
            <a:endParaRPr lang="en-US" altLang="en-US" sz="3200" dirty="0">
              <a:solidFill>
                <a:srgbClr val="003ABC"/>
              </a:solidFill>
            </a:endParaRPr>
          </a:p>
        </p:txBody>
      </p:sp>
      <p:grpSp>
        <p:nvGrpSpPr>
          <p:cNvPr id="28679" name="Group 9"/>
          <p:cNvGrpSpPr>
            <a:grpSpLocks/>
          </p:cNvGrpSpPr>
          <p:nvPr/>
        </p:nvGrpSpPr>
        <p:grpSpPr bwMode="auto">
          <a:xfrm>
            <a:off x="1791355" y="3352801"/>
            <a:ext cx="1504627" cy="1091468"/>
            <a:chOff x="3848748" y="1295400"/>
            <a:chExt cx="1504363" cy="1090726"/>
          </a:xfrm>
        </p:grpSpPr>
        <p:grpSp>
          <p:nvGrpSpPr>
            <p:cNvPr id="28685" name="Group 10"/>
            <p:cNvGrpSpPr>
              <a:grpSpLocks/>
            </p:cNvGrpSpPr>
            <p:nvPr/>
          </p:nvGrpSpPr>
          <p:grpSpPr bwMode="auto">
            <a:xfrm>
              <a:off x="3848748" y="1309640"/>
              <a:ext cx="974755" cy="1076486"/>
              <a:chOff x="3924948" y="3976640"/>
              <a:chExt cx="974755" cy="1076486"/>
            </a:xfrm>
          </p:grpSpPr>
          <p:sp>
            <p:nvSpPr>
              <p:cNvPr id="28687" name="TextBox 12"/>
              <p:cNvSpPr txBox="1">
                <a:spLocks noChangeArrowheads="1"/>
              </p:cNvSpPr>
              <p:nvPr/>
            </p:nvSpPr>
            <p:spPr bwMode="auto">
              <a:xfrm>
                <a:off x="3924948" y="3976640"/>
                <a:ext cx="479534" cy="10764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4400">
                    <a:solidFill>
                      <a:srgbClr val="D0C1D5"/>
                    </a:solidFill>
                    <a:latin typeface="Times New Roman" pitchFamily="18" charset="0"/>
                    <a:ea typeface="ＭＳ Ｐゴシック" pitchFamily="34" charset="-128"/>
                  </a:defRPr>
                </a:lvl1pPr>
                <a:lvl2pPr marL="742950" indent="-285750">
                  <a:defRPr sz="4400">
                    <a:solidFill>
                      <a:srgbClr val="D0C1D5"/>
                    </a:solidFill>
                    <a:latin typeface="Times New Roman" pitchFamily="18" charset="0"/>
                    <a:ea typeface="ＭＳ Ｐゴシック" pitchFamily="34" charset="-128"/>
                  </a:defRPr>
                </a:lvl2pPr>
                <a:lvl3pPr marL="1143000" indent="-228600">
                  <a:defRPr sz="4400">
                    <a:solidFill>
                      <a:srgbClr val="D0C1D5"/>
                    </a:solidFill>
                    <a:latin typeface="Times New Roman" pitchFamily="18" charset="0"/>
                    <a:ea typeface="ＭＳ Ｐゴシック" pitchFamily="34" charset="-128"/>
                  </a:defRPr>
                </a:lvl3pPr>
                <a:lvl4pPr marL="1600200" indent="-228600">
                  <a:defRPr sz="4400">
                    <a:solidFill>
                      <a:srgbClr val="D0C1D5"/>
                    </a:solidFill>
                    <a:latin typeface="Times New Roman" pitchFamily="18" charset="0"/>
                    <a:ea typeface="ＭＳ Ｐゴシック" pitchFamily="34" charset="-128"/>
                  </a:defRPr>
                </a:lvl4pPr>
                <a:lvl5pPr marL="2057400" indent="-228600">
                  <a:defRPr sz="4400">
                    <a:solidFill>
                      <a:srgbClr val="D0C1D5"/>
                    </a:solidFill>
                    <a:latin typeface="Times New Roman" pitchFamily="18" charset="0"/>
                    <a:ea typeface="ＭＳ Ｐゴシック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rgbClr val="D0C1D5"/>
                    </a:solidFill>
                    <a:latin typeface="Times New Roman" pitchFamily="18" charset="0"/>
                    <a:ea typeface="ＭＳ Ｐゴシック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rgbClr val="D0C1D5"/>
                    </a:solidFill>
                    <a:latin typeface="Times New Roman" pitchFamily="18" charset="0"/>
                    <a:ea typeface="ＭＳ Ｐゴシック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rgbClr val="D0C1D5"/>
                    </a:solidFill>
                    <a:latin typeface="Times New Roman" pitchFamily="18" charset="0"/>
                    <a:ea typeface="ＭＳ Ｐゴシック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rgbClr val="D0C1D5"/>
                    </a:solidFill>
                    <a:latin typeface="Times New Roman" pitchFamily="18" charset="0"/>
                    <a:ea typeface="ＭＳ Ｐゴシック" pitchFamily="34" charset="-128"/>
                  </a:defRPr>
                </a:lvl9pPr>
              </a:lstStyle>
              <a:p>
                <a:r>
                  <a:rPr lang="en-US" altLang="en-US" sz="3200" i="1" u="sng">
                    <a:solidFill>
                      <a:schemeClr val="tx2"/>
                    </a:solidFill>
                  </a:rPr>
                  <a:t>V</a:t>
                </a:r>
                <a:r>
                  <a:rPr lang="en-US" altLang="en-US" sz="3200" i="1" u="sng" baseline="-25000">
                    <a:solidFill>
                      <a:schemeClr val="tx2"/>
                    </a:solidFill>
                  </a:rPr>
                  <a:t>i</a:t>
                </a:r>
                <a:endParaRPr lang="en-US" altLang="en-US" sz="3200" i="1" u="sng">
                  <a:solidFill>
                    <a:schemeClr val="tx2"/>
                  </a:solidFill>
                </a:endParaRPr>
              </a:p>
              <a:p>
                <a:r>
                  <a:rPr lang="en-US" altLang="en-US" sz="3200" i="1">
                    <a:solidFill>
                      <a:schemeClr val="tx2"/>
                    </a:solidFill>
                  </a:rPr>
                  <a:t>n</a:t>
                </a:r>
                <a:r>
                  <a:rPr lang="en-US" altLang="en-US" sz="3200" i="1" baseline="-25000">
                    <a:solidFill>
                      <a:schemeClr val="tx2"/>
                    </a:solidFill>
                  </a:rPr>
                  <a:t>i</a:t>
                </a:r>
                <a:endParaRPr lang="en-US" altLang="en-US" sz="3200" i="1">
                  <a:solidFill>
                    <a:schemeClr val="tx2"/>
                  </a:solidFill>
                </a:endParaRPr>
              </a:p>
            </p:txBody>
          </p:sp>
          <p:sp>
            <p:nvSpPr>
              <p:cNvPr id="28688" name="TextBox 13"/>
              <p:cNvSpPr txBox="1">
                <a:spLocks noChangeArrowheads="1"/>
              </p:cNvSpPr>
              <p:nvPr/>
            </p:nvSpPr>
            <p:spPr bwMode="auto">
              <a:xfrm>
                <a:off x="4437798" y="4174260"/>
                <a:ext cx="461905" cy="58437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4400">
                    <a:solidFill>
                      <a:srgbClr val="D0C1D5"/>
                    </a:solidFill>
                    <a:latin typeface="Times New Roman" pitchFamily="18" charset="0"/>
                    <a:ea typeface="ＭＳ Ｐゴシック" pitchFamily="34" charset="-128"/>
                  </a:defRPr>
                </a:lvl1pPr>
                <a:lvl2pPr marL="742950" indent="-285750">
                  <a:defRPr sz="4400">
                    <a:solidFill>
                      <a:srgbClr val="D0C1D5"/>
                    </a:solidFill>
                    <a:latin typeface="Times New Roman" pitchFamily="18" charset="0"/>
                    <a:ea typeface="ＭＳ Ｐゴシック" pitchFamily="34" charset="-128"/>
                  </a:defRPr>
                </a:lvl2pPr>
                <a:lvl3pPr marL="1143000" indent="-228600">
                  <a:defRPr sz="4400">
                    <a:solidFill>
                      <a:srgbClr val="D0C1D5"/>
                    </a:solidFill>
                    <a:latin typeface="Times New Roman" pitchFamily="18" charset="0"/>
                    <a:ea typeface="ＭＳ Ｐゴシック" pitchFamily="34" charset="-128"/>
                  </a:defRPr>
                </a:lvl3pPr>
                <a:lvl4pPr marL="1600200" indent="-228600">
                  <a:defRPr sz="4400">
                    <a:solidFill>
                      <a:srgbClr val="D0C1D5"/>
                    </a:solidFill>
                    <a:latin typeface="Times New Roman" pitchFamily="18" charset="0"/>
                    <a:ea typeface="ＭＳ Ｐゴシック" pitchFamily="34" charset="-128"/>
                  </a:defRPr>
                </a:lvl4pPr>
                <a:lvl5pPr marL="2057400" indent="-228600">
                  <a:defRPr sz="4400">
                    <a:solidFill>
                      <a:srgbClr val="D0C1D5"/>
                    </a:solidFill>
                    <a:latin typeface="Times New Roman" pitchFamily="18" charset="0"/>
                    <a:ea typeface="ＭＳ Ｐゴシック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rgbClr val="D0C1D5"/>
                    </a:solidFill>
                    <a:latin typeface="Times New Roman" pitchFamily="18" charset="0"/>
                    <a:ea typeface="ＭＳ Ｐゴシック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rgbClr val="D0C1D5"/>
                    </a:solidFill>
                    <a:latin typeface="Times New Roman" pitchFamily="18" charset="0"/>
                    <a:ea typeface="ＭＳ Ｐゴシック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rgbClr val="D0C1D5"/>
                    </a:solidFill>
                    <a:latin typeface="Times New Roman" pitchFamily="18" charset="0"/>
                    <a:ea typeface="ＭＳ Ｐゴシック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rgbClr val="D0C1D5"/>
                    </a:solidFill>
                    <a:latin typeface="Times New Roman" pitchFamily="18" charset="0"/>
                    <a:ea typeface="ＭＳ Ｐゴシック" pitchFamily="34" charset="-128"/>
                  </a:defRPr>
                </a:lvl9pPr>
              </a:lstStyle>
              <a:p>
                <a:r>
                  <a:rPr lang="en-US" altLang="en-US" sz="3200" i="1">
                    <a:solidFill>
                      <a:schemeClr val="tx2"/>
                    </a:solidFill>
                  </a:rPr>
                  <a:t>=</a:t>
                </a:r>
              </a:p>
            </p:txBody>
          </p:sp>
        </p:grpSp>
        <p:sp>
          <p:nvSpPr>
            <p:cNvPr id="28686" name="TextBox 11"/>
            <p:cNvSpPr txBox="1">
              <a:spLocks noChangeArrowheads="1"/>
            </p:cNvSpPr>
            <p:nvPr/>
          </p:nvSpPr>
          <p:spPr bwMode="auto">
            <a:xfrm>
              <a:off x="4843124" y="1295400"/>
              <a:ext cx="509987" cy="10764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1pPr>
              <a:lvl2pPr marL="742950" indent="-28575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2pPr>
              <a:lvl3pPr marL="1143000" indent="-22860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3pPr>
              <a:lvl4pPr marL="1600200" indent="-22860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4pPr>
              <a:lvl5pPr marL="2057400" indent="-22860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9pPr>
            </a:lstStyle>
            <a:p>
              <a:r>
                <a:rPr lang="en-US" altLang="en-US" sz="3200" i="1" u="sng" dirty="0" err="1">
                  <a:solidFill>
                    <a:schemeClr val="tx2"/>
                  </a:solidFill>
                </a:rPr>
                <a:t>V</a:t>
              </a:r>
              <a:r>
                <a:rPr lang="en-US" altLang="en-US" sz="3200" i="1" u="sng" baseline="-25000" dirty="0" err="1">
                  <a:solidFill>
                    <a:schemeClr val="tx2"/>
                  </a:solidFill>
                </a:rPr>
                <a:t>f</a:t>
              </a:r>
              <a:endParaRPr lang="en-US" altLang="en-US" sz="3200" i="1" u="sng" dirty="0">
                <a:solidFill>
                  <a:schemeClr val="tx2"/>
                </a:solidFill>
              </a:endParaRPr>
            </a:p>
            <a:p>
              <a:r>
                <a:rPr lang="en-US" altLang="en-US" sz="3200" i="1" dirty="0" err="1">
                  <a:solidFill>
                    <a:schemeClr val="tx2"/>
                  </a:solidFill>
                </a:rPr>
                <a:t>n</a:t>
              </a:r>
              <a:r>
                <a:rPr lang="en-US" altLang="en-US" sz="3200" i="1" baseline="-25000" dirty="0" err="1">
                  <a:solidFill>
                    <a:schemeClr val="tx2"/>
                  </a:solidFill>
                </a:rPr>
                <a:t>f</a:t>
              </a:r>
              <a:endParaRPr lang="en-US" altLang="en-US" sz="3200" i="1" dirty="0">
                <a:solidFill>
                  <a:schemeClr val="tx2"/>
                </a:solidFill>
              </a:endParaRPr>
            </a:p>
          </p:txBody>
        </p:sp>
      </p:grpSp>
      <p:grpSp>
        <p:nvGrpSpPr>
          <p:cNvPr id="28680" name="Group 14"/>
          <p:cNvGrpSpPr>
            <a:grpSpLocks/>
          </p:cNvGrpSpPr>
          <p:nvPr/>
        </p:nvGrpSpPr>
        <p:grpSpPr bwMode="auto">
          <a:xfrm>
            <a:off x="4446588" y="3352800"/>
            <a:ext cx="3554412" cy="1092200"/>
            <a:chOff x="2901080" y="1295400"/>
            <a:chExt cx="3554276" cy="1091458"/>
          </a:xfrm>
        </p:grpSpPr>
        <p:grpSp>
          <p:nvGrpSpPr>
            <p:cNvPr id="28681" name="Group 15"/>
            <p:cNvGrpSpPr>
              <a:grpSpLocks/>
            </p:cNvGrpSpPr>
            <p:nvPr/>
          </p:nvGrpSpPr>
          <p:grpSpPr bwMode="auto">
            <a:xfrm>
              <a:off x="2901080" y="1309640"/>
              <a:ext cx="2065375" cy="1077218"/>
              <a:chOff x="2977280" y="3976640"/>
              <a:chExt cx="2065375" cy="1077218"/>
            </a:xfrm>
          </p:grpSpPr>
          <p:sp>
            <p:nvSpPr>
              <p:cNvPr id="28683" name="TextBox 17"/>
              <p:cNvSpPr txBox="1">
                <a:spLocks noChangeArrowheads="1"/>
              </p:cNvSpPr>
              <p:nvPr/>
            </p:nvSpPr>
            <p:spPr bwMode="auto">
              <a:xfrm>
                <a:off x="2977280" y="3976640"/>
                <a:ext cx="1643799" cy="107721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4400">
                    <a:solidFill>
                      <a:srgbClr val="D0C1D5"/>
                    </a:solidFill>
                    <a:latin typeface="Times New Roman" pitchFamily="18" charset="0"/>
                    <a:ea typeface="ＭＳ Ｐゴシック" pitchFamily="34" charset="-128"/>
                  </a:defRPr>
                </a:lvl1pPr>
                <a:lvl2pPr marL="742950" indent="-285750">
                  <a:defRPr sz="4400">
                    <a:solidFill>
                      <a:srgbClr val="D0C1D5"/>
                    </a:solidFill>
                    <a:latin typeface="Times New Roman" pitchFamily="18" charset="0"/>
                    <a:ea typeface="ＭＳ Ｐゴシック" pitchFamily="34" charset="-128"/>
                  </a:defRPr>
                </a:lvl2pPr>
                <a:lvl3pPr marL="1143000" indent="-228600">
                  <a:defRPr sz="4400">
                    <a:solidFill>
                      <a:srgbClr val="D0C1D5"/>
                    </a:solidFill>
                    <a:latin typeface="Times New Roman" pitchFamily="18" charset="0"/>
                    <a:ea typeface="ＭＳ Ｐゴシック" pitchFamily="34" charset="-128"/>
                  </a:defRPr>
                </a:lvl3pPr>
                <a:lvl4pPr marL="1600200" indent="-228600">
                  <a:defRPr sz="4400">
                    <a:solidFill>
                      <a:srgbClr val="D0C1D5"/>
                    </a:solidFill>
                    <a:latin typeface="Times New Roman" pitchFamily="18" charset="0"/>
                    <a:ea typeface="ＭＳ Ｐゴシック" pitchFamily="34" charset="-128"/>
                  </a:defRPr>
                </a:lvl4pPr>
                <a:lvl5pPr marL="2057400" indent="-228600">
                  <a:defRPr sz="4400">
                    <a:solidFill>
                      <a:srgbClr val="D0C1D5"/>
                    </a:solidFill>
                    <a:latin typeface="Times New Roman" pitchFamily="18" charset="0"/>
                    <a:ea typeface="ＭＳ Ｐゴシック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rgbClr val="D0C1D5"/>
                    </a:solidFill>
                    <a:latin typeface="Times New Roman" pitchFamily="18" charset="0"/>
                    <a:ea typeface="ＭＳ Ｐゴシック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rgbClr val="D0C1D5"/>
                    </a:solidFill>
                    <a:latin typeface="Times New Roman" pitchFamily="18" charset="0"/>
                    <a:ea typeface="ＭＳ Ｐゴシック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rgbClr val="D0C1D5"/>
                    </a:solidFill>
                    <a:latin typeface="Times New Roman" pitchFamily="18" charset="0"/>
                    <a:ea typeface="ＭＳ Ｐゴシック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rgbClr val="D0C1D5"/>
                    </a:solidFill>
                    <a:latin typeface="Times New Roman" pitchFamily="18" charset="0"/>
                    <a:ea typeface="ＭＳ Ｐゴシック" pitchFamily="34" charset="-128"/>
                  </a:defRPr>
                </a:lvl9pPr>
              </a:lstStyle>
              <a:p>
                <a:r>
                  <a:rPr lang="en-US" altLang="en-US" sz="3200" u="sng">
                    <a:solidFill>
                      <a:schemeClr val="tx2"/>
                    </a:solidFill>
                  </a:rPr>
                  <a:t>20.6 L</a:t>
                </a:r>
              </a:p>
              <a:p>
                <a:r>
                  <a:rPr lang="en-US" altLang="en-US" sz="3200">
                    <a:solidFill>
                      <a:schemeClr val="tx2"/>
                    </a:solidFill>
                  </a:rPr>
                  <a:t>5.50 mol</a:t>
                </a:r>
              </a:p>
            </p:txBody>
          </p:sp>
          <p:sp>
            <p:nvSpPr>
              <p:cNvPr id="28684" name="TextBox 18"/>
              <p:cNvSpPr txBox="1">
                <a:spLocks noChangeArrowheads="1"/>
              </p:cNvSpPr>
              <p:nvPr/>
            </p:nvSpPr>
            <p:spPr bwMode="auto">
              <a:xfrm>
                <a:off x="4626556" y="4174260"/>
                <a:ext cx="416099" cy="5847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4400">
                    <a:solidFill>
                      <a:srgbClr val="D0C1D5"/>
                    </a:solidFill>
                    <a:latin typeface="Times New Roman" pitchFamily="18" charset="0"/>
                    <a:ea typeface="ＭＳ Ｐゴシック" pitchFamily="34" charset="-128"/>
                  </a:defRPr>
                </a:lvl1pPr>
                <a:lvl2pPr marL="742950" indent="-285750">
                  <a:defRPr sz="4400">
                    <a:solidFill>
                      <a:srgbClr val="D0C1D5"/>
                    </a:solidFill>
                    <a:latin typeface="Times New Roman" pitchFamily="18" charset="0"/>
                    <a:ea typeface="ＭＳ Ｐゴシック" pitchFamily="34" charset="-128"/>
                  </a:defRPr>
                </a:lvl2pPr>
                <a:lvl3pPr marL="1143000" indent="-228600">
                  <a:defRPr sz="4400">
                    <a:solidFill>
                      <a:srgbClr val="D0C1D5"/>
                    </a:solidFill>
                    <a:latin typeface="Times New Roman" pitchFamily="18" charset="0"/>
                    <a:ea typeface="ＭＳ Ｐゴシック" pitchFamily="34" charset="-128"/>
                  </a:defRPr>
                </a:lvl3pPr>
                <a:lvl4pPr marL="1600200" indent="-228600">
                  <a:defRPr sz="4400">
                    <a:solidFill>
                      <a:srgbClr val="D0C1D5"/>
                    </a:solidFill>
                    <a:latin typeface="Times New Roman" pitchFamily="18" charset="0"/>
                    <a:ea typeface="ＭＳ Ｐゴシック" pitchFamily="34" charset="-128"/>
                  </a:defRPr>
                </a:lvl4pPr>
                <a:lvl5pPr marL="2057400" indent="-228600">
                  <a:defRPr sz="4400">
                    <a:solidFill>
                      <a:srgbClr val="D0C1D5"/>
                    </a:solidFill>
                    <a:latin typeface="Times New Roman" pitchFamily="18" charset="0"/>
                    <a:ea typeface="ＭＳ Ｐゴシック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rgbClr val="D0C1D5"/>
                    </a:solidFill>
                    <a:latin typeface="Times New Roman" pitchFamily="18" charset="0"/>
                    <a:ea typeface="ＭＳ Ｐゴシック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rgbClr val="D0C1D5"/>
                    </a:solidFill>
                    <a:latin typeface="Times New Roman" pitchFamily="18" charset="0"/>
                    <a:ea typeface="ＭＳ Ｐゴシック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rgbClr val="D0C1D5"/>
                    </a:solidFill>
                    <a:latin typeface="Times New Roman" pitchFamily="18" charset="0"/>
                    <a:ea typeface="ＭＳ Ｐゴシック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rgbClr val="D0C1D5"/>
                    </a:solidFill>
                    <a:latin typeface="Times New Roman" pitchFamily="18" charset="0"/>
                    <a:ea typeface="ＭＳ Ｐゴシック" pitchFamily="34" charset="-128"/>
                  </a:defRPr>
                </a:lvl9pPr>
              </a:lstStyle>
              <a:p>
                <a:r>
                  <a:rPr lang="en-US" altLang="en-US" sz="3200">
                    <a:solidFill>
                      <a:schemeClr val="tx2"/>
                    </a:solidFill>
                  </a:rPr>
                  <a:t>=</a:t>
                </a:r>
              </a:p>
            </p:txBody>
          </p:sp>
        </p:grpSp>
        <p:sp>
          <p:nvSpPr>
            <p:cNvPr id="28682" name="TextBox 16"/>
            <p:cNvSpPr txBox="1">
              <a:spLocks noChangeArrowheads="1"/>
            </p:cNvSpPr>
            <p:nvPr/>
          </p:nvSpPr>
          <p:spPr bwMode="auto">
            <a:xfrm>
              <a:off x="4811557" y="1295400"/>
              <a:ext cx="1643799" cy="10772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1pPr>
              <a:lvl2pPr marL="742950" indent="-28575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2pPr>
              <a:lvl3pPr marL="1143000" indent="-22860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3pPr>
              <a:lvl4pPr marL="1600200" indent="-22860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4pPr>
              <a:lvl5pPr marL="2057400" indent="-22860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9pPr>
            </a:lstStyle>
            <a:p>
              <a:r>
                <a:rPr lang="en-US" altLang="en-US" sz="3200" i="1" u="sng" dirty="0" err="1">
                  <a:solidFill>
                    <a:schemeClr val="tx2"/>
                  </a:solidFill>
                </a:rPr>
                <a:t>V</a:t>
              </a:r>
              <a:r>
                <a:rPr lang="en-US" altLang="en-US" sz="3200" i="1" u="sng" baseline="-25000" dirty="0" err="1">
                  <a:solidFill>
                    <a:schemeClr val="tx2"/>
                  </a:solidFill>
                </a:rPr>
                <a:t>f</a:t>
              </a:r>
              <a:endParaRPr lang="en-US" altLang="en-US" sz="3200" i="1" u="sng" dirty="0">
                <a:solidFill>
                  <a:schemeClr val="tx2"/>
                </a:solidFill>
              </a:endParaRPr>
            </a:p>
            <a:p>
              <a:r>
                <a:rPr lang="en-US" altLang="en-US" sz="3200" dirty="0">
                  <a:solidFill>
                    <a:schemeClr val="tx2"/>
                  </a:solidFill>
                </a:rPr>
                <a:t>16.5 </a:t>
              </a:r>
              <a:r>
                <a:rPr lang="en-US" altLang="en-US" sz="3200" dirty="0" err="1">
                  <a:solidFill>
                    <a:schemeClr val="tx2"/>
                  </a:solidFill>
                </a:rPr>
                <a:t>mol</a:t>
              </a:r>
              <a:endParaRPr lang="en-US" altLang="en-US" sz="3200" dirty="0">
                <a:solidFill>
                  <a:schemeClr val="tx2"/>
                </a:solidFill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5"/>
          <p:cNvSpPr>
            <a:spLocks noChangeArrowheads="1"/>
          </p:cNvSpPr>
          <p:nvPr/>
        </p:nvSpPr>
        <p:spPr bwMode="auto">
          <a:xfrm rot="-5400000">
            <a:off x="-2590800" y="2895600"/>
            <a:ext cx="61722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1pPr>
            <a:lvl2pPr marL="742950" indent="-28575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2pPr>
            <a:lvl3pPr marL="11430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3pPr>
            <a:lvl4pPr marL="16002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4pPr>
            <a:lvl5pPr marL="20574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9pPr>
          </a:lstStyle>
          <a:p>
            <a:r>
              <a:rPr lang="en-US" altLang="en-US">
                <a:solidFill>
                  <a:schemeClr val="bg2"/>
                </a:solidFill>
              </a:rPr>
              <a:t>5.1 The Gaseous State</a:t>
            </a:r>
          </a:p>
        </p:txBody>
      </p:sp>
      <p:sp>
        <p:nvSpPr>
          <p:cNvPr id="29698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1371600" y="1295400"/>
            <a:ext cx="7543800" cy="4724400"/>
          </a:xfrm>
        </p:spPr>
        <p:txBody>
          <a:bodyPr/>
          <a:lstStyle/>
          <a:p>
            <a:pPr>
              <a:spcBef>
                <a:spcPct val="0"/>
              </a:spcBef>
              <a:buClrTx/>
            </a:pPr>
            <a:r>
              <a:rPr lang="en-US" altLang="en-US" dirty="0" smtClean="0">
                <a:solidFill>
                  <a:schemeClr val="accent2"/>
                </a:solidFill>
                <a:ea typeface="ＭＳ Ｐゴシック" pitchFamily="34" charset="-128"/>
              </a:rPr>
              <a:t>Molar volume</a:t>
            </a:r>
            <a:r>
              <a:rPr lang="en-US" altLang="en-US" b="1" dirty="0" smtClean="0">
                <a:ea typeface="ＭＳ Ｐゴシック" pitchFamily="34" charset="-128"/>
              </a:rPr>
              <a:t> </a:t>
            </a:r>
            <a:r>
              <a:rPr lang="en-US" altLang="en-US" dirty="0" smtClean="0">
                <a:ea typeface="ＭＳ Ｐゴシック" pitchFamily="34" charset="-128"/>
              </a:rPr>
              <a:t>- the volume occupied by 1 </a:t>
            </a:r>
            <a:r>
              <a:rPr lang="en-US" altLang="en-US" dirty="0" err="1" smtClean="0">
                <a:ea typeface="ＭＳ Ｐゴシック" pitchFamily="34" charset="-128"/>
              </a:rPr>
              <a:t>mol</a:t>
            </a:r>
            <a:r>
              <a:rPr lang="en-US" altLang="en-US" dirty="0" smtClean="0">
                <a:ea typeface="ＭＳ Ｐゴシック" pitchFamily="34" charset="-128"/>
              </a:rPr>
              <a:t> of any gas at standard temperature and pressure.</a:t>
            </a:r>
            <a:br>
              <a:rPr lang="en-US" altLang="en-US" dirty="0" smtClean="0">
                <a:ea typeface="ＭＳ Ｐゴシック" pitchFamily="34" charset="-128"/>
              </a:rPr>
            </a:br>
            <a:endParaRPr lang="en-US" altLang="en-US" dirty="0" smtClean="0">
              <a:ea typeface="ＭＳ Ｐゴシック" pitchFamily="34" charset="-128"/>
            </a:endParaRPr>
          </a:p>
          <a:p>
            <a:pPr>
              <a:spcBef>
                <a:spcPct val="0"/>
              </a:spcBef>
              <a:buClrTx/>
            </a:pPr>
            <a:r>
              <a:rPr lang="en-US" altLang="en-US" dirty="0" smtClean="0">
                <a:solidFill>
                  <a:schemeClr val="accent2"/>
                </a:solidFill>
                <a:ea typeface="ＭＳ Ｐゴシック" pitchFamily="34" charset="-128"/>
              </a:rPr>
              <a:t>STP</a:t>
            </a:r>
            <a:r>
              <a:rPr lang="en-US" altLang="en-US" dirty="0" smtClean="0">
                <a:ea typeface="ＭＳ Ｐゴシック" pitchFamily="34" charset="-128"/>
              </a:rPr>
              <a:t> – Standard Temperature </a:t>
            </a:r>
            <a:r>
              <a:rPr lang="en-US" altLang="en-US" sz="3000" dirty="0" smtClean="0">
                <a:ea typeface="ＭＳ Ｐゴシック" pitchFamily="34" charset="-128"/>
              </a:rPr>
              <a:t>and </a:t>
            </a:r>
            <a:r>
              <a:rPr lang="en-US" altLang="en-US" dirty="0" smtClean="0">
                <a:ea typeface="ＭＳ Ｐゴシック" pitchFamily="34" charset="-128"/>
              </a:rPr>
              <a:t>Pressure</a:t>
            </a:r>
          </a:p>
          <a:p>
            <a:pPr lvl="1">
              <a:spcBef>
                <a:spcPct val="0"/>
              </a:spcBef>
            </a:pPr>
            <a:r>
              <a:rPr lang="en-US" altLang="en-US" i="1" dirty="0" smtClean="0">
                <a:ea typeface="ＭＳ Ｐゴシック" pitchFamily="34" charset="-128"/>
              </a:rPr>
              <a:t>T</a:t>
            </a:r>
            <a:r>
              <a:rPr lang="en-US" altLang="en-US" dirty="0" smtClean="0">
                <a:ea typeface="ＭＳ Ｐゴシック" pitchFamily="34" charset="-128"/>
              </a:rPr>
              <a:t> = 273 K (or 0</a:t>
            </a:r>
            <a:r>
              <a:rPr lang="en-US" altLang="en-US" baseline="30000" dirty="0" smtClean="0">
                <a:ea typeface="ＭＳ Ｐゴシック" pitchFamily="34" charset="-128"/>
              </a:rPr>
              <a:t>o</a:t>
            </a:r>
            <a:r>
              <a:rPr lang="en-US" altLang="en-US" dirty="0" smtClean="0">
                <a:ea typeface="ＭＳ Ｐゴシック" pitchFamily="34" charset="-128"/>
              </a:rPr>
              <a:t>C)</a:t>
            </a:r>
          </a:p>
          <a:p>
            <a:pPr lvl="1">
              <a:spcBef>
                <a:spcPct val="0"/>
              </a:spcBef>
            </a:pPr>
            <a:r>
              <a:rPr lang="en-US" altLang="en-US" i="1" dirty="0" smtClean="0">
                <a:ea typeface="ＭＳ Ｐゴシック" pitchFamily="34" charset="-128"/>
              </a:rPr>
              <a:t>P</a:t>
            </a:r>
            <a:r>
              <a:rPr lang="en-US" altLang="en-US" dirty="0" smtClean="0">
                <a:ea typeface="ＭＳ Ｐゴシック" pitchFamily="34" charset="-128"/>
              </a:rPr>
              <a:t> = 1 </a:t>
            </a:r>
            <a:r>
              <a:rPr lang="en-US" altLang="en-US" dirty="0" err="1" smtClean="0">
                <a:ea typeface="ＭＳ Ｐゴシック" pitchFamily="34" charset="-128"/>
              </a:rPr>
              <a:t>atm</a:t>
            </a:r>
            <a:r>
              <a:rPr lang="en-US" altLang="en-US" dirty="0" smtClean="0">
                <a:ea typeface="ＭＳ Ｐゴシック" pitchFamily="34" charset="-128"/>
              </a:rPr>
              <a:t/>
            </a:r>
            <a:br>
              <a:rPr lang="en-US" altLang="en-US" dirty="0" smtClean="0">
                <a:ea typeface="ＭＳ Ｐゴシック" pitchFamily="34" charset="-128"/>
              </a:rPr>
            </a:br>
            <a:endParaRPr lang="en-US" altLang="en-US" dirty="0" smtClean="0">
              <a:ea typeface="ＭＳ Ｐゴシック" pitchFamily="34" charset="-128"/>
            </a:endParaRPr>
          </a:p>
          <a:p>
            <a:pPr>
              <a:spcBef>
                <a:spcPct val="0"/>
              </a:spcBef>
            </a:pPr>
            <a:r>
              <a:rPr lang="en-US" altLang="en-US" dirty="0" smtClean="0">
                <a:ea typeface="ＭＳ Ｐゴシック" pitchFamily="34" charset="-128"/>
              </a:rPr>
              <a:t>At STP the molar volume of any gas is 22.4 L</a:t>
            </a:r>
          </a:p>
        </p:txBody>
      </p:sp>
      <p:sp>
        <p:nvSpPr>
          <p:cNvPr id="29699" name="Text Box 8"/>
          <p:cNvSpPr>
            <a:spLocks noGrp="1" noChangeArrowheads="1"/>
          </p:cNvSpPr>
          <p:nvPr>
            <p:ph type="title"/>
          </p:nvPr>
        </p:nvSpPr>
        <p:spPr>
          <a:xfrm>
            <a:off x="1066800" y="152400"/>
            <a:ext cx="7772400" cy="1143000"/>
          </a:xfrm>
          <a:noFill/>
        </p:spPr>
        <p:txBody>
          <a:bodyPr/>
          <a:lstStyle/>
          <a:p>
            <a:r>
              <a:rPr lang="en-US" altLang="en-US" smtClean="0">
                <a:ea typeface="ＭＳ Ｐゴシック" pitchFamily="34" charset="-128"/>
              </a:rPr>
              <a:t>Molar Volume of a Gas</a:t>
            </a:r>
          </a:p>
        </p:txBody>
      </p:sp>
      <p:grpSp>
        <p:nvGrpSpPr>
          <p:cNvPr id="5" name="Group 9"/>
          <p:cNvGrpSpPr>
            <a:grpSpLocks/>
          </p:cNvGrpSpPr>
          <p:nvPr/>
        </p:nvGrpSpPr>
        <p:grpSpPr bwMode="auto">
          <a:xfrm>
            <a:off x="8077200" y="914400"/>
            <a:ext cx="762000" cy="523875"/>
            <a:chOff x="3962400" y="5791200"/>
            <a:chExt cx="762000" cy="523220"/>
          </a:xfrm>
        </p:grpSpPr>
        <p:sp>
          <p:nvSpPr>
            <p:cNvPr id="6" name="TextBox 6"/>
            <p:cNvSpPr txBox="1">
              <a:spLocks noChangeArrowheads="1"/>
            </p:cNvSpPr>
            <p:nvPr/>
          </p:nvSpPr>
          <p:spPr bwMode="auto">
            <a:xfrm>
              <a:off x="3962400" y="5791200"/>
              <a:ext cx="685800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1pPr>
              <a:lvl2pPr marL="742950" indent="-28575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2pPr>
              <a:lvl3pPr marL="1143000" indent="-22860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3pPr>
              <a:lvl4pPr marL="1600200" indent="-22860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4pPr>
              <a:lvl5pPr marL="2057400" indent="-22860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9pPr>
            </a:lstStyle>
            <a:p>
              <a:r>
                <a:rPr lang="en-US" altLang="en-US" sz="2800" dirty="0" smtClean="0">
                  <a:solidFill>
                    <a:schemeClr val="accent2"/>
                  </a:solidFill>
                  <a:latin typeface="Arial Black" pitchFamily="34" charset="0"/>
                </a:rPr>
                <a:t>6</a:t>
              </a:r>
              <a:endParaRPr lang="en-US" altLang="en-US" sz="2800" dirty="0">
                <a:solidFill>
                  <a:schemeClr val="accent2"/>
                </a:solidFill>
                <a:latin typeface="Arial Black" pitchFamily="34" charset="0"/>
              </a:endParaRPr>
            </a:p>
          </p:txBody>
        </p:sp>
        <p:sp>
          <p:nvSpPr>
            <p:cNvPr id="7" name="Isosceles Triangle 8"/>
            <p:cNvSpPr>
              <a:spLocks noChangeArrowheads="1"/>
            </p:cNvSpPr>
            <p:nvPr/>
          </p:nvSpPr>
          <p:spPr bwMode="auto">
            <a:xfrm rot="5400000">
              <a:off x="4533900" y="5927108"/>
              <a:ext cx="152400" cy="228600"/>
            </a:xfrm>
            <a:prstGeom prst="triangle">
              <a:avLst>
                <a:gd name="adj" fmla="val 50000"/>
              </a:avLst>
            </a:prstGeom>
            <a:solidFill>
              <a:srgbClr val="F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1pPr>
              <a:lvl2pPr marL="742950" indent="-28575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2pPr>
              <a:lvl3pPr marL="1143000" indent="-22860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3pPr>
              <a:lvl4pPr marL="1600200" indent="-22860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4pPr>
              <a:lvl5pPr marL="2057400" indent="-22860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9pPr>
            </a:lstStyle>
            <a:p>
              <a:endParaRPr lang="en-IN" altLang="en-US"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5"/>
          <p:cNvSpPr>
            <a:spLocks noChangeArrowheads="1"/>
          </p:cNvSpPr>
          <p:nvPr/>
        </p:nvSpPr>
        <p:spPr bwMode="auto">
          <a:xfrm rot="-5400000">
            <a:off x="-2590800" y="2895600"/>
            <a:ext cx="61722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1pPr>
            <a:lvl2pPr marL="742950" indent="-28575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2pPr>
            <a:lvl3pPr marL="11430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3pPr>
            <a:lvl4pPr marL="16002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4pPr>
            <a:lvl5pPr marL="20574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9pPr>
          </a:lstStyle>
          <a:p>
            <a:r>
              <a:rPr lang="en-US" altLang="en-US">
                <a:solidFill>
                  <a:schemeClr val="bg2"/>
                </a:solidFill>
              </a:rPr>
              <a:t>5.1 The Gaseous State</a:t>
            </a:r>
          </a:p>
        </p:txBody>
      </p:sp>
      <p:sp>
        <p:nvSpPr>
          <p:cNvPr id="30722" name="Rectangle 6"/>
          <p:cNvSpPr>
            <a:spLocks noGrp="1" noChangeArrowheads="1"/>
          </p:cNvSpPr>
          <p:nvPr>
            <p:ph type="title"/>
          </p:nvPr>
        </p:nvSpPr>
        <p:spPr>
          <a:xfrm>
            <a:off x="1524000" y="228600"/>
            <a:ext cx="7315200" cy="1143000"/>
          </a:xfrm>
        </p:spPr>
        <p:txBody>
          <a:bodyPr/>
          <a:lstStyle/>
          <a:p>
            <a:r>
              <a:rPr lang="en-US" altLang="en-US" smtClean="0">
                <a:ea typeface="ＭＳ Ｐゴシック" pitchFamily="34" charset="-128"/>
              </a:rPr>
              <a:t>Gas Densities</a:t>
            </a:r>
          </a:p>
        </p:txBody>
      </p:sp>
      <p:sp>
        <p:nvSpPr>
          <p:cNvPr id="30723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1295400" y="1371600"/>
            <a:ext cx="7620000" cy="5181600"/>
          </a:xfrm>
        </p:spPr>
        <p:txBody>
          <a:bodyPr/>
          <a:lstStyle/>
          <a:p>
            <a:pPr>
              <a:spcBef>
                <a:spcPct val="25000"/>
              </a:spcBef>
            </a:pPr>
            <a:r>
              <a:rPr lang="en-US" altLang="en-US" dirty="0" smtClean="0">
                <a:ea typeface="ＭＳ Ｐゴシック" pitchFamily="34" charset="-128"/>
              </a:rPr>
              <a:t>Density  =  mass / volume</a:t>
            </a:r>
            <a:br>
              <a:rPr lang="en-US" altLang="en-US" dirty="0" smtClean="0">
                <a:ea typeface="ＭＳ Ｐゴシック" pitchFamily="34" charset="-128"/>
              </a:rPr>
            </a:br>
            <a:endParaRPr lang="en-US" altLang="en-US" dirty="0" smtClean="0">
              <a:ea typeface="ＭＳ Ｐゴシック" pitchFamily="34" charset="-128"/>
            </a:endParaRPr>
          </a:p>
          <a:p>
            <a:pPr>
              <a:spcBef>
                <a:spcPct val="25000"/>
              </a:spcBef>
            </a:pPr>
            <a:r>
              <a:rPr lang="en-US" altLang="en-US" dirty="0" smtClean="0">
                <a:ea typeface="ＭＳ Ｐゴシック" pitchFamily="34" charset="-128"/>
              </a:rPr>
              <a:t>Calculate the density of 4.00 g He at STP.</a:t>
            </a:r>
          </a:p>
          <a:p>
            <a:pPr lvl="1">
              <a:spcBef>
                <a:spcPts val="2038"/>
              </a:spcBef>
            </a:pPr>
            <a:r>
              <a:rPr lang="en-US" altLang="en-US" dirty="0" smtClean="0">
                <a:ea typeface="ＭＳ Ｐゴシック" pitchFamily="34" charset="-128"/>
              </a:rPr>
              <a:t>What is the mass of 1 </a:t>
            </a:r>
            <a:r>
              <a:rPr lang="en-US" altLang="en-US" dirty="0" err="1" smtClean="0">
                <a:ea typeface="ＭＳ Ｐゴシック" pitchFamily="34" charset="-128"/>
              </a:rPr>
              <a:t>mol</a:t>
            </a:r>
            <a:r>
              <a:rPr lang="en-US" altLang="en-US" dirty="0" smtClean="0">
                <a:ea typeface="ＭＳ Ｐゴシック" pitchFamily="34" charset="-128"/>
              </a:rPr>
              <a:t> of He?   </a:t>
            </a:r>
            <a:r>
              <a:rPr lang="en-US" altLang="en-US" dirty="0" smtClean="0">
                <a:solidFill>
                  <a:schemeClr val="accent2"/>
                </a:solidFill>
                <a:ea typeface="ＭＳ Ｐゴシック" pitchFamily="34" charset="-128"/>
              </a:rPr>
              <a:t>4.00 g</a:t>
            </a:r>
          </a:p>
          <a:p>
            <a:pPr lvl="1">
              <a:spcBef>
                <a:spcPts val="2038"/>
              </a:spcBef>
            </a:pPr>
            <a:r>
              <a:rPr lang="en-US" altLang="en-US" dirty="0" smtClean="0">
                <a:ea typeface="ＭＳ Ｐゴシック" pitchFamily="34" charset="-128"/>
              </a:rPr>
              <a:t>At STP the molar volume of any gas is </a:t>
            </a:r>
            <a:r>
              <a:rPr lang="en-US" altLang="en-US" dirty="0" smtClean="0">
                <a:solidFill>
                  <a:schemeClr val="accent2"/>
                </a:solidFill>
                <a:ea typeface="ＭＳ Ｐゴシック" pitchFamily="34" charset="-128"/>
              </a:rPr>
              <a:t>22.4 L</a:t>
            </a:r>
            <a:br>
              <a:rPr lang="en-US" altLang="en-US" dirty="0" smtClean="0">
                <a:solidFill>
                  <a:schemeClr val="accent2"/>
                </a:solidFill>
                <a:ea typeface="ＭＳ Ｐゴシック" pitchFamily="34" charset="-128"/>
              </a:rPr>
            </a:br>
            <a:endParaRPr lang="en-US" altLang="en-US" dirty="0" smtClean="0">
              <a:ea typeface="ＭＳ Ｐゴシック" pitchFamily="34" charset="-128"/>
            </a:endParaRPr>
          </a:p>
          <a:p>
            <a:pPr>
              <a:spcBef>
                <a:spcPct val="25000"/>
              </a:spcBef>
              <a:buFontTx/>
              <a:buNone/>
            </a:pPr>
            <a:r>
              <a:rPr lang="en-US" altLang="en-US" i="1" dirty="0" err="1" smtClean="0">
                <a:ea typeface="ＭＳ Ｐゴシック" pitchFamily="34" charset="-128"/>
              </a:rPr>
              <a:t>Density</a:t>
            </a:r>
            <a:r>
              <a:rPr lang="en-US" altLang="en-US" baseline="-25000" dirty="0" err="1" smtClean="0">
                <a:ea typeface="ＭＳ Ｐゴシック" pitchFamily="34" charset="-128"/>
              </a:rPr>
              <a:t>He</a:t>
            </a:r>
            <a:r>
              <a:rPr lang="en-US" altLang="en-US" dirty="0" smtClean="0">
                <a:ea typeface="ＭＳ Ｐゴシック" pitchFamily="34" charset="-128"/>
              </a:rPr>
              <a:t> = 4.00g / 22.4L </a:t>
            </a:r>
          </a:p>
          <a:p>
            <a:pPr>
              <a:spcBef>
                <a:spcPct val="25000"/>
              </a:spcBef>
              <a:buFontTx/>
              <a:buNone/>
            </a:pPr>
            <a:r>
              <a:rPr lang="en-US" altLang="en-US" dirty="0" smtClean="0">
                <a:ea typeface="ＭＳ Ｐゴシック" pitchFamily="34" charset="-128"/>
              </a:rPr>
              <a:t>                = 0.178 g/L at STP</a:t>
            </a:r>
          </a:p>
          <a:p>
            <a:pPr>
              <a:buFontTx/>
              <a:buNone/>
            </a:pPr>
            <a:endParaRPr lang="en-US" altLang="en-US" dirty="0" smtClean="0">
              <a:ea typeface="ＭＳ Ｐゴシック" pitchFamily="34" charset="-128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13"/>
          <p:cNvSpPr>
            <a:spLocks noGrp="1" noChangeArrowheads="1"/>
          </p:cNvSpPr>
          <p:nvPr>
            <p:ph type="body" idx="1"/>
          </p:nvPr>
        </p:nvSpPr>
        <p:spPr>
          <a:xfrm>
            <a:off x="1295400" y="1524000"/>
            <a:ext cx="7848600" cy="4648200"/>
          </a:xfrm>
        </p:spPr>
        <p:txBody>
          <a:bodyPr/>
          <a:lstStyle/>
          <a:p>
            <a:pPr>
              <a:spcBef>
                <a:spcPct val="50000"/>
              </a:spcBef>
            </a:pPr>
            <a:r>
              <a:rPr lang="en-US" altLang="en-US" smtClean="0">
                <a:ea typeface="ＭＳ Ｐゴシック" pitchFamily="34" charset="-128"/>
              </a:rPr>
              <a:t>Combining: </a:t>
            </a:r>
          </a:p>
          <a:p>
            <a:pPr lvl="1">
              <a:spcBef>
                <a:spcPct val="25000"/>
              </a:spcBef>
            </a:pPr>
            <a:r>
              <a:rPr lang="en-US" altLang="en-US" smtClean="0">
                <a:ea typeface="ＭＳ Ｐゴシック" pitchFamily="34" charset="-128"/>
              </a:rPr>
              <a:t>Boyle</a:t>
            </a:r>
            <a:r>
              <a:rPr lang="ja-JP" altLang="en-US" smtClean="0">
                <a:ea typeface="ＭＳ Ｐゴシック" pitchFamily="34" charset="-128"/>
              </a:rPr>
              <a:t>’</a:t>
            </a:r>
            <a:r>
              <a:rPr lang="en-US" altLang="ja-JP" smtClean="0">
                <a:ea typeface="ＭＳ Ｐゴシック" pitchFamily="34" charset="-128"/>
              </a:rPr>
              <a:t>s law </a:t>
            </a:r>
            <a:r>
              <a:rPr lang="en-US" altLang="ja-JP" sz="2000" smtClean="0">
                <a:ea typeface="ＭＳ Ｐゴシック" pitchFamily="34" charset="-128"/>
              </a:rPr>
              <a:t>(relating volume and pressure)</a:t>
            </a:r>
          </a:p>
          <a:p>
            <a:pPr lvl="1">
              <a:spcBef>
                <a:spcPct val="25000"/>
              </a:spcBef>
            </a:pPr>
            <a:r>
              <a:rPr lang="en-US" altLang="en-US" smtClean="0">
                <a:ea typeface="ＭＳ Ｐゴシック" pitchFamily="34" charset="-128"/>
              </a:rPr>
              <a:t>Charles</a:t>
            </a:r>
            <a:r>
              <a:rPr lang="ja-JP" altLang="en-US" smtClean="0">
                <a:ea typeface="ＭＳ Ｐゴシック" pitchFamily="34" charset="-128"/>
              </a:rPr>
              <a:t>’</a:t>
            </a:r>
            <a:r>
              <a:rPr lang="en-US" altLang="ja-JP" smtClean="0">
                <a:ea typeface="ＭＳ Ｐゴシック" pitchFamily="34" charset="-128"/>
              </a:rPr>
              <a:t>s law </a:t>
            </a:r>
            <a:r>
              <a:rPr lang="en-US" altLang="ja-JP" sz="2000" smtClean="0">
                <a:ea typeface="ＭＳ Ｐゴシック" pitchFamily="34" charset="-128"/>
              </a:rPr>
              <a:t>(relating volume and temperature)</a:t>
            </a:r>
          </a:p>
          <a:p>
            <a:pPr lvl="1">
              <a:spcBef>
                <a:spcPct val="25000"/>
              </a:spcBef>
            </a:pPr>
            <a:r>
              <a:rPr lang="en-US" altLang="en-US" smtClean="0">
                <a:ea typeface="ＭＳ Ｐゴシック" pitchFamily="34" charset="-128"/>
              </a:rPr>
              <a:t>Avogadro</a:t>
            </a:r>
            <a:r>
              <a:rPr lang="ja-JP" altLang="en-US" smtClean="0">
                <a:ea typeface="ＭＳ Ｐゴシック" pitchFamily="34" charset="-128"/>
              </a:rPr>
              <a:t>’</a:t>
            </a:r>
            <a:r>
              <a:rPr lang="en-US" altLang="ja-JP" smtClean="0">
                <a:ea typeface="ＭＳ Ｐゴシック" pitchFamily="34" charset="-128"/>
              </a:rPr>
              <a:t>s law </a:t>
            </a:r>
            <a:r>
              <a:rPr lang="en-US" altLang="ja-JP" sz="2000" smtClean="0">
                <a:ea typeface="ＭＳ Ｐゴシック" pitchFamily="34" charset="-128"/>
              </a:rPr>
              <a:t>(relating volume to the number of moles) </a:t>
            </a:r>
          </a:p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en-US" smtClean="0">
                <a:ea typeface="ＭＳ Ｐゴシック" pitchFamily="34" charset="-128"/>
              </a:rPr>
              <a:t>     gives the Ideal Gas Law:</a:t>
            </a:r>
          </a:p>
        </p:txBody>
      </p:sp>
      <p:sp>
        <p:nvSpPr>
          <p:cNvPr id="116739" name="Text Box 3"/>
          <p:cNvSpPr txBox="1">
            <a:spLocks noChangeArrowheads="1"/>
          </p:cNvSpPr>
          <p:nvPr/>
        </p:nvSpPr>
        <p:spPr bwMode="auto">
          <a:xfrm>
            <a:off x="1736725" y="501650"/>
            <a:ext cx="184150" cy="641350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l">
              <a:defRPr/>
            </a:pPr>
            <a:endParaRPr lang="en-US" sz="3600" b="1" u="sng">
              <a:solidFill>
                <a:srgbClr val="800080"/>
              </a:solidFill>
              <a:ea typeface="+mn-ea"/>
            </a:endParaRPr>
          </a:p>
        </p:txBody>
      </p:sp>
      <p:sp>
        <p:nvSpPr>
          <p:cNvPr id="31747" name="Rectangle 10"/>
          <p:cNvSpPr>
            <a:spLocks noChangeArrowheads="1"/>
          </p:cNvSpPr>
          <p:nvPr/>
        </p:nvSpPr>
        <p:spPr bwMode="auto">
          <a:xfrm rot="-5400000">
            <a:off x="-2590800" y="2895600"/>
            <a:ext cx="61722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1pPr>
            <a:lvl2pPr marL="742950" indent="-28575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2pPr>
            <a:lvl3pPr marL="11430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3pPr>
            <a:lvl4pPr marL="16002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4pPr>
            <a:lvl5pPr marL="20574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9pPr>
          </a:lstStyle>
          <a:p>
            <a:r>
              <a:rPr lang="en-US" altLang="en-US">
                <a:solidFill>
                  <a:schemeClr val="bg2"/>
                </a:solidFill>
              </a:rPr>
              <a:t>5.1 The Gaseous State</a:t>
            </a:r>
          </a:p>
        </p:txBody>
      </p:sp>
      <p:sp>
        <p:nvSpPr>
          <p:cNvPr id="31748" name="Rectangle 12"/>
          <p:cNvSpPr>
            <a:spLocks noGrp="1" noChangeArrowheads="1"/>
          </p:cNvSpPr>
          <p:nvPr>
            <p:ph type="title"/>
          </p:nvPr>
        </p:nvSpPr>
        <p:spPr>
          <a:xfrm>
            <a:off x="1066800" y="152400"/>
            <a:ext cx="7772400" cy="1143000"/>
          </a:xfrm>
        </p:spPr>
        <p:txBody>
          <a:bodyPr/>
          <a:lstStyle/>
          <a:p>
            <a:r>
              <a:rPr lang="en-US" altLang="en-US" smtClean="0">
                <a:ea typeface="ＭＳ Ｐゴシック" pitchFamily="34" charset="-128"/>
              </a:rPr>
              <a:t>The Ideal Gas Law</a:t>
            </a:r>
          </a:p>
        </p:txBody>
      </p:sp>
      <p:grpSp>
        <p:nvGrpSpPr>
          <p:cNvPr id="31749" name="Group 9"/>
          <p:cNvGrpSpPr>
            <a:grpSpLocks/>
          </p:cNvGrpSpPr>
          <p:nvPr/>
        </p:nvGrpSpPr>
        <p:grpSpPr bwMode="auto">
          <a:xfrm>
            <a:off x="8077200" y="1295400"/>
            <a:ext cx="762000" cy="523875"/>
            <a:chOff x="3962400" y="5791200"/>
            <a:chExt cx="762000" cy="523220"/>
          </a:xfrm>
        </p:grpSpPr>
        <p:sp>
          <p:nvSpPr>
            <p:cNvPr id="31751" name="TextBox 6"/>
            <p:cNvSpPr txBox="1">
              <a:spLocks noChangeArrowheads="1"/>
            </p:cNvSpPr>
            <p:nvPr/>
          </p:nvSpPr>
          <p:spPr bwMode="auto">
            <a:xfrm>
              <a:off x="3962400" y="5791200"/>
              <a:ext cx="685800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1pPr>
              <a:lvl2pPr marL="742950" indent="-28575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2pPr>
              <a:lvl3pPr marL="1143000" indent="-22860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3pPr>
              <a:lvl4pPr marL="1600200" indent="-22860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4pPr>
              <a:lvl5pPr marL="2057400" indent="-22860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9pPr>
            </a:lstStyle>
            <a:p>
              <a:r>
                <a:rPr lang="en-US" altLang="en-US" sz="2800" dirty="0" smtClean="0">
                  <a:solidFill>
                    <a:schemeClr val="accent2"/>
                  </a:solidFill>
                  <a:latin typeface="Arial Black" pitchFamily="34" charset="0"/>
                </a:rPr>
                <a:t>4</a:t>
              </a:r>
              <a:endParaRPr lang="en-US" altLang="en-US" sz="2800" dirty="0">
                <a:solidFill>
                  <a:schemeClr val="accent2"/>
                </a:solidFill>
                <a:latin typeface="Arial Black" pitchFamily="34" charset="0"/>
              </a:endParaRPr>
            </a:p>
          </p:txBody>
        </p:sp>
        <p:sp>
          <p:nvSpPr>
            <p:cNvPr id="31752" name="Isosceles Triangle 8"/>
            <p:cNvSpPr>
              <a:spLocks noChangeArrowheads="1"/>
            </p:cNvSpPr>
            <p:nvPr/>
          </p:nvSpPr>
          <p:spPr bwMode="auto">
            <a:xfrm rot="5400000">
              <a:off x="4533900" y="5927108"/>
              <a:ext cx="152400" cy="228600"/>
            </a:xfrm>
            <a:prstGeom prst="triangle">
              <a:avLst>
                <a:gd name="adj" fmla="val 50000"/>
              </a:avLst>
            </a:prstGeom>
            <a:solidFill>
              <a:srgbClr val="F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1pPr>
              <a:lvl2pPr marL="742950" indent="-28575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2pPr>
              <a:lvl3pPr marL="1143000" indent="-22860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3pPr>
              <a:lvl4pPr marL="1600200" indent="-22860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4pPr>
              <a:lvl5pPr marL="2057400" indent="-22860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9pPr>
            </a:lstStyle>
            <a:p>
              <a:endParaRPr lang="en-IN" altLang="en-US"/>
            </a:p>
          </p:txBody>
        </p:sp>
      </p:grpSp>
      <p:sp>
        <p:nvSpPr>
          <p:cNvPr id="10" name="Rounded Rectangle 9"/>
          <p:cNvSpPr>
            <a:spLocks noChangeArrowheads="1"/>
          </p:cNvSpPr>
          <p:nvPr/>
        </p:nvSpPr>
        <p:spPr bwMode="auto">
          <a:xfrm>
            <a:off x="3733800" y="4876800"/>
            <a:ext cx="2286000" cy="914400"/>
          </a:xfrm>
          <a:prstGeom prst="roundRect">
            <a:avLst>
              <a:gd name="adj" fmla="val 16667"/>
            </a:avLst>
          </a:prstGeom>
          <a:solidFill>
            <a:srgbClr val="408000"/>
          </a:solidFill>
          <a:ln>
            <a:noFill/>
          </a:ln>
          <a:effectLst>
            <a:outerShdw blurRad="50800" dist="38100" dir="2700000" algn="tl" rotWithShape="0">
              <a:srgbClr val="808080">
                <a:alpha val="39999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 anchorCtr="1"/>
          <a:lstStyle/>
          <a:p>
            <a:pPr>
              <a:defRPr/>
            </a:pPr>
            <a:r>
              <a:rPr lang="en-US" sz="3600" i="1" dirty="0">
                <a:solidFill>
                  <a:schemeClr val="accent5"/>
                </a:solidFill>
                <a:ea typeface="ＭＳ Ｐゴシック" charset="0"/>
              </a:rPr>
              <a:t>PV = </a:t>
            </a:r>
            <a:r>
              <a:rPr lang="en-US" sz="3600" i="1" dirty="0" err="1">
                <a:solidFill>
                  <a:schemeClr val="accent5"/>
                </a:solidFill>
                <a:ea typeface="ＭＳ Ｐゴシック" charset="0"/>
              </a:rPr>
              <a:t>nRT</a:t>
            </a:r>
            <a:endParaRPr lang="en-US" sz="3600" i="1" dirty="0">
              <a:solidFill>
                <a:schemeClr val="accent5"/>
              </a:solidFill>
              <a:ea typeface="ＭＳ Ｐゴシック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13"/>
          <p:cNvSpPr>
            <a:spLocks noGrp="1" noChangeArrowheads="1"/>
          </p:cNvSpPr>
          <p:nvPr>
            <p:ph type="body" idx="1"/>
          </p:nvPr>
        </p:nvSpPr>
        <p:spPr>
          <a:xfrm>
            <a:off x="1295400" y="2667000"/>
            <a:ext cx="7848600" cy="2514600"/>
          </a:xfrm>
        </p:spPr>
        <p:txBody>
          <a:bodyPr/>
          <a:lstStyle/>
          <a:p>
            <a:pPr>
              <a:spcBef>
                <a:spcPct val="50000"/>
              </a:spcBef>
            </a:pPr>
            <a:r>
              <a:rPr lang="en-US" altLang="en-US" i="1" dirty="0" smtClean="0">
                <a:ea typeface="ＭＳ Ｐゴシック" pitchFamily="34" charset="-128"/>
              </a:rPr>
              <a:t>R</a:t>
            </a:r>
            <a:r>
              <a:rPr lang="en-US" altLang="en-US" dirty="0" smtClean="0">
                <a:ea typeface="ＭＳ Ｐゴシック" pitchFamily="34" charset="-128"/>
              </a:rPr>
              <a:t> is a constant called the </a:t>
            </a:r>
            <a:r>
              <a:rPr lang="en-US" altLang="en-US" i="1" dirty="0" smtClean="0">
                <a:ea typeface="ＭＳ Ｐゴシック" pitchFamily="34" charset="-128"/>
              </a:rPr>
              <a:t>ideal gas constant</a:t>
            </a:r>
            <a:br>
              <a:rPr lang="en-US" altLang="en-US" i="1" dirty="0" smtClean="0">
                <a:ea typeface="ＭＳ Ｐゴシック" pitchFamily="34" charset="-128"/>
              </a:rPr>
            </a:br>
            <a:endParaRPr lang="en-US" altLang="en-US" i="1" dirty="0" smtClean="0">
              <a:ea typeface="ＭＳ Ｐゴシック" pitchFamily="34" charset="-128"/>
            </a:endParaRPr>
          </a:p>
          <a:p>
            <a:r>
              <a:rPr lang="en-US" altLang="en-US" b="1" i="1" dirty="0" smtClean="0">
                <a:ea typeface="ＭＳ Ｐゴシック" pitchFamily="34" charset="-128"/>
              </a:rPr>
              <a:t>R</a:t>
            </a:r>
            <a:r>
              <a:rPr lang="en-US" altLang="en-US" b="1" dirty="0" smtClean="0">
                <a:ea typeface="ＭＳ Ｐゴシック" pitchFamily="34" charset="-128"/>
              </a:rPr>
              <a:t> = 0.0821 </a:t>
            </a:r>
            <a:r>
              <a:rPr lang="en-US" altLang="en-US" b="1" dirty="0" err="1" smtClean="0">
                <a:ea typeface="ＭＳ Ｐゴシック" pitchFamily="34" charset="-128"/>
              </a:rPr>
              <a:t>L</a:t>
            </a:r>
            <a:r>
              <a:rPr lang="en-US" altLang="en-US" b="1" baseline="30000" dirty="0" err="1" smtClean="0">
                <a:ea typeface="ＭＳ Ｐゴシック" pitchFamily="34" charset="-128"/>
              </a:rPr>
              <a:t>.</a:t>
            </a:r>
            <a:r>
              <a:rPr lang="en-US" altLang="en-US" b="1" dirty="0" err="1" smtClean="0">
                <a:ea typeface="ＭＳ Ｐゴシック" pitchFamily="34" charset="-128"/>
              </a:rPr>
              <a:t>Atm</a:t>
            </a:r>
            <a:r>
              <a:rPr lang="en-US" altLang="en-US" b="1" dirty="0" smtClean="0">
                <a:ea typeface="ＭＳ Ｐゴシック" pitchFamily="34" charset="-128"/>
              </a:rPr>
              <a:t>/</a:t>
            </a:r>
            <a:r>
              <a:rPr lang="en-US" altLang="en-US" b="1" dirty="0" err="1" smtClean="0">
                <a:ea typeface="ＭＳ Ｐゴシック" pitchFamily="34" charset="-128"/>
              </a:rPr>
              <a:t>mol</a:t>
            </a:r>
            <a:r>
              <a:rPr lang="en-US" altLang="en-US" b="1" baseline="30000" dirty="0" err="1" smtClean="0">
                <a:ea typeface="ＭＳ Ｐゴシック" pitchFamily="34" charset="-128"/>
              </a:rPr>
              <a:t>.</a:t>
            </a:r>
            <a:r>
              <a:rPr lang="en-US" altLang="en-US" b="1" dirty="0" err="1" smtClean="0">
                <a:ea typeface="ＭＳ Ｐゴシック" pitchFamily="34" charset="-128"/>
              </a:rPr>
              <a:t>K</a:t>
            </a:r>
            <a:r>
              <a:rPr lang="en-US" altLang="en-US" dirty="0" smtClean="0">
                <a:ea typeface="ＭＳ Ｐゴシック" pitchFamily="34" charset="-128"/>
              </a:rPr>
              <a:t/>
            </a:r>
            <a:br>
              <a:rPr lang="en-US" altLang="en-US" dirty="0" smtClean="0">
                <a:ea typeface="ＭＳ Ｐゴシック" pitchFamily="34" charset="-128"/>
              </a:rPr>
            </a:br>
            <a:endParaRPr lang="en-US" altLang="en-US" dirty="0" smtClean="0">
              <a:ea typeface="ＭＳ Ｐゴシック" pitchFamily="34" charset="-128"/>
            </a:endParaRPr>
          </a:p>
          <a:p>
            <a:pPr>
              <a:buFontTx/>
              <a:buNone/>
            </a:pPr>
            <a:r>
              <a:rPr lang="en-US" altLang="en-US" sz="3000" dirty="0" smtClean="0">
                <a:ea typeface="ＭＳ Ｐゴシック" pitchFamily="34" charset="-128"/>
              </a:rPr>
              <a:t>If units are </a:t>
            </a:r>
            <a:r>
              <a:rPr lang="en-US" altLang="en-US" sz="3000" i="1" dirty="0" smtClean="0">
                <a:ea typeface="ＭＳ Ｐゴシック" pitchFamily="34" charset="-128"/>
              </a:rPr>
              <a:t>P</a:t>
            </a:r>
            <a:r>
              <a:rPr lang="en-US" altLang="en-US" sz="3000" dirty="0" smtClean="0">
                <a:ea typeface="ＭＳ Ｐゴシック" pitchFamily="34" charset="-128"/>
              </a:rPr>
              <a:t> in </a:t>
            </a:r>
            <a:r>
              <a:rPr lang="en-US" altLang="en-US" sz="3000" dirty="0" err="1" smtClean="0">
                <a:ea typeface="ＭＳ Ｐゴシック" pitchFamily="34" charset="-128"/>
              </a:rPr>
              <a:t>atm</a:t>
            </a:r>
            <a:r>
              <a:rPr lang="en-US" altLang="en-US" sz="3000" dirty="0" smtClean="0">
                <a:ea typeface="ＭＳ Ｐゴシック" pitchFamily="34" charset="-128"/>
              </a:rPr>
              <a:t>, </a:t>
            </a:r>
            <a:r>
              <a:rPr lang="en-US" altLang="en-US" sz="3000" i="1" dirty="0" smtClean="0">
                <a:ea typeface="ＭＳ Ｐゴシック" pitchFamily="34" charset="-128"/>
              </a:rPr>
              <a:t>V</a:t>
            </a:r>
            <a:r>
              <a:rPr lang="en-US" altLang="en-US" sz="3000" dirty="0" smtClean="0">
                <a:ea typeface="ＭＳ Ｐゴシック" pitchFamily="34" charset="-128"/>
              </a:rPr>
              <a:t> in L, </a:t>
            </a:r>
            <a:r>
              <a:rPr lang="en-US" altLang="en-US" sz="3000" i="1" dirty="0" smtClean="0">
                <a:ea typeface="ＭＳ Ｐゴシック" pitchFamily="34" charset="-128"/>
              </a:rPr>
              <a:t>n</a:t>
            </a:r>
            <a:r>
              <a:rPr lang="en-US" altLang="en-US" sz="3000" dirty="0" smtClean="0">
                <a:ea typeface="ＭＳ Ｐゴシック" pitchFamily="34" charset="-128"/>
              </a:rPr>
              <a:t> in number of moles, </a:t>
            </a:r>
            <a:r>
              <a:rPr lang="en-US" altLang="en-US" sz="3000" i="1" dirty="0" smtClean="0">
                <a:ea typeface="ＭＳ Ｐゴシック" pitchFamily="34" charset="-128"/>
              </a:rPr>
              <a:t>T</a:t>
            </a:r>
            <a:r>
              <a:rPr lang="en-US" altLang="en-US" sz="3000" dirty="0" smtClean="0">
                <a:ea typeface="ＭＳ Ｐゴシック" pitchFamily="34" charset="-128"/>
              </a:rPr>
              <a:t> in K</a:t>
            </a:r>
          </a:p>
        </p:txBody>
      </p:sp>
      <p:sp>
        <p:nvSpPr>
          <p:cNvPr id="116739" name="Text Box 3"/>
          <p:cNvSpPr txBox="1">
            <a:spLocks noChangeArrowheads="1"/>
          </p:cNvSpPr>
          <p:nvPr/>
        </p:nvSpPr>
        <p:spPr bwMode="auto">
          <a:xfrm>
            <a:off x="1736725" y="501650"/>
            <a:ext cx="184150" cy="641350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l">
              <a:defRPr/>
            </a:pPr>
            <a:endParaRPr lang="en-US" sz="3600" b="1" u="sng">
              <a:solidFill>
                <a:srgbClr val="800080"/>
              </a:solidFill>
              <a:ea typeface="+mn-ea"/>
            </a:endParaRPr>
          </a:p>
        </p:txBody>
      </p:sp>
      <p:sp>
        <p:nvSpPr>
          <p:cNvPr id="32771" name="Rectangle 10"/>
          <p:cNvSpPr>
            <a:spLocks noChangeArrowheads="1"/>
          </p:cNvSpPr>
          <p:nvPr/>
        </p:nvSpPr>
        <p:spPr bwMode="auto">
          <a:xfrm rot="-5400000">
            <a:off x="-2590800" y="2895600"/>
            <a:ext cx="61722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1pPr>
            <a:lvl2pPr marL="742950" indent="-28575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2pPr>
            <a:lvl3pPr marL="11430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3pPr>
            <a:lvl4pPr marL="16002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4pPr>
            <a:lvl5pPr marL="20574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9pPr>
          </a:lstStyle>
          <a:p>
            <a:r>
              <a:rPr lang="en-US" altLang="en-US">
                <a:solidFill>
                  <a:schemeClr val="bg2"/>
                </a:solidFill>
              </a:rPr>
              <a:t>5.1 The Gaseous State</a:t>
            </a:r>
          </a:p>
        </p:txBody>
      </p:sp>
      <p:sp>
        <p:nvSpPr>
          <p:cNvPr id="32772" name="Rectangle 12"/>
          <p:cNvSpPr>
            <a:spLocks noGrp="1" noChangeArrowheads="1"/>
          </p:cNvSpPr>
          <p:nvPr>
            <p:ph type="title"/>
          </p:nvPr>
        </p:nvSpPr>
        <p:spPr>
          <a:xfrm>
            <a:off x="1066800" y="152400"/>
            <a:ext cx="7772400" cy="1143000"/>
          </a:xfrm>
        </p:spPr>
        <p:txBody>
          <a:bodyPr/>
          <a:lstStyle/>
          <a:p>
            <a:r>
              <a:rPr lang="en-US" altLang="en-US" dirty="0" smtClean="0">
                <a:ea typeface="ＭＳ Ｐゴシック" pitchFamily="34" charset="-128"/>
              </a:rPr>
              <a:t>The Ideal Gas Law and Constant</a:t>
            </a:r>
          </a:p>
        </p:txBody>
      </p:sp>
      <p:grpSp>
        <p:nvGrpSpPr>
          <p:cNvPr id="32773" name="Group 9"/>
          <p:cNvGrpSpPr>
            <a:grpSpLocks/>
          </p:cNvGrpSpPr>
          <p:nvPr/>
        </p:nvGrpSpPr>
        <p:grpSpPr bwMode="auto">
          <a:xfrm>
            <a:off x="8077200" y="1295400"/>
            <a:ext cx="762000" cy="523875"/>
            <a:chOff x="3962400" y="5791200"/>
            <a:chExt cx="762000" cy="523220"/>
          </a:xfrm>
        </p:grpSpPr>
        <p:sp>
          <p:nvSpPr>
            <p:cNvPr id="32775" name="TextBox 6"/>
            <p:cNvSpPr txBox="1">
              <a:spLocks noChangeArrowheads="1"/>
            </p:cNvSpPr>
            <p:nvPr/>
          </p:nvSpPr>
          <p:spPr bwMode="auto">
            <a:xfrm>
              <a:off x="3962400" y="5791200"/>
              <a:ext cx="685800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1pPr>
              <a:lvl2pPr marL="742950" indent="-28575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2pPr>
              <a:lvl3pPr marL="1143000" indent="-22860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3pPr>
              <a:lvl4pPr marL="1600200" indent="-22860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4pPr>
              <a:lvl5pPr marL="2057400" indent="-22860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9pPr>
            </a:lstStyle>
            <a:p>
              <a:r>
                <a:rPr lang="en-US" altLang="en-US" sz="2800">
                  <a:solidFill>
                    <a:schemeClr val="accent2"/>
                  </a:solidFill>
                  <a:latin typeface="Arial Black" pitchFamily="34" charset="0"/>
                </a:rPr>
                <a:t>3</a:t>
              </a:r>
            </a:p>
          </p:txBody>
        </p:sp>
        <p:sp>
          <p:nvSpPr>
            <p:cNvPr id="32776" name="Isosceles Triangle 8"/>
            <p:cNvSpPr>
              <a:spLocks noChangeArrowheads="1"/>
            </p:cNvSpPr>
            <p:nvPr/>
          </p:nvSpPr>
          <p:spPr bwMode="auto">
            <a:xfrm rot="5400000">
              <a:off x="4533900" y="5927108"/>
              <a:ext cx="152400" cy="228600"/>
            </a:xfrm>
            <a:prstGeom prst="triangle">
              <a:avLst>
                <a:gd name="adj" fmla="val 50000"/>
              </a:avLst>
            </a:prstGeom>
            <a:solidFill>
              <a:srgbClr val="F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1pPr>
              <a:lvl2pPr marL="742950" indent="-28575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2pPr>
              <a:lvl3pPr marL="1143000" indent="-22860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3pPr>
              <a:lvl4pPr marL="1600200" indent="-22860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4pPr>
              <a:lvl5pPr marL="2057400" indent="-22860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9pPr>
            </a:lstStyle>
            <a:p>
              <a:endParaRPr lang="en-IN" altLang="en-US"/>
            </a:p>
          </p:txBody>
        </p:sp>
      </p:grpSp>
      <p:sp>
        <p:nvSpPr>
          <p:cNvPr id="10" name="Rounded Rectangle 9"/>
          <p:cNvSpPr>
            <a:spLocks noChangeArrowheads="1"/>
          </p:cNvSpPr>
          <p:nvPr/>
        </p:nvSpPr>
        <p:spPr bwMode="auto">
          <a:xfrm>
            <a:off x="3810000" y="1447800"/>
            <a:ext cx="2286000" cy="914400"/>
          </a:xfrm>
          <a:prstGeom prst="roundRect">
            <a:avLst>
              <a:gd name="adj" fmla="val 16667"/>
            </a:avLst>
          </a:prstGeom>
          <a:solidFill>
            <a:srgbClr val="408000"/>
          </a:solidFill>
          <a:ln>
            <a:noFill/>
          </a:ln>
          <a:effectLst>
            <a:outerShdw blurRad="50800" dist="38100" dir="2700000" algn="tl" rotWithShape="0">
              <a:srgbClr val="808080">
                <a:alpha val="39999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 anchorCtr="1"/>
          <a:lstStyle/>
          <a:p>
            <a:pPr>
              <a:defRPr/>
            </a:pPr>
            <a:r>
              <a:rPr lang="en-US" sz="3600" i="1" dirty="0">
                <a:solidFill>
                  <a:schemeClr val="accent5"/>
                </a:solidFill>
                <a:ea typeface="ＭＳ Ｐゴシック" charset="0"/>
              </a:rPr>
              <a:t>PV = </a:t>
            </a:r>
            <a:r>
              <a:rPr lang="en-US" sz="3600" i="1" dirty="0" err="1">
                <a:solidFill>
                  <a:schemeClr val="accent5"/>
                </a:solidFill>
                <a:ea typeface="ＭＳ Ｐゴシック" charset="0"/>
              </a:rPr>
              <a:t>nRT</a:t>
            </a:r>
            <a:endParaRPr lang="en-US" sz="3600" i="1" dirty="0">
              <a:solidFill>
                <a:schemeClr val="accent5"/>
              </a:solidFill>
              <a:ea typeface="ＭＳ Ｐゴシック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Text Box 3"/>
          <p:cNvSpPr txBox="1">
            <a:spLocks noChangeArrowheads="1"/>
          </p:cNvSpPr>
          <p:nvPr/>
        </p:nvSpPr>
        <p:spPr bwMode="auto">
          <a:xfrm>
            <a:off x="1447800" y="1219200"/>
            <a:ext cx="7391400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39725" indent="-339725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1pPr>
            <a:lvl2pPr marL="742950" indent="-28575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2pPr>
            <a:lvl3pPr marL="11430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3pPr>
            <a:lvl4pPr marL="16002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4pPr>
            <a:lvl5pPr marL="20574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9pPr>
          </a:lstStyle>
          <a:p>
            <a:pPr algn="l">
              <a:spcBef>
                <a:spcPct val="50000"/>
              </a:spcBef>
            </a:pPr>
            <a:endParaRPr lang="en-US" altLang="en-US" sz="3200">
              <a:solidFill>
                <a:schemeClr val="tx1"/>
              </a:solidFill>
            </a:endParaRPr>
          </a:p>
          <a:p>
            <a:pPr>
              <a:spcBef>
                <a:spcPct val="50000"/>
              </a:spcBef>
            </a:pPr>
            <a:endParaRPr lang="en-US" altLang="en-US" sz="3200">
              <a:solidFill>
                <a:schemeClr val="tx1"/>
              </a:solidFill>
            </a:endParaRPr>
          </a:p>
        </p:txBody>
      </p:sp>
      <p:sp>
        <p:nvSpPr>
          <p:cNvPr id="33794" name="Rectangle 8"/>
          <p:cNvSpPr>
            <a:spLocks noChangeArrowheads="1"/>
          </p:cNvSpPr>
          <p:nvPr/>
        </p:nvSpPr>
        <p:spPr bwMode="auto">
          <a:xfrm rot="-5400000">
            <a:off x="-2590800" y="2895600"/>
            <a:ext cx="61722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1pPr>
            <a:lvl2pPr marL="742950" indent="-28575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2pPr>
            <a:lvl3pPr marL="11430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3pPr>
            <a:lvl4pPr marL="16002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4pPr>
            <a:lvl5pPr marL="20574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9pPr>
          </a:lstStyle>
          <a:p>
            <a:r>
              <a:rPr lang="en-US" altLang="en-US">
                <a:solidFill>
                  <a:schemeClr val="bg2"/>
                </a:solidFill>
              </a:rPr>
              <a:t>5.1 The Gaseous State</a:t>
            </a:r>
          </a:p>
        </p:txBody>
      </p:sp>
      <p:sp>
        <p:nvSpPr>
          <p:cNvPr id="33795" name="Rectangle 10"/>
          <p:cNvSpPr>
            <a:spLocks noGrp="1" noChangeArrowheads="1"/>
          </p:cNvSpPr>
          <p:nvPr>
            <p:ph type="title"/>
          </p:nvPr>
        </p:nvSpPr>
        <p:spPr>
          <a:xfrm>
            <a:off x="1066800" y="228600"/>
            <a:ext cx="7772400" cy="838200"/>
          </a:xfrm>
        </p:spPr>
        <p:txBody>
          <a:bodyPr/>
          <a:lstStyle/>
          <a:p>
            <a:r>
              <a:rPr lang="en-US" altLang="en-US" smtClean="0">
                <a:ea typeface="ＭＳ Ｐゴシック" pitchFamily="34" charset="-128"/>
              </a:rPr>
              <a:t>Calculating a Molar Volume</a:t>
            </a:r>
          </a:p>
        </p:txBody>
      </p:sp>
      <p:sp>
        <p:nvSpPr>
          <p:cNvPr id="33796" name="Rectangle 11"/>
          <p:cNvSpPr>
            <a:spLocks noGrp="1" noChangeArrowheads="1"/>
          </p:cNvSpPr>
          <p:nvPr>
            <p:ph type="body" idx="1"/>
          </p:nvPr>
        </p:nvSpPr>
        <p:spPr>
          <a:xfrm>
            <a:off x="1524000" y="1447800"/>
            <a:ext cx="7086600" cy="1066800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altLang="en-US" smtClean="0">
                <a:ea typeface="ＭＳ Ｐゴシック" pitchFamily="34" charset="-128"/>
              </a:rPr>
              <a:t>Demonstrate molar volume of O</a:t>
            </a:r>
            <a:r>
              <a:rPr lang="en-US" altLang="en-US" baseline="-25000" smtClean="0">
                <a:ea typeface="ＭＳ Ｐゴシック" pitchFamily="34" charset="-128"/>
              </a:rPr>
              <a:t>2</a:t>
            </a:r>
            <a:r>
              <a:rPr lang="en-US" altLang="en-US" smtClean="0">
                <a:ea typeface="ＭＳ Ｐゴシック" pitchFamily="34" charset="-128"/>
              </a:rPr>
              <a:t> gas </a:t>
            </a:r>
          </a:p>
          <a:p>
            <a:pPr>
              <a:lnSpc>
                <a:spcPct val="90000"/>
              </a:lnSpc>
              <a:spcBef>
                <a:spcPts val="63"/>
              </a:spcBef>
              <a:buFontTx/>
              <a:buNone/>
            </a:pPr>
            <a:r>
              <a:rPr lang="en-US" altLang="en-US" smtClean="0">
                <a:ea typeface="ＭＳ Ｐゴシック" pitchFamily="34" charset="-128"/>
              </a:rPr>
              <a:t>	at STP:</a:t>
            </a:r>
          </a:p>
        </p:txBody>
      </p:sp>
      <p:grpSp>
        <p:nvGrpSpPr>
          <p:cNvPr id="33797" name="Group 9"/>
          <p:cNvGrpSpPr>
            <a:grpSpLocks/>
          </p:cNvGrpSpPr>
          <p:nvPr/>
        </p:nvGrpSpPr>
        <p:grpSpPr bwMode="auto">
          <a:xfrm>
            <a:off x="8077200" y="1295400"/>
            <a:ext cx="762000" cy="523875"/>
            <a:chOff x="3962400" y="5791200"/>
            <a:chExt cx="762000" cy="523220"/>
          </a:xfrm>
        </p:grpSpPr>
        <p:sp>
          <p:nvSpPr>
            <p:cNvPr id="33802" name="TextBox 6"/>
            <p:cNvSpPr txBox="1">
              <a:spLocks noChangeArrowheads="1"/>
            </p:cNvSpPr>
            <p:nvPr/>
          </p:nvSpPr>
          <p:spPr bwMode="auto">
            <a:xfrm>
              <a:off x="3962400" y="5791200"/>
              <a:ext cx="685800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1pPr>
              <a:lvl2pPr marL="742950" indent="-28575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2pPr>
              <a:lvl3pPr marL="1143000" indent="-22860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3pPr>
              <a:lvl4pPr marL="1600200" indent="-22860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4pPr>
              <a:lvl5pPr marL="2057400" indent="-22860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9pPr>
            </a:lstStyle>
            <a:p>
              <a:r>
                <a:rPr lang="en-US" altLang="en-US" sz="2800" dirty="0">
                  <a:solidFill>
                    <a:schemeClr val="accent2"/>
                  </a:solidFill>
                  <a:latin typeface="Arial Black" pitchFamily="34" charset="0"/>
                </a:rPr>
                <a:t>4</a:t>
              </a:r>
            </a:p>
          </p:txBody>
        </p:sp>
        <p:sp>
          <p:nvSpPr>
            <p:cNvPr id="33803" name="Isosceles Triangle 8"/>
            <p:cNvSpPr>
              <a:spLocks noChangeArrowheads="1"/>
            </p:cNvSpPr>
            <p:nvPr/>
          </p:nvSpPr>
          <p:spPr bwMode="auto">
            <a:xfrm rot="5400000">
              <a:off x="4533900" y="5927108"/>
              <a:ext cx="152400" cy="228600"/>
            </a:xfrm>
            <a:prstGeom prst="triangle">
              <a:avLst>
                <a:gd name="adj" fmla="val 50000"/>
              </a:avLst>
            </a:prstGeom>
            <a:solidFill>
              <a:srgbClr val="F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1pPr>
              <a:lvl2pPr marL="742950" indent="-28575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2pPr>
              <a:lvl3pPr marL="1143000" indent="-22860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3pPr>
              <a:lvl4pPr marL="1600200" indent="-22860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4pPr>
              <a:lvl5pPr marL="2057400" indent="-22860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9pPr>
            </a:lstStyle>
            <a:p>
              <a:endParaRPr lang="en-IN" altLang="en-US"/>
            </a:p>
          </p:txBody>
        </p:sp>
      </p:grpSp>
      <p:sp>
        <p:nvSpPr>
          <p:cNvPr id="33798" name="TextBox 1"/>
          <p:cNvSpPr txBox="1">
            <a:spLocks noChangeArrowheads="1"/>
          </p:cNvSpPr>
          <p:nvPr/>
        </p:nvSpPr>
        <p:spPr bwMode="auto">
          <a:xfrm>
            <a:off x="3810000" y="2590800"/>
            <a:ext cx="183673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1pPr>
            <a:lvl2pPr marL="742950" indent="-28575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2pPr>
            <a:lvl3pPr marL="11430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3pPr>
            <a:lvl4pPr marL="16002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4pPr>
            <a:lvl5pPr marL="20574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9pPr>
          </a:lstStyle>
          <a:p>
            <a:pPr algn="l"/>
            <a:r>
              <a:rPr lang="en-US" altLang="en-US" sz="3200" i="1" dirty="0">
                <a:solidFill>
                  <a:srgbClr val="003ABC"/>
                </a:solidFill>
              </a:rPr>
              <a:t>PV = </a:t>
            </a:r>
            <a:r>
              <a:rPr lang="en-US" altLang="en-US" sz="3200" i="1" dirty="0" err="1">
                <a:solidFill>
                  <a:srgbClr val="003ABC"/>
                </a:solidFill>
              </a:rPr>
              <a:t>nRT</a:t>
            </a:r>
            <a:endParaRPr lang="en-US" altLang="en-US" sz="3200" i="1" dirty="0">
              <a:solidFill>
                <a:srgbClr val="003ABC"/>
              </a:solidFill>
            </a:endParaRPr>
          </a:p>
        </p:txBody>
      </p:sp>
      <p:sp>
        <p:nvSpPr>
          <p:cNvPr id="33799" name="TextBox 3"/>
          <p:cNvSpPr txBox="1">
            <a:spLocks noChangeArrowheads="1"/>
          </p:cNvSpPr>
          <p:nvPr/>
        </p:nvSpPr>
        <p:spPr bwMode="auto">
          <a:xfrm>
            <a:off x="1447800" y="3448050"/>
            <a:ext cx="7239000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1pPr>
            <a:lvl2pPr marL="742950" indent="-28575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2pPr>
            <a:lvl3pPr marL="11430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3pPr>
            <a:lvl4pPr marL="16002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4pPr>
            <a:lvl5pPr marL="20574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9pPr>
          </a:lstStyle>
          <a:p>
            <a:pPr algn="l"/>
            <a:r>
              <a:rPr lang="en-US" altLang="en-US" sz="3200" dirty="0">
                <a:solidFill>
                  <a:srgbClr val="003ABC"/>
                </a:solidFill>
              </a:rPr>
              <a:t>(1 </a:t>
            </a:r>
            <a:r>
              <a:rPr lang="en-US" altLang="en-US" sz="3200" dirty="0" err="1">
                <a:solidFill>
                  <a:srgbClr val="003ABC"/>
                </a:solidFill>
              </a:rPr>
              <a:t>atm</a:t>
            </a:r>
            <a:r>
              <a:rPr lang="en-US" altLang="en-US" sz="3200" dirty="0">
                <a:solidFill>
                  <a:srgbClr val="003ABC"/>
                </a:solidFill>
              </a:rPr>
              <a:t>) </a:t>
            </a:r>
            <a:r>
              <a:rPr lang="en-US" altLang="en-US" sz="3200" i="1" dirty="0">
                <a:solidFill>
                  <a:srgbClr val="003ABC"/>
                </a:solidFill>
              </a:rPr>
              <a:t>V</a:t>
            </a:r>
            <a:r>
              <a:rPr lang="en-US" altLang="en-US" sz="3200" dirty="0">
                <a:solidFill>
                  <a:srgbClr val="003ABC"/>
                </a:solidFill>
              </a:rPr>
              <a:t> = (1 </a:t>
            </a:r>
            <a:r>
              <a:rPr lang="en-US" altLang="en-US" sz="3200" dirty="0" err="1">
                <a:solidFill>
                  <a:srgbClr val="003ABC"/>
                </a:solidFill>
              </a:rPr>
              <a:t>mol</a:t>
            </a:r>
            <a:r>
              <a:rPr lang="en-US" altLang="en-US" sz="3200" dirty="0">
                <a:solidFill>
                  <a:srgbClr val="003ABC"/>
                </a:solidFill>
              </a:rPr>
              <a:t>) (0.0821          )(273 K)</a:t>
            </a:r>
          </a:p>
        </p:txBody>
      </p:sp>
      <p:sp>
        <p:nvSpPr>
          <p:cNvPr id="33800" name="TextBox 4"/>
          <p:cNvSpPr txBox="1">
            <a:spLocks noChangeArrowheads="1"/>
          </p:cNvSpPr>
          <p:nvPr/>
        </p:nvSpPr>
        <p:spPr bwMode="auto">
          <a:xfrm>
            <a:off x="6059488" y="3436938"/>
            <a:ext cx="1027112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1pPr>
            <a:lvl2pPr marL="742950" indent="-28575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2pPr>
            <a:lvl3pPr marL="11430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3pPr>
            <a:lvl4pPr marL="16002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4pPr>
            <a:lvl5pPr marL="20574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9pPr>
          </a:lstStyle>
          <a:p>
            <a:r>
              <a:rPr lang="en-US" altLang="en-US" sz="2400" u="sng" dirty="0" err="1">
                <a:solidFill>
                  <a:srgbClr val="003ABC"/>
                </a:solidFill>
              </a:rPr>
              <a:t>L</a:t>
            </a:r>
            <a:r>
              <a:rPr lang="en-US" altLang="en-US" sz="2400" u="sng" dirty="0" err="1">
                <a:solidFill>
                  <a:srgbClr val="003ABC"/>
                </a:solidFill>
                <a:latin typeface="Wingdings" pitchFamily="50" charset="0"/>
                <a:sym typeface="Wingdings" pitchFamily="50" charset="0"/>
              </a:rPr>
              <a:t></a:t>
            </a:r>
            <a:r>
              <a:rPr lang="en-US" altLang="en-US" sz="2400" u="sng" dirty="0" err="1">
                <a:solidFill>
                  <a:srgbClr val="003ABC"/>
                </a:solidFill>
                <a:sym typeface="Wingdings" pitchFamily="50" charset="0"/>
              </a:rPr>
              <a:t>atm</a:t>
            </a:r>
            <a:endParaRPr lang="en-US" altLang="en-US" sz="2400" u="sng" dirty="0">
              <a:solidFill>
                <a:srgbClr val="003ABC"/>
              </a:solidFill>
              <a:sym typeface="Wingdings" pitchFamily="50" charset="0"/>
            </a:endParaRPr>
          </a:p>
          <a:p>
            <a:r>
              <a:rPr lang="en-US" altLang="en-US" sz="2400" dirty="0" err="1">
                <a:solidFill>
                  <a:srgbClr val="003ABC"/>
                </a:solidFill>
                <a:sym typeface="Wingdings" pitchFamily="50" charset="0"/>
              </a:rPr>
              <a:t>mol</a:t>
            </a:r>
            <a:r>
              <a:rPr lang="en-US" altLang="en-US" sz="2400" dirty="0" err="1">
                <a:solidFill>
                  <a:srgbClr val="003ABC"/>
                </a:solidFill>
                <a:latin typeface="Wingdings" pitchFamily="50" charset="0"/>
                <a:sym typeface="Wingdings" pitchFamily="50" charset="0"/>
              </a:rPr>
              <a:t></a:t>
            </a:r>
            <a:r>
              <a:rPr lang="en-US" altLang="en-US" sz="2400" dirty="0" err="1">
                <a:solidFill>
                  <a:srgbClr val="003ABC"/>
                </a:solidFill>
                <a:sym typeface="Wingdings" pitchFamily="50" charset="0"/>
              </a:rPr>
              <a:t>K</a:t>
            </a:r>
            <a:endParaRPr lang="en-US" altLang="en-US" sz="2400" dirty="0">
              <a:solidFill>
                <a:srgbClr val="003ABC"/>
              </a:solidFill>
              <a:cs typeface="Times New Roman" pitchFamily="18" charset="0"/>
            </a:endParaRPr>
          </a:p>
        </p:txBody>
      </p:sp>
      <p:sp>
        <p:nvSpPr>
          <p:cNvPr id="33801" name="TextBox 5"/>
          <p:cNvSpPr txBox="1">
            <a:spLocks noChangeArrowheads="1"/>
          </p:cNvSpPr>
          <p:nvPr/>
        </p:nvSpPr>
        <p:spPr bwMode="auto">
          <a:xfrm>
            <a:off x="3886200" y="4800600"/>
            <a:ext cx="196691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1pPr>
            <a:lvl2pPr marL="742950" indent="-28575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2pPr>
            <a:lvl3pPr marL="11430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3pPr>
            <a:lvl4pPr marL="16002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4pPr>
            <a:lvl5pPr marL="20574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9pPr>
          </a:lstStyle>
          <a:p>
            <a:r>
              <a:rPr lang="en-US" altLang="en-US" sz="3200" i="1" dirty="0">
                <a:solidFill>
                  <a:srgbClr val="003ABC"/>
                </a:solidFill>
              </a:rPr>
              <a:t>V</a:t>
            </a:r>
            <a:r>
              <a:rPr lang="en-US" altLang="en-US" sz="3200" dirty="0">
                <a:solidFill>
                  <a:srgbClr val="003ABC"/>
                </a:solidFill>
              </a:rPr>
              <a:t> = 22.4 L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6"/>
          <p:cNvSpPr>
            <a:spLocks noChangeArrowheads="1"/>
          </p:cNvSpPr>
          <p:nvPr/>
        </p:nvSpPr>
        <p:spPr bwMode="auto">
          <a:xfrm rot="-5400000">
            <a:off x="-2590800" y="2895600"/>
            <a:ext cx="61722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1pPr>
            <a:lvl2pPr marL="742950" indent="-28575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2pPr>
            <a:lvl3pPr marL="11430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3pPr>
            <a:lvl4pPr marL="16002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4pPr>
            <a:lvl5pPr marL="20574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9pPr>
          </a:lstStyle>
          <a:p>
            <a:r>
              <a:rPr lang="en-US" altLang="en-US">
                <a:solidFill>
                  <a:schemeClr val="bg2"/>
                </a:solidFill>
              </a:rPr>
              <a:t>5.1 The Gaseous State</a:t>
            </a:r>
          </a:p>
        </p:txBody>
      </p:sp>
      <p:sp>
        <p:nvSpPr>
          <p:cNvPr id="34818" name="Rectangle 7"/>
          <p:cNvSpPr>
            <a:spLocks noGrp="1" noChangeArrowheads="1"/>
          </p:cNvSpPr>
          <p:nvPr>
            <p:ph type="title"/>
          </p:nvPr>
        </p:nvSpPr>
        <p:spPr>
          <a:xfrm>
            <a:off x="1143000" y="228600"/>
            <a:ext cx="7772400" cy="1143000"/>
          </a:xfrm>
        </p:spPr>
        <p:txBody>
          <a:bodyPr/>
          <a:lstStyle/>
          <a:p>
            <a:r>
              <a:rPr lang="en-US" altLang="en-US" smtClean="0">
                <a:ea typeface="ＭＳ Ｐゴシック" pitchFamily="34" charset="-128"/>
              </a:rPr>
              <a:t>Practice Using the Ideal Gas Law</a:t>
            </a:r>
          </a:p>
        </p:txBody>
      </p:sp>
      <p:sp>
        <p:nvSpPr>
          <p:cNvPr id="34819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1524000" y="1447800"/>
            <a:ext cx="7391400" cy="4724400"/>
          </a:xfrm>
        </p:spPr>
        <p:txBody>
          <a:bodyPr/>
          <a:lstStyle/>
          <a:p>
            <a:pPr marL="609600" indent="-609600">
              <a:spcBef>
                <a:spcPct val="50000"/>
              </a:spcBef>
              <a:buFontTx/>
              <a:buAutoNum type="arabicPeriod"/>
            </a:pPr>
            <a:r>
              <a:rPr lang="en-US" altLang="en-US" smtClean="0">
                <a:ea typeface="ＭＳ Ｐゴシック" pitchFamily="34" charset="-128"/>
              </a:rPr>
              <a:t>What is the volume of gas occupied by 5.0 g CH</a:t>
            </a:r>
            <a:r>
              <a:rPr lang="en-US" altLang="en-US" baseline="-25000" smtClean="0">
                <a:ea typeface="ＭＳ Ｐゴシック" pitchFamily="34" charset="-128"/>
              </a:rPr>
              <a:t>4</a:t>
            </a:r>
            <a:r>
              <a:rPr lang="en-US" altLang="en-US" smtClean="0">
                <a:ea typeface="ＭＳ Ｐゴシック" pitchFamily="34" charset="-128"/>
              </a:rPr>
              <a:t> at 25</a:t>
            </a:r>
            <a:r>
              <a:rPr lang="en-US" altLang="en-US" baseline="30000" smtClean="0">
                <a:ea typeface="ＭＳ Ｐゴシック" pitchFamily="34" charset="-128"/>
              </a:rPr>
              <a:t>o</a:t>
            </a:r>
            <a:r>
              <a:rPr lang="en-US" altLang="en-US" smtClean="0">
                <a:ea typeface="ＭＳ Ｐゴシック" pitchFamily="34" charset="-128"/>
              </a:rPr>
              <a:t>C and 1 atm?</a:t>
            </a:r>
          </a:p>
          <a:p>
            <a:pPr marL="609600" indent="-609600">
              <a:spcBef>
                <a:spcPct val="50000"/>
              </a:spcBef>
              <a:buFontTx/>
              <a:buNone/>
            </a:pPr>
            <a:endParaRPr lang="en-US" altLang="en-US" smtClean="0">
              <a:ea typeface="ＭＳ Ｐゴシック" pitchFamily="34" charset="-128"/>
            </a:endParaRPr>
          </a:p>
          <a:p>
            <a:pPr marL="609600" indent="-609600">
              <a:spcBef>
                <a:spcPct val="50000"/>
              </a:spcBef>
              <a:buFontTx/>
              <a:buAutoNum type="arabicPeriod" startAt="2"/>
            </a:pPr>
            <a:r>
              <a:rPr lang="en-US" altLang="en-US" smtClean="0">
                <a:ea typeface="ＭＳ Ｐゴシック" pitchFamily="34" charset="-128"/>
              </a:rPr>
              <a:t>What is the mass of N</a:t>
            </a:r>
            <a:r>
              <a:rPr lang="en-US" altLang="en-US" baseline="-25000" smtClean="0">
                <a:ea typeface="ＭＳ Ｐゴシック" pitchFamily="34" charset="-128"/>
              </a:rPr>
              <a:t>2</a:t>
            </a:r>
            <a:r>
              <a:rPr lang="en-US" altLang="en-US" smtClean="0">
                <a:ea typeface="ＭＳ Ｐゴシック" pitchFamily="34" charset="-128"/>
              </a:rPr>
              <a:t> required to occupy 3.0 L at 100</a:t>
            </a:r>
            <a:r>
              <a:rPr lang="en-US" altLang="en-US" baseline="30000" smtClean="0">
                <a:ea typeface="ＭＳ Ｐゴシック" pitchFamily="34" charset="-128"/>
              </a:rPr>
              <a:t>o</a:t>
            </a:r>
            <a:r>
              <a:rPr lang="en-US" altLang="en-US" smtClean="0">
                <a:ea typeface="ＭＳ Ｐゴシック" pitchFamily="34" charset="-128"/>
              </a:rPr>
              <a:t>C and 700 mmHg?</a:t>
            </a:r>
          </a:p>
          <a:p>
            <a:pPr marL="609600" indent="-609600"/>
            <a:endParaRPr lang="en-US" altLang="en-US" smtClean="0">
              <a:ea typeface="ＭＳ Ｐゴシック" pitchFamily="34" charset="-128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13"/>
          <p:cNvSpPr>
            <a:spLocks noGrp="1" noChangeArrowheads="1"/>
          </p:cNvSpPr>
          <p:nvPr>
            <p:ph type="body" idx="1"/>
          </p:nvPr>
        </p:nvSpPr>
        <p:spPr>
          <a:xfrm>
            <a:off x="838200" y="1905000"/>
            <a:ext cx="7772400" cy="2057400"/>
          </a:xfrm>
        </p:spPr>
        <p:txBody>
          <a:bodyPr/>
          <a:lstStyle/>
          <a:p>
            <a:pPr>
              <a:spcBef>
                <a:spcPct val="50000"/>
              </a:spcBef>
              <a:buClrTx/>
            </a:pPr>
            <a:r>
              <a:rPr lang="en-US" altLang="en-US" smtClean="0">
                <a:solidFill>
                  <a:schemeClr val="accent2"/>
                </a:solidFill>
                <a:ea typeface="ＭＳ Ｐゴシック" pitchFamily="34" charset="-128"/>
              </a:rPr>
              <a:t>Dalton</a:t>
            </a:r>
            <a:r>
              <a:rPr lang="ja-JP" altLang="en-US" smtClean="0">
                <a:solidFill>
                  <a:schemeClr val="accent2"/>
                </a:solidFill>
                <a:ea typeface="ＭＳ Ｐゴシック" pitchFamily="34" charset="-128"/>
              </a:rPr>
              <a:t>’</a:t>
            </a:r>
            <a:r>
              <a:rPr lang="en-US" altLang="ja-JP" smtClean="0">
                <a:solidFill>
                  <a:schemeClr val="accent2"/>
                </a:solidFill>
                <a:ea typeface="ＭＳ Ｐゴシック" pitchFamily="34" charset="-128"/>
              </a:rPr>
              <a:t>s law</a:t>
            </a:r>
            <a:r>
              <a:rPr lang="en-US" altLang="ja-JP" smtClean="0">
                <a:ea typeface="ＭＳ Ｐゴシック" pitchFamily="34" charset="-128"/>
              </a:rPr>
              <a:t> – a </a:t>
            </a:r>
            <a:r>
              <a:rPr lang="en-US" altLang="ja-JP" i="1" smtClean="0">
                <a:ea typeface="ＭＳ Ｐゴシック" pitchFamily="34" charset="-128"/>
              </a:rPr>
              <a:t>mixture</a:t>
            </a:r>
            <a:r>
              <a:rPr lang="en-US" altLang="ja-JP" smtClean="0">
                <a:ea typeface="ＭＳ Ｐゴシック" pitchFamily="34" charset="-128"/>
              </a:rPr>
              <a:t> of gases exerts a pressure that is the </a:t>
            </a:r>
            <a:r>
              <a:rPr lang="en-US" altLang="ja-JP" i="1" smtClean="0">
                <a:ea typeface="ＭＳ Ｐゴシック" pitchFamily="34" charset="-128"/>
              </a:rPr>
              <a:t>sum</a:t>
            </a:r>
            <a:r>
              <a:rPr lang="en-US" altLang="ja-JP" smtClean="0">
                <a:ea typeface="ＭＳ Ｐゴシック" pitchFamily="34" charset="-128"/>
              </a:rPr>
              <a:t> of the pressures that each gas would exert if it were present alone under the same conditions</a:t>
            </a:r>
          </a:p>
          <a:p>
            <a:pPr>
              <a:spcBef>
                <a:spcPct val="50000"/>
              </a:spcBef>
              <a:buClrTx/>
              <a:buFontTx/>
              <a:buNone/>
            </a:pPr>
            <a:endParaRPr lang="en-US" altLang="en-US" smtClean="0">
              <a:ea typeface="ＭＳ Ｐゴシック" pitchFamily="34" charset="-128"/>
            </a:endParaRPr>
          </a:p>
        </p:txBody>
      </p:sp>
      <p:sp>
        <p:nvSpPr>
          <p:cNvPr id="35842" name="Rectangle 10"/>
          <p:cNvSpPr>
            <a:spLocks noChangeArrowheads="1"/>
          </p:cNvSpPr>
          <p:nvPr/>
        </p:nvSpPr>
        <p:spPr bwMode="auto">
          <a:xfrm rot="-5400000">
            <a:off x="-2590800" y="2895600"/>
            <a:ext cx="61722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1pPr>
            <a:lvl2pPr marL="742950" indent="-28575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2pPr>
            <a:lvl3pPr marL="11430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3pPr>
            <a:lvl4pPr marL="16002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4pPr>
            <a:lvl5pPr marL="20574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9pPr>
          </a:lstStyle>
          <a:p>
            <a:r>
              <a:rPr lang="en-US" altLang="en-US">
                <a:solidFill>
                  <a:schemeClr val="bg2"/>
                </a:solidFill>
              </a:rPr>
              <a:t>5.1 The Gaseous State</a:t>
            </a:r>
          </a:p>
        </p:txBody>
      </p:sp>
      <p:sp>
        <p:nvSpPr>
          <p:cNvPr id="35843" name="Rectangle 12"/>
          <p:cNvSpPr>
            <a:spLocks noGrp="1" noChangeArrowheads="1"/>
          </p:cNvSpPr>
          <p:nvPr>
            <p:ph type="title"/>
          </p:nvPr>
        </p:nvSpPr>
        <p:spPr>
          <a:xfrm>
            <a:off x="1066800" y="762000"/>
            <a:ext cx="7772400" cy="762000"/>
          </a:xfrm>
        </p:spPr>
        <p:txBody>
          <a:bodyPr/>
          <a:lstStyle/>
          <a:p>
            <a:r>
              <a:rPr lang="en-US" altLang="en-US" smtClean="0">
                <a:ea typeface="ＭＳ Ｐゴシック" pitchFamily="34" charset="-128"/>
              </a:rPr>
              <a:t>Dalton</a:t>
            </a:r>
            <a:r>
              <a:rPr lang="ja-JP" altLang="en-US" smtClean="0">
                <a:ea typeface="ＭＳ Ｐゴシック" pitchFamily="34" charset="-128"/>
              </a:rPr>
              <a:t>’</a:t>
            </a:r>
            <a:r>
              <a:rPr lang="en-US" altLang="ja-JP" smtClean="0">
                <a:ea typeface="ＭＳ Ｐゴシック" pitchFamily="34" charset="-128"/>
              </a:rPr>
              <a:t>s Law of Partial Pressures</a:t>
            </a:r>
            <a:r>
              <a:rPr lang="en-US" altLang="ja-JP" sz="3200" b="1" smtClean="0">
                <a:ea typeface="ＭＳ Ｐゴシック" pitchFamily="34" charset="-128"/>
              </a:rPr>
              <a:t/>
            </a:r>
            <a:br>
              <a:rPr lang="en-US" altLang="ja-JP" sz="3200" b="1" smtClean="0">
                <a:ea typeface="ＭＳ Ｐゴシック" pitchFamily="34" charset="-128"/>
              </a:rPr>
            </a:br>
            <a:endParaRPr lang="en-US" altLang="en-US" sz="3200" b="1" smtClean="0">
              <a:ea typeface="ＭＳ Ｐゴシック" pitchFamily="34" charset="-128"/>
            </a:endParaRPr>
          </a:p>
        </p:txBody>
      </p:sp>
      <p:grpSp>
        <p:nvGrpSpPr>
          <p:cNvPr id="35844" name="Group 9"/>
          <p:cNvGrpSpPr>
            <a:grpSpLocks/>
          </p:cNvGrpSpPr>
          <p:nvPr/>
        </p:nvGrpSpPr>
        <p:grpSpPr bwMode="auto">
          <a:xfrm>
            <a:off x="8077200" y="1295400"/>
            <a:ext cx="762000" cy="523875"/>
            <a:chOff x="3962400" y="5791200"/>
            <a:chExt cx="762000" cy="523220"/>
          </a:xfrm>
        </p:grpSpPr>
        <p:sp>
          <p:nvSpPr>
            <p:cNvPr id="35846" name="TextBox 6"/>
            <p:cNvSpPr txBox="1">
              <a:spLocks noChangeArrowheads="1"/>
            </p:cNvSpPr>
            <p:nvPr/>
          </p:nvSpPr>
          <p:spPr bwMode="auto">
            <a:xfrm>
              <a:off x="3962400" y="5791200"/>
              <a:ext cx="685800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1pPr>
              <a:lvl2pPr marL="742950" indent="-28575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2pPr>
              <a:lvl3pPr marL="1143000" indent="-22860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3pPr>
              <a:lvl4pPr marL="1600200" indent="-22860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4pPr>
              <a:lvl5pPr marL="2057400" indent="-22860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9pPr>
            </a:lstStyle>
            <a:p>
              <a:r>
                <a:rPr lang="en-US" altLang="en-US" sz="2800" dirty="0" smtClean="0">
                  <a:solidFill>
                    <a:schemeClr val="accent2"/>
                  </a:solidFill>
                  <a:latin typeface="Arial Black" pitchFamily="34" charset="0"/>
                </a:rPr>
                <a:t>4</a:t>
              </a:r>
              <a:endParaRPr lang="en-US" altLang="en-US" sz="2800" dirty="0">
                <a:solidFill>
                  <a:schemeClr val="accent2"/>
                </a:solidFill>
                <a:latin typeface="Arial Black" pitchFamily="34" charset="0"/>
              </a:endParaRPr>
            </a:p>
          </p:txBody>
        </p:sp>
        <p:sp>
          <p:nvSpPr>
            <p:cNvPr id="35847" name="Isosceles Triangle 8"/>
            <p:cNvSpPr>
              <a:spLocks noChangeArrowheads="1"/>
            </p:cNvSpPr>
            <p:nvPr/>
          </p:nvSpPr>
          <p:spPr bwMode="auto">
            <a:xfrm rot="5400000">
              <a:off x="4533900" y="5927108"/>
              <a:ext cx="152400" cy="228600"/>
            </a:xfrm>
            <a:prstGeom prst="triangle">
              <a:avLst>
                <a:gd name="adj" fmla="val 50000"/>
              </a:avLst>
            </a:prstGeom>
            <a:solidFill>
              <a:srgbClr val="F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1pPr>
              <a:lvl2pPr marL="742950" indent="-28575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2pPr>
              <a:lvl3pPr marL="1143000" indent="-22860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3pPr>
              <a:lvl4pPr marL="1600200" indent="-22860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4pPr>
              <a:lvl5pPr marL="2057400" indent="-22860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9pPr>
            </a:lstStyle>
            <a:p>
              <a:endParaRPr lang="en-IN" altLang="en-US"/>
            </a:p>
          </p:txBody>
        </p:sp>
      </p:grpSp>
      <p:sp>
        <p:nvSpPr>
          <p:cNvPr id="10" name="Rounded Rectangle 9"/>
          <p:cNvSpPr>
            <a:spLocks noChangeArrowheads="1"/>
          </p:cNvSpPr>
          <p:nvPr/>
        </p:nvSpPr>
        <p:spPr bwMode="auto">
          <a:xfrm>
            <a:off x="2667000" y="4572000"/>
            <a:ext cx="4572000" cy="914400"/>
          </a:xfrm>
          <a:prstGeom prst="roundRect">
            <a:avLst>
              <a:gd name="adj" fmla="val 16667"/>
            </a:avLst>
          </a:prstGeom>
          <a:solidFill>
            <a:srgbClr val="408000"/>
          </a:solidFill>
          <a:ln>
            <a:noFill/>
          </a:ln>
          <a:effectLst>
            <a:outerShdw blurRad="50800" dist="38100" dir="2700000" algn="tl" rotWithShape="0">
              <a:srgbClr val="808080">
                <a:alpha val="39999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 anchorCtr="1"/>
          <a:lstStyle>
            <a:lvl1pPr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1pPr>
            <a:lvl2pPr marL="742950" indent="-28575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2pPr>
            <a:lvl3pPr marL="11430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3pPr>
            <a:lvl4pPr marL="16002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4pPr>
            <a:lvl5pPr marL="20574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9pPr>
          </a:lstStyle>
          <a:p>
            <a:r>
              <a:rPr lang="en-US" altLang="en-US" sz="3600" i="1" dirty="0">
                <a:solidFill>
                  <a:srgbClr val="E9F7FF"/>
                </a:solidFill>
              </a:rPr>
              <a:t>P</a:t>
            </a:r>
            <a:r>
              <a:rPr lang="en-US" altLang="en-US" sz="3600" i="1" baseline="-25000" dirty="0">
                <a:solidFill>
                  <a:srgbClr val="E9F7FF"/>
                </a:solidFill>
              </a:rPr>
              <a:t>t</a:t>
            </a:r>
            <a:r>
              <a:rPr lang="en-US" altLang="en-US" sz="3600" i="1" dirty="0">
                <a:solidFill>
                  <a:srgbClr val="E9F7FF"/>
                </a:solidFill>
              </a:rPr>
              <a:t> = p</a:t>
            </a:r>
            <a:r>
              <a:rPr lang="en-US" altLang="en-US" sz="3600" i="1" baseline="-25000" dirty="0">
                <a:solidFill>
                  <a:srgbClr val="E9F7FF"/>
                </a:solidFill>
              </a:rPr>
              <a:t>1</a:t>
            </a:r>
            <a:r>
              <a:rPr lang="en-US" altLang="en-US" sz="3600" i="1" dirty="0">
                <a:solidFill>
                  <a:srgbClr val="E9F7FF"/>
                </a:solidFill>
              </a:rPr>
              <a:t> + p</a:t>
            </a:r>
            <a:r>
              <a:rPr lang="en-US" altLang="en-US" sz="3600" i="1" baseline="-25000" dirty="0">
                <a:solidFill>
                  <a:srgbClr val="E9F7FF"/>
                </a:solidFill>
              </a:rPr>
              <a:t>2</a:t>
            </a:r>
            <a:r>
              <a:rPr lang="en-US" altLang="en-US" sz="3600" i="1" dirty="0">
                <a:solidFill>
                  <a:srgbClr val="E9F7FF"/>
                </a:solidFill>
              </a:rPr>
              <a:t> + p</a:t>
            </a:r>
            <a:r>
              <a:rPr lang="en-US" altLang="en-US" sz="3600" i="1" baseline="-25000" dirty="0">
                <a:solidFill>
                  <a:srgbClr val="E9F7FF"/>
                </a:solidFill>
              </a:rPr>
              <a:t>3</a:t>
            </a:r>
            <a:r>
              <a:rPr lang="en-US" altLang="en-US" sz="3600" i="1" dirty="0">
                <a:solidFill>
                  <a:srgbClr val="E9F7FF"/>
                </a:solidFill>
              </a:rPr>
              <a:t> + …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13"/>
          <p:cNvSpPr>
            <a:spLocks noGrp="1" noChangeArrowheads="1"/>
          </p:cNvSpPr>
          <p:nvPr>
            <p:ph type="body" idx="1"/>
          </p:nvPr>
        </p:nvSpPr>
        <p:spPr>
          <a:xfrm>
            <a:off x="838200" y="1371600"/>
            <a:ext cx="7772400" cy="4572000"/>
          </a:xfrm>
        </p:spPr>
        <p:txBody>
          <a:bodyPr/>
          <a:lstStyle/>
          <a:p>
            <a:pPr marL="0" indent="0">
              <a:spcBef>
                <a:spcPct val="50000"/>
              </a:spcBef>
              <a:buClrTx/>
              <a:buFontTx/>
              <a:buNone/>
              <a:defRPr/>
            </a:pPr>
            <a:endParaRPr lang="en-US" dirty="0"/>
          </a:p>
          <a:p>
            <a:pPr>
              <a:defRPr/>
            </a:pPr>
            <a:r>
              <a:rPr lang="en-US" dirty="0"/>
              <a:t>Total pressure of our atmosphere is equal to the sum of the pressures of N</a:t>
            </a:r>
            <a:r>
              <a:rPr lang="en-US" baseline="-25000" dirty="0"/>
              <a:t>2</a:t>
            </a:r>
            <a:r>
              <a:rPr lang="en-US" dirty="0"/>
              <a:t> and O</a:t>
            </a:r>
            <a:r>
              <a:rPr lang="en-US" baseline="-25000" dirty="0"/>
              <a:t>2</a:t>
            </a:r>
            <a:r>
              <a:rPr lang="en-US" dirty="0"/>
              <a:t> </a:t>
            </a:r>
          </a:p>
          <a:p>
            <a:pPr lvl="1">
              <a:defRPr/>
            </a:pPr>
            <a:r>
              <a:rPr lang="en-US" dirty="0"/>
              <a:t>(principal components of air)</a:t>
            </a:r>
          </a:p>
        </p:txBody>
      </p:sp>
      <p:sp>
        <p:nvSpPr>
          <p:cNvPr id="36866" name="Rectangle 10"/>
          <p:cNvSpPr>
            <a:spLocks noChangeArrowheads="1"/>
          </p:cNvSpPr>
          <p:nvPr/>
        </p:nvSpPr>
        <p:spPr bwMode="auto">
          <a:xfrm rot="-5400000">
            <a:off x="-2590800" y="2895600"/>
            <a:ext cx="61722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1pPr>
            <a:lvl2pPr marL="742950" indent="-28575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2pPr>
            <a:lvl3pPr marL="11430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3pPr>
            <a:lvl4pPr marL="16002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4pPr>
            <a:lvl5pPr marL="20574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9pPr>
          </a:lstStyle>
          <a:p>
            <a:r>
              <a:rPr lang="en-US" altLang="en-US">
                <a:solidFill>
                  <a:schemeClr val="bg2"/>
                </a:solidFill>
              </a:rPr>
              <a:t>5.1 The Gaseous State</a:t>
            </a:r>
          </a:p>
        </p:txBody>
      </p:sp>
      <p:sp>
        <p:nvSpPr>
          <p:cNvPr id="36867" name="Rectangle 12"/>
          <p:cNvSpPr>
            <a:spLocks noGrp="1" noChangeArrowheads="1"/>
          </p:cNvSpPr>
          <p:nvPr>
            <p:ph type="title"/>
          </p:nvPr>
        </p:nvSpPr>
        <p:spPr>
          <a:xfrm>
            <a:off x="1066800" y="762000"/>
            <a:ext cx="7772400" cy="762000"/>
          </a:xfrm>
        </p:spPr>
        <p:txBody>
          <a:bodyPr/>
          <a:lstStyle/>
          <a:p>
            <a:r>
              <a:rPr lang="en-US" altLang="en-US" dirty="0" smtClean="0">
                <a:ea typeface="ＭＳ Ｐゴシック" pitchFamily="34" charset="-128"/>
              </a:rPr>
              <a:t>Dalton</a:t>
            </a:r>
            <a:r>
              <a:rPr lang="ja-JP" altLang="en-US" dirty="0" smtClean="0">
                <a:ea typeface="ＭＳ Ｐゴシック" pitchFamily="34" charset="-128"/>
              </a:rPr>
              <a:t>’</a:t>
            </a:r>
            <a:r>
              <a:rPr lang="en-US" altLang="ja-JP" dirty="0" smtClean="0">
                <a:ea typeface="ＭＳ Ｐゴシック" pitchFamily="34" charset="-128"/>
              </a:rPr>
              <a:t>s Law of Partial Pressures Equation</a:t>
            </a:r>
            <a:r>
              <a:rPr lang="en-US" altLang="ja-JP" sz="3200" b="1" dirty="0" smtClean="0">
                <a:ea typeface="ＭＳ Ｐゴシック" pitchFamily="34" charset="-128"/>
              </a:rPr>
              <a:t/>
            </a:r>
            <a:br>
              <a:rPr lang="en-US" altLang="ja-JP" sz="3200" b="1" dirty="0" smtClean="0">
                <a:ea typeface="ＭＳ Ｐゴシック" pitchFamily="34" charset="-128"/>
              </a:rPr>
            </a:br>
            <a:endParaRPr lang="en-US" altLang="en-US" sz="3200" b="1" dirty="0" smtClean="0">
              <a:ea typeface="ＭＳ Ｐゴシック" pitchFamily="34" charset="-128"/>
            </a:endParaRPr>
          </a:p>
        </p:txBody>
      </p:sp>
      <p:grpSp>
        <p:nvGrpSpPr>
          <p:cNvPr id="36869" name="Group 2"/>
          <p:cNvGrpSpPr>
            <a:grpSpLocks/>
          </p:cNvGrpSpPr>
          <p:nvPr/>
        </p:nvGrpSpPr>
        <p:grpSpPr bwMode="auto">
          <a:xfrm>
            <a:off x="3048000" y="4114800"/>
            <a:ext cx="3733800" cy="933450"/>
            <a:chOff x="3048000" y="4114800"/>
            <a:chExt cx="3733800" cy="933510"/>
          </a:xfrm>
        </p:grpSpPr>
        <p:sp>
          <p:nvSpPr>
            <p:cNvPr id="10" name="Rounded Rectangle 9"/>
            <p:cNvSpPr>
              <a:spLocks noChangeArrowheads="1"/>
            </p:cNvSpPr>
            <p:nvPr/>
          </p:nvSpPr>
          <p:spPr bwMode="auto">
            <a:xfrm>
              <a:off x="3048000" y="4114800"/>
              <a:ext cx="3733800" cy="914400"/>
            </a:xfrm>
            <a:prstGeom prst="roundRect">
              <a:avLst>
                <a:gd name="adj" fmla="val 16667"/>
              </a:avLst>
            </a:prstGeom>
            <a:solidFill>
              <a:srgbClr val="408000"/>
            </a:solidFill>
            <a:ln>
              <a:noFill/>
            </a:ln>
            <a:effectLst>
              <a:outerShdw blurRad="50800" dist="38100" dir="2700000" algn="tl" rotWithShape="0">
                <a:srgbClr val="808080">
                  <a:alpha val="39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 anchorCtr="1"/>
            <a:lstStyle/>
            <a:p>
              <a:pPr>
                <a:defRPr/>
              </a:pPr>
              <a:r>
                <a:rPr lang="en-US" sz="3600" dirty="0">
                  <a:solidFill>
                    <a:schemeClr val="accent5"/>
                  </a:solidFill>
                  <a:ea typeface="ＭＳ Ｐゴシック" charset="0"/>
                </a:rPr>
                <a:t>P</a:t>
              </a:r>
              <a:r>
                <a:rPr lang="en-US" sz="3600" baseline="-25000" dirty="0">
                  <a:solidFill>
                    <a:schemeClr val="accent5"/>
                  </a:solidFill>
                  <a:ea typeface="ＭＳ Ｐゴシック" charset="0"/>
                </a:rPr>
                <a:t>air</a:t>
              </a:r>
              <a:r>
                <a:rPr lang="en-US" sz="3600" dirty="0">
                  <a:solidFill>
                    <a:schemeClr val="accent5"/>
                  </a:solidFill>
                  <a:ea typeface="ＭＳ Ｐゴシック" charset="0"/>
                </a:rPr>
                <a:t> = </a:t>
              </a:r>
              <a:r>
                <a:rPr lang="en-US" sz="3600" dirty="0" err="1">
                  <a:solidFill>
                    <a:schemeClr val="accent5"/>
                  </a:solidFill>
                  <a:ea typeface="ＭＳ Ｐゴシック" charset="0"/>
                </a:rPr>
                <a:t>p</a:t>
              </a:r>
              <a:r>
                <a:rPr lang="en-US" sz="3600" baseline="-25000" dirty="0" err="1">
                  <a:solidFill>
                    <a:schemeClr val="accent5"/>
                  </a:solidFill>
                  <a:ea typeface="ＭＳ Ｐゴシック" charset="0"/>
                </a:rPr>
                <a:t>N</a:t>
              </a:r>
              <a:r>
                <a:rPr lang="en-US" sz="3600" dirty="0">
                  <a:solidFill>
                    <a:schemeClr val="accent5"/>
                  </a:solidFill>
                  <a:ea typeface="ＭＳ Ｐゴシック" charset="0"/>
                </a:rPr>
                <a:t>  + </a:t>
              </a:r>
              <a:r>
                <a:rPr lang="en-US" sz="3600" dirty="0" err="1">
                  <a:solidFill>
                    <a:schemeClr val="accent5"/>
                  </a:solidFill>
                  <a:ea typeface="ＭＳ Ｐゴシック" charset="0"/>
                </a:rPr>
                <a:t>p</a:t>
              </a:r>
              <a:r>
                <a:rPr lang="en-US" sz="3600" baseline="-25000" dirty="0" err="1">
                  <a:solidFill>
                    <a:schemeClr val="accent5"/>
                  </a:solidFill>
                  <a:ea typeface="ＭＳ Ｐゴシック" charset="0"/>
                </a:rPr>
                <a:t>O</a:t>
              </a:r>
              <a:endParaRPr lang="en-US" sz="3600" dirty="0">
                <a:solidFill>
                  <a:schemeClr val="accent5"/>
                </a:solidFill>
                <a:ea typeface="ＭＳ Ｐゴシック" charset="0"/>
              </a:endParaRPr>
            </a:p>
          </p:txBody>
        </p:sp>
        <p:sp>
          <p:nvSpPr>
            <p:cNvPr id="2" name="TextBox 1"/>
            <p:cNvSpPr txBox="1"/>
            <p:nvPr/>
          </p:nvSpPr>
          <p:spPr bwMode="auto">
            <a:xfrm>
              <a:off x="5043488" y="4648234"/>
              <a:ext cx="312737" cy="4000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000" dirty="0">
                  <a:solidFill>
                    <a:schemeClr val="accent5"/>
                  </a:solidFill>
                  <a:latin typeface="Times New Roman" charset="0"/>
                  <a:ea typeface="ＭＳ Ｐゴシック" charset="0"/>
                  <a:cs typeface="ＭＳ Ｐゴシック" charset="0"/>
                </a:rPr>
                <a:t>2</a:t>
              </a:r>
            </a:p>
          </p:txBody>
        </p:sp>
        <p:sp>
          <p:nvSpPr>
            <p:cNvPr id="12" name="TextBox 11"/>
            <p:cNvSpPr txBox="1"/>
            <p:nvPr/>
          </p:nvSpPr>
          <p:spPr bwMode="auto">
            <a:xfrm>
              <a:off x="6124575" y="4648234"/>
              <a:ext cx="312738" cy="4000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000" dirty="0">
                  <a:solidFill>
                    <a:schemeClr val="accent5"/>
                  </a:solidFill>
                  <a:latin typeface="Times New Roman" charset="0"/>
                  <a:ea typeface="ＭＳ Ｐゴシック" charset="0"/>
                  <a:cs typeface="ＭＳ Ｐゴシック" charset="0"/>
                </a:rPr>
                <a:t>2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Text Box 3"/>
          <p:cNvSpPr txBox="1">
            <a:spLocks noChangeArrowheads="1"/>
          </p:cNvSpPr>
          <p:nvPr/>
        </p:nvSpPr>
        <p:spPr bwMode="auto">
          <a:xfrm>
            <a:off x="1752600" y="685800"/>
            <a:ext cx="70866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1pPr>
            <a:lvl2pPr marL="742950" indent="-28575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2pPr>
            <a:lvl3pPr marL="11430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3pPr>
            <a:lvl4pPr marL="16002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4pPr>
            <a:lvl5pPr marL="20574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9pPr>
          </a:lstStyle>
          <a:p>
            <a:pPr algn="l"/>
            <a:endParaRPr lang="en-IN" altLang="en-US" sz="3200" b="1" u="sng">
              <a:solidFill>
                <a:schemeClr val="tx1"/>
              </a:solidFill>
            </a:endParaRPr>
          </a:p>
        </p:txBody>
      </p:sp>
      <p:sp>
        <p:nvSpPr>
          <p:cNvPr id="37890" name="Rectangle 6"/>
          <p:cNvSpPr>
            <a:spLocks noChangeArrowheads="1"/>
          </p:cNvSpPr>
          <p:nvPr/>
        </p:nvSpPr>
        <p:spPr bwMode="auto">
          <a:xfrm rot="-5400000">
            <a:off x="-2590800" y="2895600"/>
            <a:ext cx="61722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1pPr>
            <a:lvl2pPr marL="742950" indent="-28575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2pPr>
            <a:lvl3pPr marL="11430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3pPr>
            <a:lvl4pPr marL="16002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4pPr>
            <a:lvl5pPr marL="20574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9pPr>
          </a:lstStyle>
          <a:p>
            <a:r>
              <a:rPr lang="en-US" altLang="en-US">
                <a:solidFill>
                  <a:schemeClr val="bg2"/>
                </a:solidFill>
              </a:rPr>
              <a:t>5.1 The Gaseous State</a:t>
            </a:r>
          </a:p>
        </p:txBody>
      </p:sp>
      <p:sp>
        <p:nvSpPr>
          <p:cNvPr id="37891" name="Rectangle 7"/>
          <p:cNvSpPr>
            <a:spLocks noGrp="1" noChangeArrowheads="1"/>
          </p:cNvSpPr>
          <p:nvPr>
            <p:ph type="title"/>
          </p:nvPr>
        </p:nvSpPr>
        <p:spPr>
          <a:xfrm>
            <a:off x="1066800" y="609600"/>
            <a:ext cx="7772400" cy="762000"/>
          </a:xfrm>
        </p:spPr>
        <p:txBody>
          <a:bodyPr/>
          <a:lstStyle/>
          <a:p>
            <a:r>
              <a:rPr lang="en-US" altLang="en-US" smtClean="0">
                <a:ea typeface="ＭＳ Ｐゴシック" pitchFamily="34" charset="-128"/>
              </a:rPr>
              <a:t>Ideal Gases vs. Real Gases</a:t>
            </a:r>
          </a:p>
        </p:txBody>
      </p:sp>
      <p:sp>
        <p:nvSpPr>
          <p:cNvPr id="37892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1143000" y="1828800"/>
            <a:ext cx="7772400" cy="3352800"/>
          </a:xfrm>
        </p:spPr>
        <p:txBody>
          <a:bodyPr/>
          <a:lstStyle/>
          <a:p>
            <a:pPr>
              <a:spcBef>
                <a:spcPct val="25000"/>
              </a:spcBef>
            </a:pPr>
            <a:r>
              <a:rPr lang="en-US" altLang="en-US" smtClean="0">
                <a:ea typeface="ＭＳ Ｐゴシック" pitchFamily="34" charset="-128"/>
              </a:rPr>
              <a:t>In reality there is no such thing as an ideal gas</a:t>
            </a:r>
          </a:p>
          <a:p>
            <a:pPr lvl="1">
              <a:spcBef>
                <a:spcPct val="25000"/>
              </a:spcBef>
            </a:pPr>
            <a:r>
              <a:rPr lang="en-US" altLang="en-US" smtClean="0">
                <a:ea typeface="ＭＳ Ｐゴシック" pitchFamily="34" charset="-128"/>
              </a:rPr>
              <a:t>It is a useful model to explain gas behavior</a:t>
            </a:r>
            <a:br>
              <a:rPr lang="en-US" altLang="en-US" smtClean="0">
                <a:ea typeface="ＭＳ Ｐゴシック" pitchFamily="34" charset="-128"/>
              </a:rPr>
            </a:br>
            <a:endParaRPr lang="en-US" altLang="en-US" smtClean="0">
              <a:ea typeface="ＭＳ Ｐゴシック" pitchFamily="34" charset="-128"/>
            </a:endParaRPr>
          </a:p>
          <a:p>
            <a:pPr>
              <a:spcBef>
                <a:spcPct val="25000"/>
              </a:spcBef>
            </a:pPr>
            <a:r>
              <a:rPr lang="en-US" altLang="en-US" smtClean="0">
                <a:ea typeface="ＭＳ Ｐゴシック" pitchFamily="34" charset="-128"/>
              </a:rPr>
              <a:t>Nonpolar gases behave more ideally than polar gases because attractive forces are present in polar gases</a:t>
            </a:r>
          </a:p>
        </p:txBody>
      </p:sp>
      <p:grpSp>
        <p:nvGrpSpPr>
          <p:cNvPr id="7" name="Group 9"/>
          <p:cNvGrpSpPr>
            <a:grpSpLocks/>
          </p:cNvGrpSpPr>
          <p:nvPr/>
        </p:nvGrpSpPr>
        <p:grpSpPr bwMode="auto">
          <a:xfrm>
            <a:off x="8077200" y="1295400"/>
            <a:ext cx="762000" cy="523875"/>
            <a:chOff x="3962400" y="5791200"/>
            <a:chExt cx="762000" cy="523220"/>
          </a:xfrm>
        </p:grpSpPr>
        <p:sp>
          <p:nvSpPr>
            <p:cNvPr id="8" name="TextBox 6"/>
            <p:cNvSpPr txBox="1">
              <a:spLocks noChangeArrowheads="1"/>
            </p:cNvSpPr>
            <p:nvPr/>
          </p:nvSpPr>
          <p:spPr bwMode="auto">
            <a:xfrm>
              <a:off x="3962400" y="5791200"/>
              <a:ext cx="685800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1pPr>
              <a:lvl2pPr marL="742950" indent="-28575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2pPr>
              <a:lvl3pPr marL="1143000" indent="-22860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3pPr>
              <a:lvl4pPr marL="1600200" indent="-22860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4pPr>
              <a:lvl5pPr marL="2057400" indent="-22860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9pPr>
            </a:lstStyle>
            <a:p>
              <a:r>
                <a:rPr lang="en-US" altLang="en-US" sz="2800" dirty="0" smtClean="0">
                  <a:solidFill>
                    <a:schemeClr val="accent2"/>
                  </a:solidFill>
                  <a:latin typeface="Arial Black" pitchFamily="34" charset="0"/>
                </a:rPr>
                <a:t>7</a:t>
              </a:r>
              <a:endParaRPr lang="en-US" altLang="en-US" sz="2800" dirty="0">
                <a:solidFill>
                  <a:schemeClr val="accent2"/>
                </a:solidFill>
                <a:latin typeface="Arial Black" pitchFamily="34" charset="0"/>
              </a:endParaRPr>
            </a:p>
          </p:txBody>
        </p:sp>
        <p:sp>
          <p:nvSpPr>
            <p:cNvPr id="9" name="Isosceles Triangle 8"/>
            <p:cNvSpPr>
              <a:spLocks noChangeArrowheads="1"/>
            </p:cNvSpPr>
            <p:nvPr/>
          </p:nvSpPr>
          <p:spPr bwMode="auto">
            <a:xfrm rot="5400000">
              <a:off x="4533900" y="5927108"/>
              <a:ext cx="152400" cy="228600"/>
            </a:xfrm>
            <a:prstGeom prst="triangle">
              <a:avLst>
                <a:gd name="adj" fmla="val 50000"/>
              </a:avLst>
            </a:prstGeom>
            <a:solidFill>
              <a:srgbClr val="F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1pPr>
              <a:lvl2pPr marL="742950" indent="-28575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2pPr>
              <a:lvl3pPr marL="1143000" indent="-22860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3pPr>
              <a:lvl4pPr marL="1600200" indent="-22860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4pPr>
              <a:lvl5pPr marL="2057400" indent="-22860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9pPr>
            </a:lstStyle>
            <a:p>
              <a:endParaRPr lang="en-IN" altLang="en-US"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2"/>
          <p:cNvSpPr>
            <a:spLocks noGrp="1" noChangeArrowheads="1"/>
          </p:cNvSpPr>
          <p:nvPr>
            <p:ph type="title"/>
          </p:nvPr>
        </p:nvSpPr>
        <p:spPr>
          <a:xfrm>
            <a:off x="1066800" y="228600"/>
            <a:ext cx="7772400" cy="914400"/>
          </a:xfrm>
        </p:spPr>
        <p:txBody>
          <a:bodyPr/>
          <a:lstStyle/>
          <a:p>
            <a:r>
              <a:rPr lang="en-US" altLang="en-US" smtClean="0">
                <a:ea typeface="ＭＳ Ｐゴシック" pitchFamily="34" charset="-128"/>
              </a:rPr>
              <a:t>5.2 The Liquid State</a:t>
            </a:r>
          </a:p>
        </p:txBody>
      </p:sp>
      <p:sp>
        <p:nvSpPr>
          <p:cNvPr id="3891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66800" y="1371600"/>
            <a:ext cx="7772400" cy="48006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 smtClean="0">
                <a:solidFill>
                  <a:schemeClr val="accent2"/>
                </a:solidFill>
                <a:ea typeface="ＭＳ Ｐゴシック" pitchFamily="34" charset="-128"/>
              </a:rPr>
              <a:t>Compressibility</a:t>
            </a:r>
            <a:r>
              <a:rPr lang="en-US" altLang="en-US" dirty="0" smtClean="0">
                <a:solidFill>
                  <a:srgbClr val="3366FF"/>
                </a:solidFill>
                <a:ea typeface="ＭＳ Ｐゴシック" pitchFamily="34" charset="-128"/>
              </a:rPr>
              <a:t> </a:t>
            </a:r>
            <a:r>
              <a:rPr lang="en-US" altLang="en-US" dirty="0" smtClean="0">
                <a:ea typeface="ＭＳ Ｐゴシック" pitchFamily="34" charset="-128"/>
              </a:rPr>
              <a:t>- liquids are practically incompressible</a:t>
            </a:r>
          </a:p>
          <a:p>
            <a:pPr lvl="1">
              <a:lnSpc>
                <a:spcPct val="90000"/>
              </a:lnSpc>
            </a:pPr>
            <a:r>
              <a:rPr lang="en-US" altLang="en-US" dirty="0" smtClean="0">
                <a:ea typeface="ＭＳ Ｐゴシック" pitchFamily="34" charset="-128"/>
              </a:rPr>
              <a:t>Enables brake fluid to work in your car</a:t>
            </a:r>
          </a:p>
          <a:p>
            <a:pPr>
              <a:lnSpc>
                <a:spcPct val="90000"/>
              </a:lnSpc>
              <a:spcBef>
                <a:spcPts val="1963"/>
              </a:spcBef>
            </a:pPr>
            <a:r>
              <a:rPr lang="en-US" altLang="en-US" dirty="0" smtClean="0">
                <a:solidFill>
                  <a:schemeClr val="accent2"/>
                </a:solidFill>
                <a:ea typeface="ＭＳ Ｐゴシック" pitchFamily="34" charset="-128"/>
              </a:rPr>
              <a:t>Viscosity</a:t>
            </a:r>
            <a:r>
              <a:rPr lang="en-US" altLang="en-US" dirty="0" smtClean="0">
                <a:ea typeface="ＭＳ Ｐゴシック" pitchFamily="34" charset="-128"/>
              </a:rPr>
              <a:t> - a measure of a liquid</a:t>
            </a:r>
            <a:r>
              <a:rPr lang="ja-JP" altLang="en-US" dirty="0" smtClean="0">
                <a:ea typeface="ＭＳ Ｐゴシック" pitchFamily="34" charset="-128"/>
              </a:rPr>
              <a:t>’</a:t>
            </a:r>
            <a:r>
              <a:rPr lang="en-US" altLang="ja-JP" dirty="0" smtClean="0">
                <a:ea typeface="ＭＳ Ｐゴシック" pitchFamily="34" charset="-128"/>
              </a:rPr>
              <a:t>s resistance to flow</a:t>
            </a:r>
          </a:p>
          <a:p>
            <a:pPr lvl="1">
              <a:lnSpc>
                <a:spcPct val="90000"/>
              </a:lnSpc>
            </a:pPr>
            <a:r>
              <a:rPr lang="en-US" altLang="en-US" dirty="0" smtClean="0">
                <a:ea typeface="ＭＳ Ｐゴシック" pitchFamily="34" charset="-128"/>
              </a:rPr>
              <a:t>A function of both attractive forces between molecules and molecular geometry</a:t>
            </a:r>
          </a:p>
          <a:p>
            <a:pPr lvl="1">
              <a:lnSpc>
                <a:spcPct val="90000"/>
              </a:lnSpc>
            </a:pPr>
            <a:r>
              <a:rPr lang="en-US" altLang="en-US" dirty="0" smtClean="0">
                <a:ea typeface="ＭＳ Ｐゴシック" pitchFamily="34" charset="-128"/>
              </a:rPr>
              <a:t>Complex or polar molecules tend to have higher viscosity than simpler or nonpolar molecules</a:t>
            </a:r>
          </a:p>
          <a:p>
            <a:pPr lvl="1">
              <a:lnSpc>
                <a:spcPct val="90000"/>
              </a:lnSpc>
            </a:pPr>
            <a:r>
              <a:rPr lang="en-US" altLang="en-US" dirty="0" smtClean="0">
                <a:ea typeface="ＭＳ Ｐゴシック" pitchFamily="34" charset="-128"/>
              </a:rPr>
              <a:t>Viscosity decreases as temperature increases</a:t>
            </a:r>
          </a:p>
        </p:txBody>
      </p:sp>
      <p:grpSp>
        <p:nvGrpSpPr>
          <p:cNvPr id="38915" name="Group 9"/>
          <p:cNvGrpSpPr>
            <a:grpSpLocks/>
          </p:cNvGrpSpPr>
          <p:nvPr/>
        </p:nvGrpSpPr>
        <p:grpSpPr bwMode="auto">
          <a:xfrm>
            <a:off x="8077200" y="1371600"/>
            <a:ext cx="762000" cy="523875"/>
            <a:chOff x="3962400" y="5791200"/>
            <a:chExt cx="762000" cy="523220"/>
          </a:xfrm>
        </p:grpSpPr>
        <p:sp>
          <p:nvSpPr>
            <p:cNvPr id="38916" name="TextBox 6"/>
            <p:cNvSpPr txBox="1">
              <a:spLocks noChangeArrowheads="1"/>
            </p:cNvSpPr>
            <p:nvPr/>
          </p:nvSpPr>
          <p:spPr bwMode="auto">
            <a:xfrm>
              <a:off x="3962400" y="5791200"/>
              <a:ext cx="685800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1pPr>
              <a:lvl2pPr marL="742950" indent="-28575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2pPr>
              <a:lvl3pPr marL="1143000" indent="-22860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3pPr>
              <a:lvl4pPr marL="1600200" indent="-22860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4pPr>
              <a:lvl5pPr marL="2057400" indent="-22860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9pPr>
            </a:lstStyle>
            <a:p>
              <a:r>
                <a:rPr lang="en-US" altLang="en-US" sz="2800" dirty="0" smtClean="0">
                  <a:solidFill>
                    <a:schemeClr val="accent2"/>
                  </a:solidFill>
                  <a:latin typeface="Arial Black" pitchFamily="34" charset="0"/>
                </a:rPr>
                <a:t>8</a:t>
              </a:r>
              <a:endParaRPr lang="en-US" altLang="en-US" sz="2800" dirty="0">
                <a:solidFill>
                  <a:schemeClr val="accent2"/>
                </a:solidFill>
                <a:latin typeface="Arial Black" pitchFamily="34" charset="0"/>
              </a:endParaRPr>
            </a:p>
          </p:txBody>
        </p:sp>
        <p:sp>
          <p:nvSpPr>
            <p:cNvPr id="38917" name="Isosceles Triangle 8"/>
            <p:cNvSpPr>
              <a:spLocks noChangeArrowheads="1"/>
            </p:cNvSpPr>
            <p:nvPr/>
          </p:nvSpPr>
          <p:spPr bwMode="auto">
            <a:xfrm rot="5400000">
              <a:off x="4533900" y="5927108"/>
              <a:ext cx="152400" cy="228600"/>
            </a:xfrm>
            <a:prstGeom prst="triangle">
              <a:avLst>
                <a:gd name="adj" fmla="val 50000"/>
              </a:avLst>
            </a:prstGeom>
            <a:solidFill>
              <a:srgbClr val="F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1pPr>
              <a:lvl2pPr marL="742950" indent="-28575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2pPr>
              <a:lvl3pPr marL="1143000" indent="-22860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3pPr>
              <a:lvl4pPr marL="1600200" indent="-22860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4pPr>
              <a:lvl5pPr marL="2057400" indent="-22860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9pPr>
            </a:lstStyle>
            <a:p>
              <a:endParaRPr lang="en-IN" altLang="en-US"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2"/>
          <p:cNvSpPr>
            <a:spLocks noChangeArrowheads="1"/>
          </p:cNvSpPr>
          <p:nvPr/>
        </p:nvSpPr>
        <p:spPr bwMode="auto">
          <a:xfrm rot="-5400000">
            <a:off x="-2590800" y="2895600"/>
            <a:ext cx="61722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1pPr>
            <a:lvl2pPr marL="742950" indent="-28575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2pPr>
            <a:lvl3pPr marL="11430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3pPr>
            <a:lvl4pPr marL="16002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4pPr>
            <a:lvl5pPr marL="20574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9pPr>
          </a:lstStyle>
          <a:p>
            <a:r>
              <a:rPr lang="en-US" altLang="en-US">
                <a:solidFill>
                  <a:schemeClr val="bg2"/>
                </a:solidFill>
              </a:rPr>
              <a:t>5.2 The Liquid State</a:t>
            </a:r>
          </a:p>
        </p:txBody>
      </p:sp>
      <p:sp>
        <p:nvSpPr>
          <p:cNvPr id="39938" name="Rectangle 4"/>
          <p:cNvSpPr>
            <a:spLocks noGrp="1" noChangeArrowheads="1"/>
          </p:cNvSpPr>
          <p:nvPr>
            <p:ph type="title"/>
          </p:nvPr>
        </p:nvSpPr>
        <p:spPr>
          <a:xfrm>
            <a:off x="1066800" y="152400"/>
            <a:ext cx="7772400" cy="762000"/>
          </a:xfrm>
        </p:spPr>
        <p:txBody>
          <a:bodyPr/>
          <a:lstStyle/>
          <a:p>
            <a:r>
              <a:rPr lang="en-US" altLang="en-US" smtClean="0">
                <a:ea typeface="ＭＳ Ｐゴシック" pitchFamily="34" charset="-128"/>
              </a:rPr>
              <a:t>Surface Tension</a:t>
            </a:r>
          </a:p>
        </p:txBody>
      </p:sp>
      <p:sp>
        <p:nvSpPr>
          <p:cNvPr id="39939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1066800" y="1066800"/>
            <a:ext cx="7772400" cy="5105400"/>
          </a:xfrm>
        </p:spPr>
        <p:txBody>
          <a:bodyPr/>
          <a:lstStyle/>
          <a:p>
            <a:pPr>
              <a:spcBef>
                <a:spcPct val="50000"/>
              </a:spcBef>
              <a:buClrTx/>
            </a:pPr>
            <a:r>
              <a:rPr lang="en-US" altLang="en-US" smtClean="0">
                <a:solidFill>
                  <a:schemeClr val="accent2"/>
                </a:solidFill>
                <a:ea typeface="ＭＳ Ｐゴシック" pitchFamily="34" charset="-128"/>
              </a:rPr>
              <a:t>Surface tension</a:t>
            </a:r>
            <a:r>
              <a:rPr lang="en-US" altLang="en-US" smtClean="0">
                <a:ea typeface="ＭＳ Ｐゴシック" pitchFamily="34" charset="-128"/>
              </a:rPr>
              <a:t> </a:t>
            </a:r>
            <a:r>
              <a:rPr lang="en-US" altLang="en-US" smtClean="0">
                <a:solidFill>
                  <a:srgbClr val="006891"/>
                </a:solidFill>
                <a:ea typeface="ＭＳ Ｐゴシック" pitchFamily="34" charset="-128"/>
              </a:rPr>
              <a:t>-</a:t>
            </a:r>
            <a:r>
              <a:rPr lang="en-US" altLang="en-US" smtClean="0">
                <a:ea typeface="ＭＳ Ｐゴシック" pitchFamily="34" charset="-128"/>
              </a:rPr>
              <a:t> a measure of the attractive forces exerted among molecules at the surface of a liquid</a:t>
            </a:r>
          </a:p>
          <a:p>
            <a:pPr lvl="1">
              <a:spcBef>
                <a:spcPct val="50000"/>
              </a:spcBef>
              <a:buClrTx/>
            </a:pPr>
            <a:r>
              <a:rPr lang="en-US" altLang="en-US" smtClean="0">
                <a:ea typeface="ＭＳ Ｐゴシック" pitchFamily="34" charset="-128"/>
              </a:rPr>
              <a:t>Surface molecules are surrounded and attracted by fewer liquid molecules than those below</a:t>
            </a:r>
          </a:p>
          <a:p>
            <a:pPr lvl="1">
              <a:spcBef>
                <a:spcPct val="50000"/>
              </a:spcBef>
              <a:buClrTx/>
            </a:pPr>
            <a:r>
              <a:rPr lang="en-US" altLang="en-US" smtClean="0">
                <a:ea typeface="ＭＳ Ｐゴシック" pitchFamily="34" charset="-128"/>
              </a:rPr>
              <a:t>Net attractive forces on surface molecules pull them downward</a:t>
            </a:r>
          </a:p>
          <a:p>
            <a:pPr>
              <a:spcBef>
                <a:spcPts val="1800"/>
              </a:spcBef>
              <a:buClrTx/>
            </a:pPr>
            <a:r>
              <a:rPr lang="en-US" altLang="en-US" smtClean="0">
                <a:solidFill>
                  <a:schemeClr val="accent2"/>
                </a:solidFill>
                <a:ea typeface="ＭＳ Ｐゴシック" pitchFamily="34" charset="-128"/>
              </a:rPr>
              <a:t>Surfactant</a:t>
            </a:r>
            <a:r>
              <a:rPr lang="en-US" altLang="en-US" b="1" smtClean="0">
                <a:solidFill>
                  <a:schemeClr val="accent2"/>
                </a:solidFill>
                <a:ea typeface="ＭＳ Ｐゴシック" pitchFamily="34" charset="-128"/>
              </a:rPr>
              <a:t> </a:t>
            </a:r>
            <a:r>
              <a:rPr lang="en-US" altLang="en-US" smtClean="0">
                <a:solidFill>
                  <a:srgbClr val="006891"/>
                </a:solidFill>
                <a:ea typeface="ＭＳ Ｐゴシック" pitchFamily="34" charset="-128"/>
              </a:rPr>
              <a:t>-</a:t>
            </a:r>
            <a:r>
              <a:rPr lang="en-US" altLang="en-US" smtClean="0">
                <a:ea typeface="ＭＳ Ｐゴシック" pitchFamily="34" charset="-128"/>
              </a:rPr>
              <a:t> substance added which decreases the surface tension (soap)</a:t>
            </a:r>
            <a:endParaRPr lang="en-US" altLang="en-US" sz="2800" smtClean="0">
              <a:ea typeface="ＭＳ Ｐゴシック" pitchFamily="34" charset="-128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Text Box 3"/>
          <p:cNvSpPr txBox="1">
            <a:spLocks noChangeArrowheads="1"/>
          </p:cNvSpPr>
          <p:nvPr/>
        </p:nvSpPr>
        <p:spPr bwMode="auto">
          <a:xfrm>
            <a:off x="1736725" y="19050"/>
            <a:ext cx="18415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1pPr>
            <a:lvl2pPr marL="742950" indent="-28575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2pPr>
            <a:lvl3pPr marL="11430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3pPr>
            <a:lvl4pPr marL="16002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4pPr>
            <a:lvl5pPr marL="20574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9pPr>
          </a:lstStyle>
          <a:p>
            <a:pPr algn="l"/>
            <a:endParaRPr lang="en-US" altLang="en-US" sz="3200" b="1">
              <a:solidFill>
                <a:srgbClr val="800080"/>
              </a:solidFill>
            </a:endParaRPr>
          </a:p>
          <a:p>
            <a:pPr algn="l"/>
            <a:endParaRPr lang="en-US" altLang="en-US" sz="3200" b="1">
              <a:solidFill>
                <a:srgbClr val="800080"/>
              </a:solidFill>
            </a:endParaRPr>
          </a:p>
        </p:txBody>
      </p:sp>
      <p:sp>
        <p:nvSpPr>
          <p:cNvPr id="40962" name="Rectangle 7"/>
          <p:cNvSpPr>
            <a:spLocks noChangeArrowheads="1"/>
          </p:cNvSpPr>
          <p:nvPr/>
        </p:nvSpPr>
        <p:spPr bwMode="auto">
          <a:xfrm rot="-5400000">
            <a:off x="-2590800" y="2895600"/>
            <a:ext cx="61722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1pPr>
            <a:lvl2pPr marL="742950" indent="-28575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2pPr>
            <a:lvl3pPr marL="11430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3pPr>
            <a:lvl4pPr marL="16002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4pPr>
            <a:lvl5pPr marL="20574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9pPr>
          </a:lstStyle>
          <a:p>
            <a:r>
              <a:rPr lang="en-US" altLang="en-US">
                <a:solidFill>
                  <a:schemeClr val="bg2"/>
                </a:solidFill>
              </a:rPr>
              <a:t>5.2 The Liquid State</a:t>
            </a:r>
          </a:p>
        </p:txBody>
      </p:sp>
      <p:sp>
        <p:nvSpPr>
          <p:cNvPr id="40963" name="Rectangle 9"/>
          <p:cNvSpPr>
            <a:spLocks noGrp="1" noChangeArrowheads="1"/>
          </p:cNvSpPr>
          <p:nvPr>
            <p:ph type="title"/>
          </p:nvPr>
        </p:nvSpPr>
        <p:spPr>
          <a:xfrm>
            <a:off x="1066800" y="304800"/>
            <a:ext cx="7772400" cy="609600"/>
          </a:xfrm>
        </p:spPr>
        <p:txBody>
          <a:bodyPr/>
          <a:lstStyle/>
          <a:p>
            <a:r>
              <a:rPr lang="en-US" altLang="en-US" smtClean="0">
                <a:ea typeface="ＭＳ Ｐゴシック" pitchFamily="34" charset="-128"/>
              </a:rPr>
              <a:t>Vapor Pressure of a Liquid</a:t>
            </a:r>
            <a:r>
              <a:rPr lang="en-US" altLang="en-US" sz="3200" b="1" smtClean="0">
                <a:solidFill>
                  <a:srgbClr val="800080"/>
                </a:solidFill>
                <a:ea typeface="ＭＳ Ｐゴシック" pitchFamily="34" charset="-128"/>
              </a:rPr>
              <a:t> </a:t>
            </a:r>
          </a:p>
        </p:txBody>
      </p:sp>
      <p:sp>
        <p:nvSpPr>
          <p:cNvPr id="40964" name="Rectangle 10"/>
          <p:cNvSpPr>
            <a:spLocks noGrp="1" noChangeArrowheads="1"/>
          </p:cNvSpPr>
          <p:nvPr>
            <p:ph type="body" idx="1"/>
          </p:nvPr>
        </p:nvSpPr>
        <p:spPr>
          <a:xfrm>
            <a:off x="1143000" y="1143000"/>
            <a:ext cx="7772400" cy="4724400"/>
          </a:xfrm>
        </p:spPr>
        <p:txBody>
          <a:bodyPr/>
          <a:lstStyle/>
          <a:p>
            <a:pPr>
              <a:lnSpc>
                <a:spcPct val="110000"/>
              </a:lnSpc>
              <a:spcBef>
                <a:spcPct val="0"/>
              </a:spcBef>
            </a:pPr>
            <a:r>
              <a:rPr lang="en-US" altLang="en-US" smtClean="0">
                <a:ea typeface="ＭＳ Ｐゴシック" pitchFamily="34" charset="-128"/>
              </a:rPr>
              <a:t>Place water in a sealed container</a:t>
            </a:r>
          </a:p>
          <a:p>
            <a:pPr lvl="1">
              <a:lnSpc>
                <a:spcPct val="110000"/>
              </a:lnSpc>
              <a:spcBef>
                <a:spcPct val="0"/>
              </a:spcBef>
            </a:pPr>
            <a:r>
              <a:rPr lang="en-US" altLang="en-US" smtClean="0">
                <a:ea typeface="ＭＳ Ｐゴシック" pitchFamily="34" charset="-128"/>
              </a:rPr>
              <a:t>Both liquid water and water vapor will exist in the container</a:t>
            </a:r>
          </a:p>
          <a:p>
            <a:pPr>
              <a:spcBef>
                <a:spcPts val="1800"/>
              </a:spcBef>
            </a:pPr>
            <a:r>
              <a:rPr lang="en-US" altLang="en-US" smtClean="0">
                <a:ea typeface="ＭＳ Ｐゴシック" pitchFamily="34" charset="-128"/>
              </a:rPr>
              <a:t>How does this happen below the boiling point?</a:t>
            </a:r>
          </a:p>
          <a:p>
            <a:pPr lvl="1">
              <a:lnSpc>
                <a:spcPct val="110000"/>
              </a:lnSpc>
              <a:spcBef>
                <a:spcPct val="0"/>
              </a:spcBef>
            </a:pPr>
            <a:r>
              <a:rPr lang="en-US" altLang="en-US" smtClean="0">
                <a:ea typeface="ＭＳ Ｐゴシック" pitchFamily="34" charset="-128"/>
              </a:rPr>
              <a:t>Temperature is too low for boiling conversion</a:t>
            </a:r>
          </a:p>
          <a:p>
            <a:pPr>
              <a:spcBef>
                <a:spcPts val="1800"/>
              </a:spcBef>
            </a:pPr>
            <a:r>
              <a:rPr lang="en-US" altLang="en-US" smtClean="0">
                <a:solidFill>
                  <a:srgbClr val="003ABC"/>
                </a:solidFill>
                <a:ea typeface="ＭＳ Ｐゴシック" pitchFamily="34" charset="-128"/>
              </a:rPr>
              <a:t>Kinetic theory - liquid molecules are in continuous motion, with their </a:t>
            </a:r>
            <a:r>
              <a:rPr lang="en-US" altLang="en-US" i="1" smtClean="0">
                <a:solidFill>
                  <a:srgbClr val="003ABC"/>
                </a:solidFill>
                <a:ea typeface="ＭＳ Ｐゴシック" pitchFamily="34" charset="-128"/>
              </a:rPr>
              <a:t>average</a:t>
            </a:r>
            <a:r>
              <a:rPr lang="en-US" altLang="en-US" smtClean="0">
                <a:solidFill>
                  <a:srgbClr val="003ABC"/>
                </a:solidFill>
                <a:ea typeface="ＭＳ Ｐゴシック" pitchFamily="34" charset="-128"/>
              </a:rPr>
              <a:t> kinetic energy directly proportional to the Kelvin temperature</a:t>
            </a:r>
          </a:p>
        </p:txBody>
      </p:sp>
      <p:grpSp>
        <p:nvGrpSpPr>
          <p:cNvPr id="40965" name="Group 9"/>
          <p:cNvGrpSpPr>
            <a:grpSpLocks/>
          </p:cNvGrpSpPr>
          <p:nvPr/>
        </p:nvGrpSpPr>
        <p:grpSpPr bwMode="auto">
          <a:xfrm>
            <a:off x="8153400" y="1295400"/>
            <a:ext cx="762000" cy="523875"/>
            <a:chOff x="3962400" y="5791200"/>
            <a:chExt cx="762000" cy="523220"/>
          </a:xfrm>
        </p:grpSpPr>
        <p:sp>
          <p:nvSpPr>
            <p:cNvPr id="40966" name="TextBox 6"/>
            <p:cNvSpPr txBox="1">
              <a:spLocks noChangeArrowheads="1"/>
            </p:cNvSpPr>
            <p:nvPr/>
          </p:nvSpPr>
          <p:spPr bwMode="auto">
            <a:xfrm>
              <a:off x="3962400" y="5791200"/>
              <a:ext cx="685800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1pPr>
              <a:lvl2pPr marL="742950" indent="-28575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2pPr>
              <a:lvl3pPr marL="1143000" indent="-22860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3pPr>
              <a:lvl4pPr marL="1600200" indent="-22860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4pPr>
              <a:lvl5pPr marL="2057400" indent="-22860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9pPr>
            </a:lstStyle>
            <a:p>
              <a:r>
                <a:rPr lang="en-US" altLang="en-US" sz="2800" dirty="0" smtClean="0">
                  <a:solidFill>
                    <a:schemeClr val="accent2"/>
                  </a:solidFill>
                  <a:latin typeface="Arial Black" pitchFamily="34" charset="0"/>
                </a:rPr>
                <a:t>9</a:t>
              </a:r>
              <a:endParaRPr lang="en-US" altLang="en-US" sz="2800" dirty="0">
                <a:solidFill>
                  <a:schemeClr val="accent2"/>
                </a:solidFill>
                <a:latin typeface="Arial Black" pitchFamily="34" charset="0"/>
              </a:endParaRPr>
            </a:p>
          </p:txBody>
        </p:sp>
        <p:sp>
          <p:nvSpPr>
            <p:cNvPr id="40967" name="Isosceles Triangle 8"/>
            <p:cNvSpPr>
              <a:spLocks noChangeArrowheads="1"/>
            </p:cNvSpPr>
            <p:nvPr/>
          </p:nvSpPr>
          <p:spPr bwMode="auto">
            <a:xfrm rot="5400000">
              <a:off x="4533900" y="5927108"/>
              <a:ext cx="152400" cy="228600"/>
            </a:xfrm>
            <a:prstGeom prst="triangle">
              <a:avLst>
                <a:gd name="adj" fmla="val 50000"/>
              </a:avLst>
            </a:prstGeom>
            <a:solidFill>
              <a:srgbClr val="F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1pPr>
              <a:lvl2pPr marL="742950" indent="-28575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2pPr>
              <a:lvl3pPr marL="1143000" indent="-22860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3pPr>
              <a:lvl4pPr marL="1600200" indent="-22860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4pPr>
              <a:lvl5pPr marL="2057400" indent="-22860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9pPr>
            </a:lstStyle>
            <a:p>
              <a:endParaRPr lang="en-IN" altLang="en-US"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Text Box 4"/>
          <p:cNvSpPr txBox="1">
            <a:spLocks noChangeArrowheads="1"/>
          </p:cNvSpPr>
          <p:nvPr/>
        </p:nvSpPr>
        <p:spPr bwMode="auto">
          <a:xfrm>
            <a:off x="2667000" y="1676400"/>
            <a:ext cx="462438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1pPr>
            <a:lvl2pPr marL="742950" indent="-28575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2pPr>
            <a:lvl3pPr marL="11430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3pPr>
            <a:lvl4pPr marL="16002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4pPr>
            <a:lvl5pPr marL="20574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9pPr>
          </a:lstStyle>
          <a:p>
            <a:pPr algn="l"/>
            <a:r>
              <a:rPr lang="en-US" altLang="en-US" sz="3200">
                <a:solidFill>
                  <a:schemeClr val="tx1"/>
                </a:solidFill>
              </a:rPr>
              <a:t>energy + H</a:t>
            </a:r>
            <a:r>
              <a:rPr lang="en-US" altLang="en-US" sz="3200" baseline="-25000">
                <a:solidFill>
                  <a:schemeClr val="tx1"/>
                </a:solidFill>
              </a:rPr>
              <a:t>2</a:t>
            </a:r>
            <a:r>
              <a:rPr lang="en-US" altLang="en-US" sz="3200">
                <a:solidFill>
                  <a:schemeClr val="tx1"/>
                </a:solidFill>
              </a:rPr>
              <a:t>O(</a:t>
            </a:r>
            <a:r>
              <a:rPr lang="en-US" altLang="en-US" sz="3200" i="1">
                <a:solidFill>
                  <a:schemeClr val="tx1"/>
                </a:solidFill>
              </a:rPr>
              <a:t>l</a:t>
            </a:r>
            <a:r>
              <a:rPr lang="en-US" altLang="en-US" sz="3200">
                <a:solidFill>
                  <a:schemeClr val="tx1"/>
                </a:solidFill>
              </a:rPr>
              <a:t>) </a:t>
            </a:r>
            <a:r>
              <a:rPr lang="en-US" altLang="en-US" sz="3200">
                <a:solidFill>
                  <a:schemeClr val="tx1"/>
                </a:solidFill>
                <a:sym typeface="Symbol" pitchFamily="18" charset="2"/>
              </a:rPr>
              <a:t> H</a:t>
            </a:r>
            <a:r>
              <a:rPr lang="en-US" altLang="en-US" sz="3200" baseline="-25000">
                <a:solidFill>
                  <a:schemeClr val="tx1"/>
                </a:solidFill>
                <a:sym typeface="Symbol" pitchFamily="18" charset="2"/>
              </a:rPr>
              <a:t>2</a:t>
            </a:r>
            <a:r>
              <a:rPr lang="en-US" altLang="en-US" sz="3200">
                <a:solidFill>
                  <a:schemeClr val="tx1"/>
                </a:solidFill>
                <a:sym typeface="Symbol" pitchFamily="18" charset="2"/>
              </a:rPr>
              <a:t>O(</a:t>
            </a:r>
            <a:r>
              <a:rPr lang="en-US" altLang="en-US" sz="3200" i="1">
                <a:solidFill>
                  <a:schemeClr val="tx1"/>
                </a:solidFill>
                <a:sym typeface="Symbol" pitchFamily="18" charset="2"/>
              </a:rPr>
              <a:t>g</a:t>
            </a:r>
            <a:r>
              <a:rPr lang="en-US" altLang="en-US" sz="3200">
                <a:solidFill>
                  <a:schemeClr val="tx1"/>
                </a:solidFill>
                <a:sym typeface="Symbol" pitchFamily="18" charset="2"/>
              </a:rPr>
              <a:t>)</a:t>
            </a:r>
            <a:endParaRPr lang="en-US" altLang="en-US" sz="3200">
              <a:solidFill>
                <a:schemeClr val="tx1"/>
              </a:solidFill>
            </a:endParaRPr>
          </a:p>
        </p:txBody>
      </p:sp>
      <p:sp>
        <p:nvSpPr>
          <p:cNvPr id="41986" name="Rectangle 7"/>
          <p:cNvSpPr>
            <a:spLocks noChangeArrowheads="1"/>
          </p:cNvSpPr>
          <p:nvPr/>
        </p:nvSpPr>
        <p:spPr bwMode="auto">
          <a:xfrm rot="-5400000">
            <a:off x="-2590800" y="2895600"/>
            <a:ext cx="61722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1pPr>
            <a:lvl2pPr marL="742950" indent="-28575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2pPr>
            <a:lvl3pPr marL="11430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3pPr>
            <a:lvl4pPr marL="16002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4pPr>
            <a:lvl5pPr marL="20574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9pPr>
          </a:lstStyle>
          <a:p>
            <a:r>
              <a:rPr lang="en-US" altLang="en-US">
                <a:solidFill>
                  <a:schemeClr val="bg2"/>
                </a:solidFill>
              </a:rPr>
              <a:t>5.2 The Liquid State</a:t>
            </a:r>
          </a:p>
        </p:txBody>
      </p:sp>
      <p:sp>
        <p:nvSpPr>
          <p:cNvPr id="41987" name="Rectangle 8"/>
          <p:cNvSpPr>
            <a:spLocks noGrp="1" noChangeArrowheads="1"/>
          </p:cNvSpPr>
          <p:nvPr>
            <p:ph type="title"/>
          </p:nvPr>
        </p:nvSpPr>
        <p:spPr>
          <a:xfrm>
            <a:off x="1066800" y="228600"/>
            <a:ext cx="7772400" cy="1143000"/>
          </a:xfrm>
        </p:spPr>
        <p:txBody>
          <a:bodyPr/>
          <a:lstStyle/>
          <a:p>
            <a:r>
              <a:rPr lang="en-US" altLang="en-US" smtClean="0">
                <a:ea typeface="ＭＳ Ｐゴシック" pitchFamily="34" charset="-128"/>
              </a:rPr>
              <a:t>Temperature Dependence of Liquid Vapor Pressure</a:t>
            </a:r>
          </a:p>
        </p:txBody>
      </p:sp>
      <p:sp>
        <p:nvSpPr>
          <p:cNvPr id="41988" name="Rectangle 9"/>
          <p:cNvSpPr>
            <a:spLocks noGrp="1" noChangeArrowheads="1"/>
          </p:cNvSpPr>
          <p:nvPr>
            <p:ph type="body" sz="half" idx="1"/>
          </p:nvPr>
        </p:nvSpPr>
        <p:spPr>
          <a:xfrm>
            <a:off x="1143000" y="2514600"/>
            <a:ext cx="4343400" cy="4114800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ct val="25000"/>
              </a:spcBef>
            </a:pPr>
            <a:r>
              <a:rPr lang="en-US" altLang="en-US" sz="2800" smtClean="0">
                <a:ea typeface="ＭＳ Ｐゴシック" pitchFamily="34" charset="-128"/>
              </a:rPr>
              <a:t>Average molecular kinetic energy increases as temperature increases</a:t>
            </a:r>
          </a:p>
          <a:p>
            <a:pPr>
              <a:lnSpc>
                <a:spcPct val="90000"/>
              </a:lnSpc>
              <a:spcBef>
                <a:spcPct val="25000"/>
              </a:spcBef>
            </a:pPr>
            <a:r>
              <a:rPr lang="en-US" altLang="en-US" sz="2800" smtClean="0">
                <a:ea typeface="ＭＳ Ｐゴシック" pitchFamily="34" charset="-128"/>
              </a:rPr>
              <a:t>Some high energy molecules have sufficient energy to escape from the liquid phase</a:t>
            </a:r>
          </a:p>
          <a:p>
            <a:pPr>
              <a:lnSpc>
                <a:spcPct val="90000"/>
              </a:lnSpc>
              <a:spcBef>
                <a:spcPct val="25000"/>
              </a:spcBef>
            </a:pPr>
            <a:r>
              <a:rPr lang="en-US" altLang="en-US" sz="2800" smtClean="0">
                <a:ea typeface="ＭＳ Ｐゴシック" pitchFamily="34" charset="-128"/>
              </a:rPr>
              <a:t>Even at cold temperatures, some molecules can be converted</a:t>
            </a:r>
          </a:p>
        </p:txBody>
      </p:sp>
      <p:pic>
        <p:nvPicPr>
          <p:cNvPr id="41989" name="Picture 14" descr="05_0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3850" y="2565400"/>
            <a:ext cx="3587750" cy="360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Text Box 4"/>
          <p:cNvSpPr txBox="1">
            <a:spLocks noChangeArrowheads="1"/>
          </p:cNvSpPr>
          <p:nvPr/>
        </p:nvSpPr>
        <p:spPr bwMode="auto">
          <a:xfrm>
            <a:off x="2590800" y="1676400"/>
            <a:ext cx="494558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1pPr>
            <a:lvl2pPr marL="742950" indent="-28575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2pPr>
            <a:lvl3pPr marL="11430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3pPr>
            <a:lvl4pPr marL="16002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4pPr>
            <a:lvl5pPr marL="20574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9pPr>
          </a:lstStyle>
          <a:p>
            <a:pPr algn="l"/>
            <a:r>
              <a:rPr lang="en-US" altLang="en-US" sz="3200" dirty="0">
                <a:solidFill>
                  <a:schemeClr val="tx1"/>
                </a:solidFill>
              </a:rPr>
              <a:t>H</a:t>
            </a:r>
            <a:r>
              <a:rPr lang="en-US" altLang="en-US" sz="3200" baseline="-25000" dirty="0">
                <a:solidFill>
                  <a:schemeClr val="tx1"/>
                </a:solidFill>
              </a:rPr>
              <a:t>2</a:t>
            </a:r>
            <a:r>
              <a:rPr lang="en-US" altLang="en-US" sz="3200" dirty="0">
                <a:solidFill>
                  <a:schemeClr val="tx1"/>
                </a:solidFill>
              </a:rPr>
              <a:t>O(</a:t>
            </a:r>
            <a:r>
              <a:rPr lang="en-US" altLang="en-US" sz="3200" i="1" dirty="0">
                <a:solidFill>
                  <a:schemeClr val="tx1"/>
                </a:solidFill>
              </a:rPr>
              <a:t>g</a:t>
            </a:r>
            <a:r>
              <a:rPr lang="en-US" altLang="en-US" sz="3200" dirty="0">
                <a:solidFill>
                  <a:schemeClr val="tx1"/>
                </a:solidFill>
              </a:rPr>
              <a:t>) </a:t>
            </a:r>
            <a:r>
              <a:rPr lang="en-US" altLang="en-US" sz="3200" dirty="0">
                <a:solidFill>
                  <a:schemeClr val="tx1"/>
                </a:solidFill>
                <a:sym typeface="Symbol" pitchFamily="18" charset="2"/>
              </a:rPr>
              <a:t> H</a:t>
            </a:r>
            <a:r>
              <a:rPr lang="en-US" altLang="en-US" sz="3200" baseline="-25000" dirty="0">
                <a:solidFill>
                  <a:schemeClr val="tx1"/>
                </a:solidFill>
                <a:sym typeface="Symbol" pitchFamily="18" charset="2"/>
              </a:rPr>
              <a:t>2</a:t>
            </a:r>
            <a:r>
              <a:rPr lang="en-US" altLang="en-US" sz="3200" dirty="0">
                <a:solidFill>
                  <a:schemeClr val="tx1"/>
                </a:solidFill>
                <a:sym typeface="Symbol" pitchFamily="18" charset="2"/>
              </a:rPr>
              <a:t>O(</a:t>
            </a:r>
            <a:r>
              <a:rPr lang="en-US" altLang="en-US" sz="3200" i="1" dirty="0">
                <a:solidFill>
                  <a:schemeClr val="tx1"/>
                </a:solidFill>
                <a:sym typeface="Symbol" pitchFamily="18" charset="2"/>
              </a:rPr>
              <a:t>l</a:t>
            </a:r>
            <a:r>
              <a:rPr lang="en-US" altLang="en-US" sz="3200" dirty="0">
                <a:solidFill>
                  <a:schemeClr val="tx1"/>
                </a:solidFill>
                <a:sym typeface="Symbol" pitchFamily="18" charset="2"/>
              </a:rPr>
              <a:t>) + </a:t>
            </a:r>
            <a:r>
              <a:rPr lang="en-US" altLang="en-US" sz="3200" b="1" dirty="0">
                <a:solidFill>
                  <a:srgbClr val="FFC000"/>
                </a:solidFill>
                <a:sym typeface="Symbol" pitchFamily="18" charset="2"/>
              </a:rPr>
              <a:t>energy</a:t>
            </a:r>
            <a:r>
              <a:rPr lang="en-US" altLang="en-US" sz="3200" dirty="0">
                <a:solidFill>
                  <a:schemeClr val="tx1"/>
                </a:solidFill>
                <a:sym typeface="Symbol" pitchFamily="18" charset="2"/>
              </a:rPr>
              <a:t> </a:t>
            </a:r>
            <a:endParaRPr lang="en-US" altLang="en-US" sz="3200" dirty="0">
              <a:solidFill>
                <a:schemeClr val="tx1"/>
              </a:solidFill>
            </a:endParaRPr>
          </a:p>
        </p:txBody>
      </p:sp>
      <p:sp>
        <p:nvSpPr>
          <p:cNvPr id="43010" name="Rectangle 6"/>
          <p:cNvSpPr>
            <a:spLocks noChangeArrowheads="1"/>
          </p:cNvSpPr>
          <p:nvPr/>
        </p:nvSpPr>
        <p:spPr bwMode="auto">
          <a:xfrm rot="-5400000">
            <a:off x="-2590800" y="2895600"/>
            <a:ext cx="61722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1pPr>
            <a:lvl2pPr marL="742950" indent="-28575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2pPr>
            <a:lvl3pPr marL="11430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3pPr>
            <a:lvl4pPr marL="16002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4pPr>
            <a:lvl5pPr marL="20574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9pPr>
          </a:lstStyle>
          <a:p>
            <a:r>
              <a:rPr lang="en-US" altLang="en-US">
                <a:solidFill>
                  <a:schemeClr val="bg2"/>
                </a:solidFill>
              </a:rPr>
              <a:t>5.2 The Liquid State</a:t>
            </a:r>
          </a:p>
        </p:txBody>
      </p:sp>
      <p:sp>
        <p:nvSpPr>
          <p:cNvPr id="43011" name="Rectangle 7"/>
          <p:cNvSpPr>
            <a:spLocks noGrp="1" noChangeArrowheads="1"/>
          </p:cNvSpPr>
          <p:nvPr>
            <p:ph type="title"/>
          </p:nvPr>
        </p:nvSpPr>
        <p:spPr>
          <a:xfrm>
            <a:off x="1066800" y="228600"/>
            <a:ext cx="7772400" cy="1143000"/>
          </a:xfrm>
        </p:spPr>
        <p:txBody>
          <a:bodyPr/>
          <a:lstStyle/>
          <a:p>
            <a:r>
              <a:rPr lang="en-US" altLang="en-US" smtClean="0">
                <a:ea typeface="ＭＳ Ｐゴシック" pitchFamily="34" charset="-128"/>
              </a:rPr>
              <a:t>Movement From Gas Back to Liquid</a:t>
            </a:r>
          </a:p>
        </p:txBody>
      </p:sp>
      <p:sp>
        <p:nvSpPr>
          <p:cNvPr id="43012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1219200" y="2438400"/>
            <a:ext cx="7391400" cy="39624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mtClean="0">
                <a:ea typeface="ＭＳ Ｐゴシック" pitchFamily="34" charset="-128"/>
              </a:rPr>
              <a:t>Molecules in the vapor phase can lose energy and be converted back to the liquid phase</a:t>
            </a:r>
          </a:p>
          <a:p>
            <a:pPr>
              <a:lnSpc>
                <a:spcPct val="90000"/>
              </a:lnSpc>
              <a:spcBef>
                <a:spcPts val="1963"/>
              </a:spcBef>
            </a:pPr>
            <a:r>
              <a:rPr lang="en-US" altLang="en-US" smtClean="0">
                <a:solidFill>
                  <a:schemeClr val="accent2"/>
                </a:solidFill>
                <a:ea typeface="ＭＳ Ｐゴシック" pitchFamily="34" charset="-128"/>
              </a:rPr>
              <a:t>Evaporation</a:t>
            </a:r>
            <a:r>
              <a:rPr lang="en-US" altLang="en-US" smtClean="0">
                <a:ea typeface="ＭＳ Ｐゴシック" pitchFamily="34" charset="-128"/>
              </a:rPr>
              <a:t> - the process of conversion of liquid to gas at a temperature too low to boil</a:t>
            </a:r>
          </a:p>
          <a:p>
            <a:pPr>
              <a:lnSpc>
                <a:spcPct val="90000"/>
              </a:lnSpc>
              <a:spcBef>
                <a:spcPct val="50000"/>
              </a:spcBef>
              <a:buClrTx/>
            </a:pPr>
            <a:r>
              <a:rPr lang="en-US" altLang="en-US" smtClean="0">
                <a:solidFill>
                  <a:schemeClr val="accent2"/>
                </a:solidFill>
                <a:ea typeface="ＭＳ Ｐゴシック" pitchFamily="34" charset="-128"/>
              </a:rPr>
              <a:t>Condensation</a:t>
            </a:r>
            <a:r>
              <a:rPr lang="en-US" altLang="en-US" smtClean="0">
                <a:ea typeface="ＭＳ Ｐゴシック" pitchFamily="34" charset="-128"/>
              </a:rPr>
              <a:t> - conversion of gas to the liquid state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9"/>
          <p:cNvSpPr>
            <a:spLocks noChangeArrowheads="1"/>
          </p:cNvSpPr>
          <p:nvPr/>
        </p:nvSpPr>
        <p:spPr bwMode="auto">
          <a:xfrm rot="-5400000">
            <a:off x="-2590800" y="2895600"/>
            <a:ext cx="61722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1pPr>
            <a:lvl2pPr marL="742950" indent="-28575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2pPr>
            <a:lvl3pPr marL="11430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3pPr>
            <a:lvl4pPr marL="16002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4pPr>
            <a:lvl5pPr marL="20574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9pPr>
          </a:lstStyle>
          <a:p>
            <a:r>
              <a:rPr lang="en-US" altLang="en-US">
                <a:solidFill>
                  <a:schemeClr val="bg2"/>
                </a:solidFill>
              </a:rPr>
              <a:t>5.2 The Liquid State</a:t>
            </a:r>
          </a:p>
        </p:txBody>
      </p:sp>
      <p:sp>
        <p:nvSpPr>
          <p:cNvPr id="44034" name="Rectangle 10"/>
          <p:cNvSpPr>
            <a:spLocks noGrp="1" noChangeArrowheads="1"/>
          </p:cNvSpPr>
          <p:nvPr>
            <p:ph type="title"/>
          </p:nvPr>
        </p:nvSpPr>
        <p:spPr>
          <a:xfrm>
            <a:off x="1066800" y="228600"/>
            <a:ext cx="7772400" cy="1143000"/>
          </a:xfrm>
        </p:spPr>
        <p:txBody>
          <a:bodyPr/>
          <a:lstStyle/>
          <a:p>
            <a:r>
              <a:rPr lang="en-US" altLang="en-US" smtClean="0">
                <a:ea typeface="ＭＳ Ｐゴシック" pitchFamily="34" charset="-128"/>
              </a:rPr>
              <a:t>Liquid Water in Equilibrium With Water Vapor</a:t>
            </a:r>
          </a:p>
        </p:txBody>
      </p:sp>
      <p:sp>
        <p:nvSpPr>
          <p:cNvPr id="44035" name="Rectangle 12"/>
          <p:cNvSpPr>
            <a:spLocks noGrp="1" noChangeArrowheads="1"/>
          </p:cNvSpPr>
          <p:nvPr>
            <p:ph type="body" sz="half" idx="2"/>
          </p:nvPr>
        </p:nvSpPr>
        <p:spPr>
          <a:xfrm>
            <a:off x="1143000" y="4572000"/>
            <a:ext cx="7772400" cy="1981200"/>
          </a:xfrm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en-US" sz="2800" dirty="0" smtClean="0">
                <a:ea typeface="ＭＳ Ｐゴシック" pitchFamily="34" charset="-128"/>
              </a:rPr>
              <a:t>When the rate of evaporation equals the rate of condensation, the system is at equilibrium</a:t>
            </a:r>
          </a:p>
          <a:p>
            <a:pPr>
              <a:spcBef>
                <a:spcPts val="1800"/>
              </a:spcBef>
            </a:pPr>
            <a:r>
              <a:rPr lang="en-US" altLang="en-US" sz="2800" b="1" dirty="0" smtClean="0">
                <a:solidFill>
                  <a:schemeClr val="accent2"/>
                </a:solidFill>
                <a:ea typeface="ＭＳ Ｐゴシック" pitchFamily="34" charset="-128"/>
              </a:rPr>
              <a:t>Vapor pressure of a liquid</a:t>
            </a:r>
            <a:r>
              <a:rPr lang="en-US" altLang="en-US" sz="2800" b="1" dirty="0" smtClean="0">
                <a:ea typeface="ＭＳ Ｐゴシック" pitchFamily="34" charset="-128"/>
              </a:rPr>
              <a:t> </a:t>
            </a:r>
            <a:r>
              <a:rPr lang="en-US" altLang="en-US" sz="2800" dirty="0" smtClean="0">
                <a:ea typeface="ＭＳ Ｐゴシック" pitchFamily="34" charset="-128"/>
              </a:rPr>
              <a:t>- the pressure exerted by the vapor </a:t>
            </a:r>
            <a:r>
              <a:rPr lang="en-US" altLang="en-US" sz="2800" i="1" dirty="0" smtClean="0">
                <a:ea typeface="ＭＳ Ｐゴシック" pitchFamily="34" charset="-128"/>
              </a:rPr>
              <a:t>at equilibrium</a:t>
            </a:r>
          </a:p>
          <a:p>
            <a:endParaRPr lang="en-US" altLang="en-US" sz="2400" dirty="0" smtClean="0">
              <a:ea typeface="ＭＳ Ｐゴシック" pitchFamily="34" charset="-128"/>
            </a:endParaRPr>
          </a:p>
        </p:txBody>
      </p:sp>
      <p:pic>
        <p:nvPicPr>
          <p:cNvPr id="44036" name="Picture 16" descr="05_0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6913" y="1504950"/>
            <a:ext cx="5943600" cy="3143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4"/>
          <p:cNvSpPr>
            <a:spLocks noChangeArrowheads="1"/>
          </p:cNvSpPr>
          <p:nvPr/>
        </p:nvSpPr>
        <p:spPr bwMode="auto">
          <a:xfrm rot="-5400000">
            <a:off x="-2590800" y="2895600"/>
            <a:ext cx="61722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1pPr>
            <a:lvl2pPr marL="742950" indent="-28575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2pPr>
            <a:lvl3pPr marL="11430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3pPr>
            <a:lvl4pPr marL="16002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4pPr>
            <a:lvl5pPr marL="20574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9pPr>
          </a:lstStyle>
          <a:p>
            <a:r>
              <a:rPr lang="en-US" altLang="en-US">
                <a:solidFill>
                  <a:schemeClr val="bg2"/>
                </a:solidFill>
              </a:rPr>
              <a:t>5.2 The Liquid State</a:t>
            </a:r>
          </a:p>
        </p:txBody>
      </p:sp>
      <p:sp>
        <p:nvSpPr>
          <p:cNvPr id="45058" name="Rectangle 5"/>
          <p:cNvSpPr>
            <a:spLocks noGrp="1" noChangeArrowheads="1"/>
          </p:cNvSpPr>
          <p:nvPr>
            <p:ph type="title"/>
          </p:nvPr>
        </p:nvSpPr>
        <p:spPr>
          <a:xfrm>
            <a:off x="1066800" y="228600"/>
            <a:ext cx="7772400" cy="685800"/>
          </a:xfrm>
        </p:spPr>
        <p:txBody>
          <a:bodyPr/>
          <a:lstStyle/>
          <a:p>
            <a:r>
              <a:rPr lang="en-US" altLang="en-US" smtClean="0">
                <a:ea typeface="ＭＳ Ｐゴシック" pitchFamily="34" charset="-128"/>
              </a:rPr>
              <a:t>Boiling Point</a:t>
            </a:r>
          </a:p>
        </p:txBody>
      </p:sp>
      <p:sp>
        <p:nvSpPr>
          <p:cNvPr id="45059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1143000" y="1143000"/>
            <a:ext cx="7772400" cy="4953000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ct val="50000"/>
              </a:spcBef>
              <a:buClrTx/>
            </a:pPr>
            <a:r>
              <a:rPr lang="en-US" altLang="en-US" sz="2800" b="1" dirty="0" smtClean="0">
                <a:solidFill>
                  <a:schemeClr val="accent2"/>
                </a:solidFill>
                <a:ea typeface="ＭＳ Ｐゴシック" pitchFamily="34" charset="-128"/>
              </a:rPr>
              <a:t>Boiling point</a:t>
            </a:r>
            <a:r>
              <a:rPr lang="en-US" altLang="en-US" sz="2800" b="1" dirty="0" smtClean="0">
                <a:ea typeface="ＭＳ Ｐゴシック" pitchFamily="34" charset="-128"/>
              </a:rPr>
              <a:t> </a:t>
            </a:r>
            <a:r>
              <a:rPr lang="en-US" altLang="en-US" sz="2800" dirty="0" smtClean="0">
                <a:ea typeface="ＭＳ Ｐゴシック" pitchFamily="34" charset="-128"/>
              </a:rPr>
              <a:t>- the  temperature at which the vapor pressure of the liquid becomes equal to the atmospheric pressure</a:t>
            </a:r>
          </a:p>
          <a:p>
            <a:pPr>
              <a:lnSpc>
                <a:spcPct val="90000"/>
              </a:lnSpc>
              <a:spcBef>
                <a:spcPts val="2038"/>
              </a:spcBef>
              <a:buClrTx/>
            </a:pPr>
            <a:r>
              <a:rPr lang="en-US" altLang="en-US" sz="2800" b="1" dirty="0" smtClean="0">
                <a:solidFill>
                  <a:schemeClr val="accent2"/>
                </a:solidFill>
                <a:ea typeface="ＭＳ Ｐゴシック" pitchFamily="34" charset="-128"/>
              </a:rPr>
              <a:t>Normal boiling point</a:t>
            </a:r>
            <a:r>
              <a:rPr lang="en-US" altLang="en-US" sz="2800" b="1" dirty="0" smtClean="0">
                <a:ea typeface="ＭＳ Ｐゴシック" pitchFamily="34" charset="-128"/>
              </a:rPr>
              <a:t> </a:t>
            </a:r>
            <a:r>
              <a:rPr lang="en-US" altLang="en-US" sz="2800" dirty="0" smtClean="0">
                <a:ea typeface="ＭＳ Ｐゴシック" pitchFamily="34" charset="-128"/>
              </a:rPr>
              <a:t>- temperature at which the vapor pressure of the liquid is equal to 1 </a:t>
            </a:r>
            <a:r>
              <a:rPr lang="en-US" altLang="en-US" sz="2800" dirty="0" err="1" smtClean="0">
                <a:ea typeface="ＭＳ Ｐゴシック" pitchFamily="34" charset="-128"/>
              </a:rPr>
              <a:t>atm</a:t>
            </a:r>
            <a:endParaRPr lang="en-US" altLang="en-US" sz="2800" dirty="0" smtClean="0">
              <a:ea typeface="ＭＳ Ｐゴシック" pitchFamily="34" charset="-128"/>
            </a:endParaRPr>
          </a:p>
          <a:p>
            <a:pPr>
              <a:lnSpc>
                <a:spcPct val="90000"/>
              </a:lnSpc>
              <a:spcBef>
                <a:spcPts val="2038"/>
              </a:spcBef>
            </a:pPr>
            <a:r>
              <a:rPr lang="en-US" altLang="en-US" sz="2800" dirty="0" smtClean="0">
                <a:ea typeface="ＭＳ Ｐゴシック" pitchFamily="34" charset="-128"/>
              </a:rPr>
              <a:t>What happens when you go to a mountain where the atmospheric pressure is lower than 1 </a:t>
            </a:r>
            <a:r>
              <a:rPr lang="en-US" altLang="en-US" sz="2800" dirty="0" err="1" smtClean="0">
                <a:ea typeface="ＭＳ Ｐゴシック" pitchFamily="34" charset="-128"/>
              </a:rPr>
              <a:t>atm</a:t>
            </a:r>
            <a:r>
              <a:rPr lang="en-US" altLang="en-US" sz="2800" dirty="0" smtClean="0">
                <a:ea typeface="ＭＳ Ｐゴシック" pitchFamily="34" charset="-128"/>
              </a:rPr>
              <a:t>?</a:t>
            </a:r>
          </a:p>
          <a:p>
            <a:pPr lvl="1">
              <a:lnSpc>
                <a:spcPct val="90000"/>
              </a:lnSpc>
              <a:spcBef>
                <a:spcPct val="25000"/>
              </a:spcBef>
            </a:pPr>
            <a:r>
              <a:rPr lang="en-US" altLang="en-US" sz="2400" dirty="0" smtClean="0">
                <a:ea typeface="ＭＳ Ｐゴシック" pitchFamily="34" charset="-128"/>
              </a:rPr>
              <a:t>The boiling point lowers</a:t>
            </a:r>
          </a:p>
          <a:p>
            <a:pPr>
              <a:lnSpc>
                <a:spcPct val="90000"/>
              </a:lnSpc>
              <a:spcBef>
                <a:spcPts val="2038"/>
              </a:spcBef>
            </a:pPr>
            <a:r>
              <a:rPr lang="en-US" altLang="en-US" sz="2800" dirty="0" smtClean="0">
                <a:ea typeface="ＭＳ Ｐゴシック" pitchFamily="34" charset="-128"/>
              </a:rPr>
              <a:t>Boiling point is dependent on intermolecular forces</a:t>
            </a:r>
          </a:p>
          <a:p>
            <a:pPr lvl="1">
              <a:lnSpc>
                <a:spcPct val="90000"/>
              </a:lnSpc>
              <a:spcBef>
                <a:spcPct val="25000"/>
              </a:spcBef>
              <a:buClrTx/>
            </a:pPr>
            <a:r>
              <a:rPr lang="en-US" altLang="en-US" sz="2400" dirty="0" smtClean="0">
                <a:ea typeface="ＭＳ Ｐゴシック" pitchFamily="34" charset="-128"/>
              </a:rPr>
              <a:t>Polar molecules have higher </a:t>
            </a:r>
            <a:r>
              <a:rPr lang="en-US" altLang="en-US" sz="2400" dirty="0" err="1" smtClean="0">
                <a:ea typeface="ＭＳ Ｐゴシック" pitchFamily="34" charset="-128"/>
              </a:rPr>
              <a:t>b.p</a:t>
            </a:r>
            <a:r>
              <a:rPr lang="en-US" altLang="en-US" sz="2400" dirty="0" smtClean="0">
                <a:ea typeface="ＭＳ Ｐゴシック" pitchFamily="34" charset="-128"/>
              </a:rPr>
              <a:t>. than nonpolar molecules</a:t>
            </a:r>
          </a:p>
          <a:p>
            <a:pPr lvl="1">
              <a:lnSpc>
                <a:spcPct val="90000"/>
              </a:lnSpc>
              <a:spcBef>
                <a:spcPct val="50000"/>
              </a:spcBef>
              <a:buClrTx/>
            </a:pPr>
            <a:endParaRPr lang="en-US" altLang="en-US" sz="2400" dirty="0" smtClean="0">
              <a:ea typeface="ＭＳ Ｐゴシック" pitchFamily="34" charset="-128"/>
            </a:endParaRPr>
          </a:p>
          <a:p>
            <a:pPr>
              <a:lnSpc>
                <a:spcPct val="90000"/>
              </a:lnSpc>
            </a:pPr>
            <a:endParaRPr lang="en-US" altLang="en-US" sz="2800" dirty="0" smtClean="0">
              <a:ea typeface="ＭＳ Ｐゴシック" pitchFamily="34" charset="-128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7"/>
          <p:cNvSpPr>
            <a:spLocks noChangeArrowheads="1"/>
          </p:cNvSpPr>
          <p:nvPr/>
        </p:nvSpPr>
        <p:spPr bwMode="auto">
          <a:xfrm rot="-5400000">
            <a:off x="-2590800" y="2895600"/>
            <a:ext cx="61722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1pPr>
            <a:lvl2pPr marL="742950" indent="-28575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2pPr>
            <a:lvl3pPr marL="11430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3pPr>
            <a:lvl4pPr marL="16002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4pPr>
            <a:lvl5pPr marL="20574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9pPr>
          </a:lstStyle>
          <a:p>
            <a:r>
              <a:rPr lang="en-US" altLang="en-US">
                <a:solidFill>
                  <a:schemeClr val="bg2"/>
                </a:solidFill>
              </a:rPr>
              <a:t>5.2 The Liquid State</a:t>
            </a:r>
          </a:p>
        </p:txBody>
      </p:sp>
      <p:sp>
        <p:nvSpPr>
          <p:cNvPr id="46082" name="Rectangle 9"/>
          <p:cNvSpPr>
            <a:spLocks noGrp="1" noChangeArrowheads="1"/>
          </p:cNvSpPr>
          <p:nvPr>
            <p:ph type="title"/>
          </p:nvPr>
        </p:nvSpPr>
        <p:spPr>
          <a:xfrm>
            <a:off x="1066800" y="152400"/>
            <a:ext cx="7772400" cy="1143000"/>
          </a:xfrm>
        </p:spPr>
        <p:txBody>
          <a:bodyPr/>
          <a:lstStyle/>
          <a:p>
            <a:r>
              <a:rPr lang="en-US" altLang="en-US" smtClean="0">
                <a:ea typeface="ＭＳ Ｐゴシック" pitchFamily="34" charset="-128"/>
              </a:rPr>
              <a:t>Van der Waals Forces</a:t>
            </a:r>
          </a:p>
        </p:txBody>
      </p:sp>
      <p:sp>
        <p:nvSpPr>
          <p:cNvPr id="46083" name="Rectangle 10"/>
          <p:cNvSpPr>
            <a:spLocks noGrp="1" noChangeArrowheads="1"/>
          </p:cNvSpPr>
          <p:nvPr>
            <p:ph type="body" idx="1"/>
          </p:nvPr>
        </p:nvSpPr>
        <p:spPr>
          <a:xfrm>
            <a:off x="1143000" y="1295400"/>
            <a:ext cx="7772400" cy="4648200"/>
          </a:xfrm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en-US" sz="2800" dirty="0" smtClean="0">
                <a:ea typeface="ＭＳ Ｐゴシック" pitchFamily="34" charset="-128"/>
              </a:rPr>
              <a:t>Physical properties of liquids are explained in terms of their intermolecular forces</a:t>
            </a:r>
          </a:p>
          <a:p>
            <a:pPr>
              <a:spcBef>
                <a:spcPts val="2400"/>
              </a:spcBef>
            </a:pPr>
            <a:r>
              <a:rPr lang="en-US" altLang="en-US" sz="2800" b="1" dirty="0" smtClean="0">
                <a:ea typeface="ＭＳ Ｐゴシック" pitchFamily="34" charset="-128"/>
              </a:rPr>
              <a:t>Van der Waals forces </a:t>
            </a:r>
            <a:r>
              <a:rPr lang="en-US" altLang="en-US" sz="2800" dirty="0" smtClean="0">
                <a:ea typeface="ＭＳ Ｐゴシック" pitchFamily="34" charset="-128"/>
              </a:rPr>
              <a:t>are intermolecular forces having two subtypes:</a:t>
            </a:r>
          </a:p>
          <a:p>
            <a:pPr lvl="1">
              <a:spcBef>
                <a:spcPts val="1800"/>
              </a:spcBef>
            </a:pPr>
            <a:r>
              <a:rPr lang="en-US" altLang="en-US" b="1" dirty="0" smtClean="0">
                <a:solidFill>
                  <a:schemeClr val="accent6">
                    <a:lumMod val="60000"/>
                    <a:lumOff val="40000"/>
                  </a:schemeClr>
                </a:solidFill>
                <a:ea typeface="ＭＳ Ｐゴシック" pitchFamily="34" charset="-128"/>
              </a:rPr>
              <a:t>Dipole-dipole interactions</a:t>
            </a:r>
          </a:p>
          <a:p>
            <a:pPr lvl="2">
              <a:spcBef>
                <a:spcPct val="0"/>
              </a:spcBef>
              <a:buFont typeface="Times New Roman" pitchFamily="18" charset="0"/>
              <a:buChar char="–"/>
            </a:pPr>
            <a:r>
              <a:rPr lang="en-US" altLang="en-US" dirty="0" smtClean="0">
                <a:ea typeface="ＭＳ Ｐゴシック" pitchFamily="34" charset="-128"/>
              </a:rPr>
              <a:t>Attractive forces between polar molecules </a:t>
            </a:r>
          </a:p>
          <a:p>
            <a:pPr lvl="1">
              <a:spcBef>
                <a:spcPts val="1200"/>
              </a:spcBef>
            </a:pPr>
            <a:r>
              <a:rPr lang="en-US" altLang="en-US" b="1" dirty="0" smtClean="0">
                <a:solidFill>
                  <a:schemeClr val="accent6">
                    <a:lumMod val="60000"/>
                    <a:lumOff val="40000"/>
                  </a:schemeClr>
                </a:solidFill>
                <a:ea typeface="ＭＳ Ｐゴシック" pitchFamily="34" charset="-128"/>
              </a:rPr>
              <a:t>London dispersion forces</a:t>
            </a:r>
          </a:p>
          <a:p>
            <a:pPr lvl="2">
              <a:spcBef>
                <a:spcPct val="0"/>
              </a:spcBef>
              <a:buFont typeface="Times New Roman" pitchFamily="18" charset="0"/>
              <a:buChar char="–"/>
            </a:pPr>
            <a:r>
              <a:rPr lang="en-US" altLang="en-US" dirty="0" smtClean="0">
                <a:ea typeface="ＭＳ Ｐゴシック" pitchFamily="34" charset="-128"/>
              </a:rPr>
              <a:t>As electrons are in continuous motion, a nonpolar molecule could have an </a:t>
            </a:r>
            <a:r>
              <a:rPr lang="en-US" altLang="en-US" i="1" dirty="0" smtClean="0">
                <a:ea typeface="ＭＳ Ｐゴシック" pitchFamily="34" charset="-128"/>
              </a:rPr>
              <a:t>instantaneous</a:t>
            </a:r>
            <a:r>
              <a:rPr lang="en-US" altLang="en-US" dirty="0" smtClean="0">
                <a:ea typeface="ＭＳ Ｐゴシック" pitchFamily="34" charset="-128"/>
              </a:rPr>
              <a:t> dipole</a:t>
            </a:r>
          </a:p>
          <a:p>
            <a:pPr lvl="2">
              <a:spcBef>
                <a:spcPct val="0"/>
              </a:spcBef>
              <a:buFont typeface="Times New Roman" pitchFamily="18" charset="0"/>
              <a:buChar char="–"/>
            </a:pPr>
            <a:r>
              <a:rPr lang="en-US" altLang="en-US" dirty="0" smtClean="0">
                <a:ea typeface="ＭＳ Ｐゴシック" pitchFamily="34" charset="-128"/>
              </a:rPr>
              <a:t>These temporary dipoles attract other temporary dipoles</a:t>
            </a:r>
          </a:p>
        </p:txBody>
      </p:sp>
      <p:grpSp>
        <p:nvGrpSpPr>
          <p:cNvPr id="46084" name="Group 9"/>
          <p:cNvGrpSpPr>
            <a:grpSpLocks/>
          </p:cNvGrpSpPr>
          <p:nvPr/>
        </p:nvGrpSpPr>
        <p:grpSpPr bwMode="auto">
          <a:xfrm>
            <a:off x="8001000" y="914400"/>
            <a:ext cx="838200" cy="523875"/>
            <a:chOff x="3886200" y="5791200"/>
            <a:chExt cx="838200" cy="523220"/>
          </a:xfrm>
        </p:grpSpPr>
        <p:sp>
          <p:nvSpPr>
            <p:cNvPr id="46085" name="TextBox 6"/>
            <p:cNvSpPr txBox="1">
              <a:spLocks noChangeArrowheads="1"/>
            </p:cNvSpPr>
            <p:nvPr/>
          </p:nvSpPr>
          <p:spPr bwMode="auto">
            <a:xfrm>
              <a:off x="3886200" y="5791200"/>
              <a:ext cx="762000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1pPr>
              <a:lvl2pPr marL="742950" indent="-28575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2pPr>
              <a:lvl3pPr marL="1143000" indent="-22860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3pPr>
              <a:lvl4pPr marL="1600200" indent="-22860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4pPr>
              <a:lvl5pPr marL="2057400" indent="-22860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9pPr>
            </a:lstStyle>
            <a:p>
              <a:r>
                <a:rPr lang="en-US" altLang="en-US" sz="2800" dirty="0" smtClean="0">
                  <a:solidFill>
                    <a:schemeClr val="accent2"/>
                  </a:solidFill>
                  <a:latin typeface="Arial Black" pitchFamily="34" charset="0"/>
                </a:rPr>
                <a:t>10</a:t>
              </a:r>
              <a:endParaRPr lang="en-US" altLang="en-US" sz="2800" dirty="0">
                <a:solidFill>
                  <a:schemeClr val="accent2"/>
                </a:solidFill>
                <a:latin typeface="Arial Black" pitchFamily="34" charset="0"/>
              </a:endParaRPr>
            </a:p>
          </p:txBody>
        </p:sp>
        <p:sp>
          <p:nvSpPr>
            <p:cNvPr id="46086" name="Isosceles Triangle 8"/>
            <p:cNvSpPr>
              <a:spLocks noChangeArrowheads="1"/>
            </p:cNvSpPr>
            <p:nvPr/>
          </p:nvSpPr>
          <p:spPr bwMode="auto">
            <a:xfrm rot="5400000">
              <a:off x="4533900" y="5927108"/>
              <a:ext cx="152400" cy="228600"/>
            </a:xfrm>
            <a:prstGeom prst="triangle">
              <a:avLst>
                <a:gd name="adj" fmla="val 50000"/>
              </a:avLst>
            </a:prstGeom>
            <a:solidFill>
              <a:srgbClr val="F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1pPr>
              <a:lvl2pPr marL="742950" indent="-28575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2pPr>
              <a:lvl3pPr marL="1143000" indent="-22860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3pPr>
              <a:lvl4pPr marL="1600200" indent="-22860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4pPr>
              <a:lvl5pPr marL="2057400" indent="-22860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9pPr>
            </a:lstStyle>
            <a:p>
              <a:endParaRPr lang="en-IN" altLang="en-US"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7"/>
          <p:cNvSpPr>
            <a:spLocks noChangeArrowheads="1"/>
          </p:cNvSpPr>
          <p:nvPr/>
        </p:nvSpPr>
        <p:spPr bwMode="auto">
          <a:xfrm rot="-5400000">
            <a:off x="-2590800" y="2895600"/>
            <a:ext cx="61722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1pPr>
            <a:lvl2pPr marL="742950" indent="-28575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2pPr>
            <a:lvl3pPr marL="11430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3pPr>
            <a:lvl4pPr marL="16002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4pPr>
            <a:lvl5pPr marL="20574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9pPr>
          </a:lstStyle>
          <a:p>
            <a:r>
              <a:rPr lang="en-US" altLang="en-US">
                <a:solidFill>
                  <a:schemeClr val="bg2"/>
                </a:solidFill>
              </a:rPr>
              <a:t>5.2 The Liquid State</a:t>
            </a:r>
          </a:p>
        </p:txBody>
      </p:sp>
      <p:sp>
        <p:nvSpPr>
          <p:cNvPr id="47106" name="Rectangle 9"/>
          <p:cNvSpPr>
            <a:spLocks noGrp="1" noChangeArrowheads="1"/>
          </p:cNvSpPr>
          <p:nvPr>
            <p:ph type="title"/>
          </p:nvPr>
        </p:nvSpPr>
        <p:spPr>
          <a:xfrm>
            <a:off x="1066800" y="152400"/>
            <a:ext cx="7772400" cy="1143000"/>
          </a:xfrm>
        </p:spPr>
        <p:txBody>
          <a:bodyPr/>
          <a:lstStyle/>
          <a:p>
            <a:r>
              <a:rPr lang="en-US" altLang="en-US" sz="4800" dirty="0" smtClean="0">
                <a:ea typeface="ＭＳ Ｐゴシック" pitchFamily="34" charset="-128"/>
              </a:rPr>
              <a:t>Hydrogen Bonding</a:t>
            </a:r>
          </a:p>
        </p:txBody>
      </p:sp>
      <p:sp>
        <p:nvSpPr>
          <p:cNvPr id="47107" name="Rectangle 10"/>
          <p:cNvSpPr>
            <a:spLocks noGrp="1" noChangeArrowheads="1"/>
          </p:cNvSpPr>
          <p:nvPr>
            <p:ph type="body" idx="1"/>
          </p:nvPr>
        </p:nvSpPr>
        <p:spPr>
          <a:xfrm>
            <a:off x="1143000" y="1600200"/>
            <a:ext cx="7772400" cy="4572000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ct val="50000"/>
              </a:spcBef>
              <a:buClrTx/>
            </a:pPr>
            <a:r>
              <a:rPr lang="en-US" altLang="en-US" b="1" dirty="0" smtClean="0">
                <a:solidFill>
                  <a:schemeClr val="accent6">
                    <a:lumMod val="60000"/>
                    <a:lumOff val="40000"/>
                  </a:schemeClr>
                </a:solidFill>
                <a:ea typeface="ＭＳ Ｐゴシック" pitchFamily="34" charset="-128"/>
              </a:rPr>
              <a:t>Hydrogen bonding:</a:t>
            </a:r>
          </a:p>
          <a:p>
            <a:pPr lvl="1">
              <a:lnSpc>
                <a:spcPct val="90000"/>
              </a:lnSpc>
              <a:spcBef>
                <a:spcPct val="50000"/>
              </a:spcBef>
              <a:buClrTx/>
            </a:pPr>
            <a:r>
              <a:rPr lang="en-US" altLang="en-US" dirty="0" smtClean="0">
                <a:ea typeface="ＭＳ Ｐゴシック" pitchFamily="34" charset="-128"/>
              </a:rPr>
              <a:t>not considered a Van der Waals force</a:t>
            </a:r>
          </a:p>
          <a:p>
            <a:pPr lvl="1">
              <a:lnSpc>
                <a:spcPct val="90000"/>
              </a:lnSpc>
              <a:spcBef>
                <a:spcPct val="50000"/>
              </a:spcBef>
              <a:buClrTx/>
            </a:pPr>
            <a:r>
              <a:rPr lang="en-US" altLang="en-US" dirty="0" smtClean="0">
                <a:ea typeface="ＭＳ Ｐゴシック" pitchFamily="34" charset="-128"/>
              </a:rPr>
              <a:t>is a special type of dipole-dipole attraction</a:t>
            </a:r>
          </a:p>
          <a:p>
            <a:pPr lvl="1">
              <a:lnSpc>
                <a:spcPct val="90000"/>
              </a:lnSpc>
              <a:spcBef>
                <a:spcPct val="50000"/>
              </a:spcBef>
              <a:buClrTx/>
            </a:pPr>
            <a:r>
              <a:rPr lang="en-US" altLang="en-US" dirty="0" smtClean="0">
                <a:ea typeface="ＭＳ Ｐゴシック" pitchFamily="34" charset="-128"/>
              </a:rPr>
              <a:t>is a very strong intermolecular attraction causing higher than expected boiling point and melting point</a:t>
            </a:r>
          </a:p>
          <a:p>
            <a:pPr>
              <a:lnSpc>
                <a:spcPct val="90000"/>
              </a:lnSpc>
              <a:spcBef>
                <a:spcPct val="50000"/>
              </a:spcBef>
              <a:buClrTx/>
            </a:pPr>
            <a:r>
              <a:rPr lang="en-US" altLang="en-US" dirty="0" smtClean="0">
                <a:ea typeface="ＭＳ Ｐゴシック" pitchFamily="34" charset="-128"/>
              </a:rPr>
              <a:t>Requirement for hydrogen bonding:</a:t>
            </a:r>
          </a:p>
          <a:p>
            <a:pPr lvl="1">
              <a:lnSpc>
                <a:spcPct val="90000"/>
              </a:lnSpc>
              <a:spcBef>
                <a:spcPct val="50000"/>
              </a:spcBef>
              <a:buClrTx/>
            </a:pPr>
            <a:r>
              <a:rPr lang="en-US" altLang="en-US" dirty="0" smtClean="0">
                <a:ea typeface="ＭＳ Ｐゴシック" pitchFamily="34" charset="-128"/>
              </a:rPr>
              <a:t>molecules have hydrogen directly bonded to O, N, or F</a:t>
            </a:r>
            <a:endParaRPr lang="en-US" altLang="en-US" sz="3200" dirty="0" smtClean="0">
              <a:ea typeface="ＭＳ Ｐゴシック" pitchFamily="34" charset="-128"/>
            </a:endParaRPr>
          </a:p>
          <a:p>
            <a:pPr>
              <a:lnSpc>
                <a:spcPct val="90000"/>
              </a:lnSpc>
            </a:pPr>
            <a:endParaRPr lang="en-US" altLang="en-US" dirty="0" smtClean="0">
              <a:ea typeface="ＭＳ Ｐゴシック" pitchFamily="34" charset="-128"/>
            </a:endParaRPr>
          </a:p>
        </p:txBody>
      </p:sp>
      <p:grpSp>
        <p:nvGrpSpPr>
          <p:cNvPr id="47108" name="Group 9"/>
          <p:cNvGrpSpPr>
            <a:grpSpLocks/>
          </p:cNvGrpSpPr>
          <p:nvPr/>
        </p:nvGrpSpPr>
        <p:grpSpPr bwMode="auto">
          <a:xfrm>
            <a:off x="8077200" y="1295400"/>
            <a:ext cx="762000" cy="523875"/>
            <a:chOff x="3962400" y="5791200"/>
            <a:chExt cx="762000" cy="523220"/>
          </a:xfrm>
        </p:grpSpPr>
        <p:sp>
          <p:nvSpPr>
            <p:cNvPr id="47109" name="TextBox 6"/>
            <p:cNvSpPr txBox="1">
              <a:spLocks noChangeArrowheads="1"/>
            </p:cNvSpPr>
            <p:nvPr/>
          </p:nvSpPr>
          <p:spPr bwMode="auto">
            <a:xfrm>
              <a:off x="3962400" y="5791200"/>
              <a:ext cx="685800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1pPr>
              <a:lvl2pPr marL="742950" indent="-28575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2pPr>
              <a:lvl3pPr marL="1143000" indent="-22860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3pPr>
              <a:lvl4pPr marL="1600200" indent="-22860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4pPr>
              <a:lvl5pPr marL="2057400" indent="-22860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9pPr>
            </a:lstStyle>
            <a:p>
              <a:r>
                <a:rPr lang="en-US" altLang="en-US" sz="2800" dirty="0" smtClean="0">
                  <a:solidFill>
                    <a:schemeClr val="accent2"/>
                  </a:solidFill>
                  <a:latin typeface="Arial Black" pitchFamily="34" charset="0"/>
                </a:rPr>
                <a:t>11</a:t>
              </a:r>
              <a:endParaRPr lang="en-US" altLang="en-US" sz="2800" dirty="0">
                <a:solidFill>
                  <a:schemeClr val="accent2"/>
                </a:solidFill>
                <a:latin typeface="Arial Black" pitchFamily="34" charset="0"/>
              </a:endParaRPr>
            </a:p>
          </p:txBody>
        </p:sp>
        <p:sp>
          <p:nvSpPr>
            <p:cNvPr id="47110" name="Isosceles Triangle 8"/>
            <p:cNvSpPr>
              <a:spLocks noChangeArrowheads="1"/>
            </p:cNvSpPr>
            <p:nvPr/>
          </p:nvSpPr>
          <p:spPr bwMode="auto">
            <a:xfrm rot="5400000">
              <a:off x="4533900" y="5927108"/>
              <a:ext cx="152400" cy="228600"/>
            </a:xfrm>
            <a:prstGeom prst="triangle">
              <a:avLst>
                <a:gd name="adj" fmla="val 50000"/>
              </a:avLst>
            </a:prstGeom>
            <a:solidFill>
              <a:srgbClr val="F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1pPr>
              <a:lvl2pPr marL="742950" indent="-28575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2pPr>
              <a:lvl3pPr marL="1143000" indent="-22860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3pPr>
              <a:lvl4pPr marL="1600200" indent="-22860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4pPr>
              <a:lvl5pPr marL="2057400" indent="-22860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9pPr>
            </a:lstStyle>
            <a:p>
              <a:endParaRPr lang="en-IN" altLang="en-US"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5"/>
          <p:cNvSpPr>
            <a:spLocks noChangeArrowheads="1"/>
          </p:cNvSpPr>
          <p:nvPr/>
        </p:nvSpPr>
        <p:spPr bwMode="auto">
          <a:xfrm rot="-5400000">
            <a:off x="-2590800" y="2895600"/>
            <a:ext cx="61722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1pPr>
            <a:lvl2pPr marL="742950" indent="-28575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2pPr>
            <a:lvl3pPr marL="11430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3pPr>
            <a:lvl4pPr marL="16002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4pPr>
            <a:lvl5pPr marL="20574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9pPr>
          </a:lstStyle>
          <a:p>
            <a:r>
              <a:rPr lang="en-US" altLang="en-US">
                <a:solidFill>
                  <a:schemeClr val="bg2"/>
                </a:solidFill>
              </a:rPr>
              <a:t>5.2 The Liquid State</a:t>
            </a:r>
          </a:p>
        </p:txBody>
      </p:sp>
      <p:sp>
        <p:nvSpPr>
          <p:cNvPr id="48130" name="Rectangle 6"/>
          <p:cNvSpPr>
            <a:spLocks noGrp="1" noChangeArrowheads="1"/>
          </p:cNvSpPr>
          <p:nvPr>
            <p:ph type="title"/>
          </p:nvPr>
        </p:nvSpPr>
        <p:spPr>
          <a:xfrm>
            <a:off x="1143000" y="228600"/>
            <a:ext cx="7772400" cy="1143000"/>
          </a:xfrm>
        </p:spPr>
        <p:txBody>
          <a:bodyPr/>
          <a:lstStyle/>
          <a:p>
            <a:r>
              <a:rPr lang="en-US" altLang="en-US" smtClean="0">
                <a:ea typeface="ＭＳ Ｐゴシック" pitchFamily="34" charset="-128"/>
              </a:rPr>
              <a:t>Examples of Hydrogen Bonding</a:t>
            </a:r>
          </a:p>
        </p:txBody>
      </p:sp>
      <p:sp>
        <p:nvSpPr>
          <p:cNvPr id="48131" name="Rectangle 7"/>
          <p:cNvSpPr>
            <a:spLocks noGrp="1" noChangeArrowheads="1"/>
          </p:cNvSpPr>
          <p:nvPr>
            <p:ph type="body" sz="half" idx="1"/>
          </p:nvPr>
        </p:nvSpPr>
        <p:spPr>
          <a:xfrm>
            <a:off x="1524000" y="1524000"/>
            <a:ext cx="7391400" cy="1981200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altLang="en-US" sz="2800" smtClean="0">
                <a:ea typeface="ＭＳ Ｐゴシック" pitchFamily="34" charset="-128"/>
              </a:rPr>
              <a:t>Hydrogen bonding has an extremely important influence on the behavior of many biological systems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altLang="en-US" sz="2800" smtClean="0">
                <a:ea typeface="ＭＳ Ｐゴシック" pitchFamily="34" charset="-128"/>
              </a:rPr>
              <a:t>H</a:t>
            </a:r>
            <a:r>
              <a:rPr lang="en-US" altLang="en-US" sz="2800" baseline="-25000" smtClean="0">
                <a:ea typeface="ＭＳ Ｐゴシック" pitchFamily="34" charset="-128"/>
              </a:rPr>
              <a:t>2</a:t>
            </a:r>
            <a:r>
              <a:rPr lang="en-US" altLang="en-US" sz="2800" smtClean="0">
                <a:ea typeface="ＭＳ Ｐゴシック" pitchFamily="34" charset="-128"/>
              </a:rPr>
              <a:t>O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altLang="en-US" sz="2800" smtClean="0">
                <a:ea typeface="ＭＳ Ｐゴシック" pitchFamily="34" charset="-128"/>
              </a:rPr>
              <a:t>NH</a:t>
            </a:r>
            <a:r>
              <a:rPr lang="en-US" altLang="en-US" sz="2800" baseline="-25000" smtClean="0">
                <a:ea typeface="ＭＳ Ｐゴシック" pitchFamily="34" charset="-128"/>
              </a:rPr>
              <a:t>3</a:t>
            </a:r>
            <a:endParaRPr lang="en-US" altLang="en-US" sz="2800" smtClean="0">
              <a:ea typeface="ＭＳ Ｐゴシック" pitchFamily="34" charset="-128"/>
            </a:endParaRP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altLang="en-US" sz="2800" smtClean="0">
                <a:ea typeface="ＭＳ Ｐゴシック" pitchFamily="34" charset="-128"/>
              </a:rPr>
              <a:t>HF</a:t>
            </a:r>
          </a:p>
          <a:p>
            <a:pPr>
              <a:lnSpc>
                <a:spcPct val="90000"/>
              </a:lnSpc>
            </a:pPr>
            <a:endParaRPr lang="en-US" altLang="en-US" sz="2400" smtClean="0">
              <a:ea typeface="ＭＳ Ｐゴシック" pitchFamily="34" charset="-128"/>
            </a:endParaRPr>
          </a:p>
        </p:txBody>
      </p:sp>
      <p:pic>
        <p:nvPicPr>
          <p:cNvPr id="48132" name="Picture 12" descr="05_0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9863" y="2405063"/>
            <a:ext cx="3944937" cy="434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772400" cy="1143000"/>
          </a:xfrm>
        </p:spPr>
        <p:txBody>
          <a:bodyPr/>
          <a:lstStyle/>
          <a:p>
            <a:r>
              <a:rPr lang="en-US" altLang="en-US" dirty="0" smtClean="0">
                <a:ea typeface="ＭＳ Ｐゴシック" pitchFamily="34" charset="-128"/>
              </a:rPr>
              <a:t>5.3 The Solid State</a:t>
            </a:r>
          </a:p>
        </p:txBody>
      </p:sp>
      <p:sp>
        <p:nvSpPr>
          <p:cNvPr id="4915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447800"/>
            <a:ext cx="7924800" cy="4724400"/>
          </a:xfrm>
        </p:spPr>
        <p:txBody>
          <a:bodyPr/>
          <a:lstStyle/>
          <a:p>
            <a:r>
              <a:rPr lang="en-US" altLang="en-US" dirty="0" smtClean="0">
                <a:ea typeface="ＭＳ Ｐゴシック" pitchFamily="34" charset="-128"/>
              </a:rPr>
              <a:t>Particles are closely packed due to attractive forces strong enough to resist motion</a:t>
            </a:r>
          </a:p>
          <a:p>
            <a:pPr>
              <a:spcBef>
                <a:spcPts val="1963"/>
              </a:spcBef>
            </a:pPr>
            <a:r>
              <a:rPr lang="en-US" altLang="en-US" dirty="0" smtClean="0">
                <a:ea typeface="ＭＳ Ｐゴシック" pitchFamily="34" charset="-128"/>
              </a:rPr>
              <a:t>Solids have a fixed shape and volume</a:t>
            </a:r>
          </a:p>
          <a:p>
            <a:pPr>
              <a:spcBef>
                <a:spcPts val="1963"/>
              </a:spcBef>
            </a:pPr>
            <a:r>
              <a:rPr lang="en-US" altLang="en-US" dirty="0" smtClean="0">
                <a:ea typeface="ＭＳ Ｐゴシック" pitchFamily="34" charset="-128"/>
              </a:rPr>
              <a:t>Properties of solids:</a:t>
            </a:r>
          </a:p>
          <a:p>
            <a:pPr lvl="1"/>
            <a:r>
              <a:rPr lang="en-US" altLang="en-US" dirty="0" smtClean="0">
                <a:ea typeface="ＭＳ Ｐゴシック" pitchFamily="34" charset="-128"/>
              </a:rPr>
              <a:t>Virtually incompressible</a:t>
            </a:r>
          </a:p>
          <a:p>
            <a:pPr lvl="1"/>
            <a:r>
              <a:rPr lang="en-US" altLang="en-US" dirty="0" smtClean="0">
                <a:ea typeface="ＭＳ Ｐゴシック" pitchFamily="34" charset="-128"/>
              </a:rPr>
              <a:t>Melting point depends on strength of attractive force between particles</a:t>
            </a:r>
          </a:p>
          <a:p>
            <a:pPr lvl="1"/>
            <a:r>
              <a:rPr lang="en-US" altLang="en-US" dirty="0" smtClean="0">
                <a:ea typeface="ＭＳ Ｐゴシック" pitchFamily="34" charset="-128"/>
              </a:rPr>
              <a:t>May be a crystalline solid or an amorphous solid</a:t>
            </a:r>
          </a:p>
        </p:txBody>
      </p:sp>
      <p:grpSp>
        <p:nvGrpSpPr>
          <p:cNvPr id="49155" name="Group 9"/>
          <p:cNvGrpSpPr>
            <a:grpSpLocks/>
          </p:cNvGrpSpPr>
          <p:nvPr/>
        </p:nvGrpSpPr>
        <p:grpSpPr bwMode="auto">
          <a:xfrm>
            <a:off x="7924801" y="1098342"/>
            <a:ext cx="914400" cy="523875"/>
            <a:chOff x="3810000" y="5791200"/>
            <a:chExt cx="914400" cy="523220"/>
          </a:xfrm>
        </p:grpSpPr>
        <p:sp>
          <p:nvSpPr>
            <p:cNvPr id="49156" name="TextBox 6"/>
            <p:cNvSpPr txBox="1">
              <a:spLocks noChangeArrowheads="1"/>
            </p:cNvSpPr>
            <p:nvPr/>
          </p:nvSpPr>
          <p:spPr bwMode="auto">
            <a:xfrm>
              <a:off x="3810000" y="5791200"/>
              <a:ext cx="838200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1pPr>
              <a:lvl2pPr marL="742950" indent="-28575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2pPr>
              <a:lvl3pPr marL="1143000" indent="-22860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3pPr>
              <a:lvl4pPr marL="1600200" indent="-22860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4pPr>
              <a:lvl5pPr marL="2057400" indent="-22860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9pPr>
            </a:lstStyle>
            <a:p>
              <a:r>
                <a:rPr lang="en-US" altLang="en-US" sz="2800" dirty="0" smtClean="0">
                  <a:solidFill>
                    <a:schemeClr val="accent2"/>
                  </a:solidFill>
                  <a:latin typeface="Arial Black" pitchFamily="34" charset="0"/>
                </a:rPr>
                <a:t>12 </a:t>
              </a:r>
              <a:endParaRPr lang="en-US" altLang="en-US" sz="2800" dirty="0">
                <a:solidFill>
                  <a:schemeClr val="accent2"/>
                </a:solidFill>
                <a:latin typeface="Arial Black" pitchFamily="34" charset="0"/>
              </a:endParaRPr>
            </a:p>
          </p:txBody>
        </p:sp>
        <p:sp>
          <p:nvSpPr>
            <p:cNvPr id="49157" name="Isosceles Triangle 8"/>
            <p:cNvSpPr>
              <a:spLocks noChangeArrowheads="1"/>
            </p:cNvSpPr>
            <p:nvPr/>
          </p:nvSpPr>
          <p:spPr bwMode="auto">
            <a:xfrm rot="5400000">
              <a:off x="4533900" y="5927108"/>
              <a:ext cx="152400" cy="228600"/>
            </a:xfrm>
            <a:prstGeom prst="triangle">
              <a:avLst>
                <a:gd name="adj" fmla="val 50000"/>
              </a:avLst>
            </a:prstGeom>
            <a:solidFill>
              <a:srgbClr val="F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1pPr>
              <a:lvl2pPr marL="742950" indent="-28575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2pPr>
              <a:lvl3pPr marL="1143000" indent="-22860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3pPr>
              <a:lvl4pPr marL="1600200" indent="-22860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4pPr>
              <a:lvl5pPr marL="2057400" indent="-228600"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D0C1D5"/>
                  </a:solidFill>
                  <a:latin typeface="Times New Roman" pitchFamily="18" charset="0"/>
                  <a:ea typeface="ＭＳ Ｐゴシック" pitchFamily="34" charset="-128"/>
                </a:defRPr>
              </a:lvl9pPr>
            </a:lstStyle>
            <a:p>
              <a:endParaRPr lang="en-IN" altLang="en-US"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2"/>
          <p:cNvSpPr>
            <a:spLocks noChangeArrowheads="1"/>
          </p:cNvSpPr>
          <p:nvPr/>
        </p:nvSpPr>
        <p:spPr bwMode="auto">
          <a:xfrm rot="-5400000">
            <a:off x="-2171700" y="2857500"/>
            <a:ext cx="53340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1pPr>
            <a:lvl2pPr marL="742950" indent="-28575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2pPr>
            <a:lvl3pPr marL="11430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3pPr>
            <a:lvl4pPr marL="16002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4pPr>
            <a:lvl5pPr marL="20574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9pPr>
          </a:lstStyle>
          <a:p>
            <a:r>
              <a:rPr lang="en-US" altLang="en-US">
                <a:solidFill>
                  <a:schemeClr val="bg2"/>
                </a:solidFill>
              </a:rPr>
              <a:t>5.3 The Solid State</a:t>
            </a:r>
          </a:p>
        </p:txBody>
      </p:sp>
      <p:sp>
        <p:nvSpPr>
          <p:cNvPr id="50178" name="Rectangle 5"/>
          <p:cNvSpPr>
            <a:spLocks noGrp="1" noChangeArrowheads="1"/>
          </p:cNvSpPr>
          <p:nvPr>
            <p:ph type="title"/>
          </p:nvPr>
        </p:nvSpPr>
        <p:spPr>
          <a:xfrm>
            <a:off x="1066800" y="228600"/>
            <a:ext cx="7772400" cy="1143000"/>
          </a:xfrm>
        </p:spPr>
        <p:txBody>
          <a:bodyPr/>
          <a:lstStyle/>
          <a:p>
            <a:r>
              <a:rPr lang="en-US" altLang="en-US" smtClean="0">
                <a:ea typeface="ＭＳ Ｐゴシック" pitchFamily="34" charset="-128"/>
              </a:rPr>
              <a:t>Types of Crystalline Solids</a:t>
            </a:r>
          </a:p>
        </p:txBody>
      </p:sp>
      <p:sp>
        <p:nvSpPr>
          <p:cNvPr id="50179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1676400" y="1447800"/>
            <a:ext cx="7239000" cy="4114800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ct val="50000"/>
              </a:spcBef>
              <a:buClrTx/>
              <a:buFontTx/>
              <a:buNone/>
            </a:pPr>
            <a:r>
              <a:rPr lang="en-US" altLang="en-US" dirty="0" smtClean="0">
                <a:ea typeface="ＭＳ Ｐゴシック" pitchFamily="34" charset="-128"/>
              </a:rPr>
              <a:t>1.	  Ionic solids</a:t>
            </a:r>
          </a:p>
          <a:p>
            <a:pPr lvl="1">
              <a:lnSpc>
                <a:spcPct val="80000"/>
              </a:lnSpc>
              <a:spcBef>
                <a:spcPct val="25000"/>
              </a:spcBef>
              <a:buFontTx/>
              <a:buChar char="•"/>
            </a:pPr>
            <a:r>
              <a:rPr lang="en-US" altLang="en-US" dirty="0">
                <a:ea typeface="ＭＳ Ｐゴシック" pitchFamily="34" charset="-128"/>
              </a:rPr>
              <a:t>M</a:t>
            </a:r>
            <a:r>
              <a:rPr lang="en-US" altLang="en-US" dirty="0" smtClean="0">
                <a:ea typeface="ＭＳ Ｐゴシック" pitchFamily="34" charset="-128"/>
              </a:rPr>
              <a:t>ade up of positive and negative ions</a:t>
            </a:r>
          </a:p>
          <a:p>
            <a:pPr lvl="1">
              <a:lnSpc>
                <a:spcPct val="80000"/>
              </a:lnSpc>
              <a:spcBef>
                <a:spcPct val="25000"/>
              </a:spcBef>
              <a:buFontTx/>
              <a:buChar char="•"/>
            </a:pPr>
            <a:r>
              <a:rPr lang="en-US" altLang="en-US" dirty="0">
                <a:ea typeface="ＭＳ Ｐゴシック" pitchFamily="34" charset="-128"/>
              </a:rPr>
              <a:t>H</a:t>
            </a:r>
            <a:r>
              <a:rPr lang="en-US" altLang="en-US" dirty="0" smtClean="0">
                <a:ea typeface="ＭＳ Ｐゴシック" pitchFamily="34" charset="-128"/>
              </a:rPr>
              <a:t>igh melting and boiling points</a:t>
            </a:r>
          </a:p>
          <a:p>
            <a:pPr lvl="1">
              <a:lnSpc>
                <a:spcPct val="80000"/>
              </a:lnSpc>
              <a:spcBef>
                <a:spcPct val="25000"/>
              </a:spcBef>
              <a:buFontTx/>
              <a:buChar char="•"/>
            </a:pPr>
            <a:r>
              <a:rPr lang="en-US" altLang="en-US" dirty="0">
                <a:ea typeface="ＭＳ Ｐゴシック" pitchFamily="34" charset="-128"/>
              </a:rPr>
              <a:t>H</a:t>
            </a:r>
            <a:r>
              <a:rPr lang="en-US" altLang="en-US" dirty="0" smtClean="0">
                <a:ea typeface="ＭＳ Ｐゴシック" pitchFamily="34" charset="-128"/>
              </a:rPr>
              <a:t>ard and brittle</a:t>
            </a:r>
          </a:p>
          <a:p>
            <a:pPr lvl="2">
              <a:lnSpc>
                <a:spcPct val="80000"/>
              </a:lnSpc>
              <a:spcBef>
                <a:spcPct val="25000"/>
              </a:spcBef>
            </a:pPr>
            <a:r>
              <a:rPr lang="en-US" altLang="en-US" dirty="0" smtClean="0">
                <a:ea typeface="ＭＳ Ｐゴシック" pitchFamily="34" charset="-128"/>
              </a:rPr>
              <a:t>Example:  </a:t>
            </a:r>
            <a:r>
              <a:rPr lang="en-US" altLang="en-US" dirty="0" err="1" smtClean="0">
                <a:ea typeface="ＭＳ Ｐゴシック" pitchFamily="34" charset="-128"/>
              </a:rPr>
              <a:t>NaCl</a:t>
            </a:r>
            <a:endParaRPr lang="en-US" altLang="en-US" dirty="0" smtClean="0">
              <a:ea typeface="ＭＳ Ｐゴシック" pitchFamily="34" charset="-128"/>
            </a:endParaRPr>
          </a:p>
          <a:p>
            <a:pPr>
              <a:lnSpc>
                <a:spcPct val="90000"/>
              </a:lnSpc>
              <a:spcBef>
                <a:spcPct val="50000"/>
              </a:spcBef>
              <a:buClrTx/>
              <a:buFontTx/>
              <a:buNone/>
            </a:pPr>
            <a:r>
              <a:rPr lang="en-US" altLang="en-US" dirty="0" smtClean="0">
                <a:ea typeface="ＭＳ Ｐゴシック" pitchFamily="34" charset="-128"/>
              </a:rPr>
              <a:t>2.	  Covalent solids</a:t>
            </a:r>
          </a:p>
          <a:p>
            <a:pPr lvl="1">
              <a:lnSpc>
                <a:spcPct val="80000"/>
              </a:lnSpc>
              <a:spcBef>
                <a:spcPct val="25000"/>
              </a:spcBef>
              <a:buFontTx/>
              <a:buChar char="•"/>
            </a:pPr>
            <a:r>
              <a:rPr lang="en-US" altLang="en-US" dirty="0">
                <a:ea typeface="ＭＳ Ｐゴシック" pitchFamily="34" charset="-128"/>
              </a:rPr>
              <a:t>H</a:t>
            </a:r>
            <a:r>
              <a:rPr lang="en-US" altLang="en-US" dirty="0" smtClean="0">
                <a:ea typeface="ＭＳ Ｐゴシック" pitchFamily="34" charset="-128"/>
              </a:rPr>
              <a:t>eld together by covalent bonds</a:t>
            </a:r>
          </a:p>
          <a:p>
            <a:pPr lvl="1">
              <a:lnSpc>
                <a:spcPct val="80000"/>
              </a:lnSpc>
              <a:spcBef>
                <a:spcPct val="25000"/>
              </a:spcBef>
              <a:buFontTx/>
              <a:buChar char="•"/>
            </a:pPr>
            <a:r>
              <a:rPr lang="en-US" altLang="en-US" dirty="0" smtClean="0">
                <a:ea typeface="ＭＳ Ｐゴシック" pitchFamily="34" charset="-128"/>
              </a:rPr>
              <a:t>High melting and boiling points</a:t>
            </a:r>
          </a:p>
          <a:p>
            <a:pPr lvl="1">
              <a:lnSpc>
                <a:spcPct val="80000"/>
              </a:lnSpc>
              <a:spcBef>
                <a:spcPct val="25000"/>
              </a:spcBef>
              <a:buFontTx/>
              <a:buChar char="•"/>
            </a:pPr>
            <a:r>
              <a:rPr lang="en-US" altLang="en-US" dirty="0">
                <a:ea typeface="ＭＳ Ｐゴシック" pitchFamily="34" charset="-128"/>
              </a:rPr>
              <a:t>E</a:t>
            </a:r>
            <a:r>
              <a:rPr lang="en-US" altLang="en-US" dirty="0" smtClean="0">
                <a:ea typeface="ＭＳ Ｐゴシック" pitchFamily="34" charset="-128"/>
              </a:rPr>
              <a:t>xtremely hard</a:t>
            </a:r>
          </a:p>
          <a:p>
            <a:pPr lvl="2">
              <a:lnSpc>
                <a:spcPct val="80000"/>
              </a:lnSpc>
              <a:spcBef>
                <a:spcPct val="25000"/>
              </a:spcBef>
            </a:pPr>
            <a:r>
              <a:rPr lang="en-US" altLang="en-US" dirty="0" smtClean="0">
                <a:ea typeface="ＭＳ Ｐゴシック" pitchFamily="34" charset="-128"/>
              </a:rPr>
              <a:t>Example:  Diamond</a:t>
            </a:r>
          </a:p>
          <a:p>
            <a:pPr>
              <a:lnSpc>
                <a:spcPct val="90000"/>
              </a:lnSpc>
            </a:pPr>
            <a:endParaRPr lang="en-US" altLang="en-US" sz="2800" dirty="0" smtClean="0">
              <a:ea typeface="ＭＳ Ｐゴシック" pitchFamily="34" charset="-128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2"/>
          <p:cNvSpPr>
            <a:spLocks noChangeArrowheads="1"/>
          </p:cNvSpPr>
          <p:nvPr/>
        </p:nvSpPr>
        <p:spPr bwMode="auto">
          <a:xfrm rot="-5400000">
            <a:off x="-2171700" y="2857500"/>
            <a:ext cx="53340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1pPr>
            <a:lvl2pPr marL="742950" indent="-28575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2pPr>
            <a:lvl3pPr marL="11430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3pPr>
            <a:lvl4pPr marL="16002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4pPr>
            <a:lvl5pPr marL="20574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9pPr>
          </a:lstStyle>
          <a:p>
            <a:r>
              <a:rPr lang="en-US" altLang="en-US">
                <a:solidFill>
                  <a:schemeClr val="bg2"/>
                </a:solidFill>
              </a:rPr>
              <a:t>5.3 The Solid State</a:t>
            </a:r>
          </a:p>
        </p:txBody>
      </p:sp>
      <p:sp>
        <p:nvSpPr>
          <p:cNvPr id="51202" name="Rectangle 5"/>
          <p:cNvSpPr>
            <a:spLocks noGrp="1" noChangeArrowheads="1"/>
          </p:cNvSpPr>
          <p:nvPr>
            <p:ph type="title"/>
          </p:nvPr>
        </p:nvSpPr>
        <p:spPr>
          <a:xfrm>
            <a:off x="1066800" y="228600"/>
            <a:ext cx="7772400" cy="1143000"/>
          </a:xfrm>
        </p:spPr>
        <p:txBody>
          <a:bodyPr/>
          <a:lstStyle/>
          <a:p>
            <a:r>
              <a:rPr lang="en-US" altLang="en-US" dirty="0" smtClean="0">
                <a:ea typeface="ＭＳ Ｐゴシック" pitchFamily="34" charset="-128"/>
              </a:rPr>
              <a:t>3</a:t>
            </a:r>
            <a:r>
              <a:rPr lang="en-US" altLang="en-US" baseline="30000" dirty="0" smtClean="0">
                <a:ea typeface="ＭＳ Ｐゴシック" pitchFamily="34" charset="-128"/>
              </a:rPr>
              <a:t>rd</a:t>
            </a:r>
            <a:r>
              <a:rPr lang="en-US" altLang="en-US" dirty="0" smtClean="0">
                <a:ea typeface="ＭＳ Ｐゴシック" pitchFamily="34" charset="-128"/>
              </a:rPr>
              <a:t> Type of Crystalline</a:t>
            </a:r>
          </a:p>
        </p:txBody>
      </p:sp>
      <p:sp>
        <p:nvSpPr>
          <p:cNvPr id="51203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1676400" y="1447800"/>
            <a:ext cx="7239000" cy="3048000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ct val="50000"/>
              </a:spcBef>
              <a:buClrTx/>
              <a:buFontTx/>
              <a:buNone/>
            </a:pPr>
            <a:r>
              <a:rPr lang="en-US" altLang="en-US" dirty="0" smtClean="0">
                <a:ea typeface="ＭＳ Ｐゴシック" pitchFamily="34" charset="-128"/>
              </a:rPr>
              <a:t>3.	  Molecular Solids</a:t>
            </a:r>
          </a:p>
          <a:p>
            <a:pPr lvl="1">
              <a:spcBef>
                <a:spcPct val="25000"/>
              </a:spcBef>
              <a:buFontTx/>
              <a:buChar char="•"/>
            </a:pPr>
            <a:r>
              <a:rPr lang="en-US" altLang="en-US" dirty="0">
                <a:ea typeface="ＭＳ Ｐゴシック" pitchFamily="34" charset="-128"/>
              </a:rPr>
              <a:t>M</a:t>
            </a:r>
            <a:r>
              <a:rPr lang="en-US" altLang="en-US" dirty="0" smtClean="0">
                <a:ea typeface="ＭＳ Ｐゴシック" pitchFamily="34" charset="-128"/>
              </a:rPr>
              <a:t>ade up of molecules held together by intermolecular attractive forces</a:t>
            </a:r>
          </a:p>
          <a:p>
            <a:pPr lvl="1">
              <a:lnSpc>
                <a:spcPct val="80000"/>
              </a:lnSpc>
              <a:spcBef>
                <a:spcPct val="25000"/>
              </a:spcBef>
              <a:buFontTx/>
              <a:buChar char="•"/>
            </a:pPr>
            <a:r>
              <a:rPr lang="en-US" altLang="en-US" dirty="0">
                <a:ea typeface="ＭＳ Ｐゴシック" pitchFamily="34" charset="-128"/>
              </a:rPr>
              <a:t>U</a:t>
            </a:r>
            <a:r>
              <a:rPr lang="en-US" altLang="en-US" dirty="0" smtClean="0">
                <a:ea typeface="ＭＳ Ｐゴシック" pitchFamily="34" charset="-128"/>
              </a:rPr>
              <a:t>sually soft with low melting point</a:t>
            </a:r>
          </a:p>
          <a:p>
            <a:pPr lvl="1">
              <a:lnSpc>
                <a:spcPct val="80000"/>
              </a:lnSpc>
              <a:spcBef>
                <a:spcPct val="25000"/>
              </a:spcBef>
              <a:buFontTx/>
              <a:buChar char="•"/>
            </a:pPr>
            <a:r>
              <a:rPr lang="en-US" altLang="en-US" dirty="0">
                <a:ea typeface="ＭＳ Ｐゴシック" pitchFamily="34" charset="-128"/>
              </a:rPr>
              <a:t>V</a:t>
            </a:r>
            <a:r>
              <a:rPr lang="en-US" altLang="en-US" dirty="0" smtClean="0">
                <a:ea typeface="ＭＳ Ｐゴシック" pitchFamily="34" charset="-128"/>
              </a:rPr>
              <a:t>olatile and poor electrical conductors</a:t>
            </a:r>
          </a:p>
          <a:p>
            <a:pPr lvl="2">
              <a:lnSpc>
                <a:spcPct val="80000"/>
              </a:lnSpc>
              <a:spcBef>
                <a:spcPct val="25000"/>
              </a:spcBef>
            </a:pPr>
            <a:r>
              <a:rPr lang="en-US" altLang="en-US" dirty="0" smtClean="0">
                <a:ea typeface="ＭＳ Ｐゴシック" pitchFamily="34" charset="-128"/>
              </a:rPr>
              <a:t>Example: Ice</a:t>
            </a:r>
          </a:p>
        </p:txBody>
      </p:sp>
      <p:pic>
        <p:nvPicPr>
          <p:cNvPr id="51207" name="Picture 7" descr="den02761_05_10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3768827"/>
            <a:ext cx="3284637" cy="29841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2"/>
          <p:cNvSpPr>
            <a:spLocks noChangeArrowheads="1"/>
          </p:cNvSpPr>
          <p:nvPr/>
        </p:nvSpPr>
        <p:spPr bwMode="auto">
          <a:xfrm rot="-5400000">
            <a:off x="-2171700" y="2857500"/>
            <a:ext cx="53340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1pPr>
            <a:lvl2pPr marL="742950" indent="-28575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2pPr>
            <a:lvl3pPr marL="11430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3pPr>
            <a:lvl4pPr marL="16002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4pPr>
            <a:lvl5pPr marL="20574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9pPr>
          </a:lstStyle>
          <a:p>
            <a:r>
              <a:rPr lang="en-US" altLang="en-US">
                <a:solidFill>
                  <a:schemeClr val="bg2"/>
                </a:solidFill>
              </a:rPr>
              <a:t>5.3 The Solid State</a:t>
            </a:r>
          </a:p>
        </p:txBody>
      </p:sp>
      <p:sp>
        <p:nvSpPr>
          <p:cNvPr id="52226" name="Rectangle 5"/>
          <p:cNvSpPr>
            <a:spLocks noGrp="1" noChangeArrowheads="1"/>
          </p:cNvSpPr>
          <p:nvPr>
            <p:ph type="title"/>
          </p:nvPr>
        </p:nvSpPr>
        <p:spPr>
          <a:xfrm>
            <a:off x="1066800" y="228600"/>
            <a:ext cx="7772400" cy="1143000"/>
          </a:xfrm>
        </p:spPr>
        <p:txBody>
          <a:bodyPr/>
          <a:lstStyle/>
          <a:p>
            <a:r>
              <a:rPr lang="en-US" altLang="en-US" dirty="0" smtClean="0">
                <a:ea typeface="ＭＳ Ｐゴシック" pitchFamily="34" charset="-128"/>
              </a:rPr>
              <a:t>4</a:t>
            </a:r>
            <a:r>
              <a:rPr lang="en-US" altLang="en-US" baseline="30000" dirty="0" smtClean="0">
                <a:ea typeface="ＭＳ Ｐゴシック" pitchFamily="34" charset="-128"/>
              </a:rPr>
              <a:t>th</a:t>
            </a:r>
            <a:r>
              <a:rPr lang="en-US" altLang="en-US" dirty="0" smtClean="0">
                <a:ea typeface="ＭＳ Ｐゴシック" pitchFamily="34" charset="-128"/>
              </a:rPr>
              <a:t> Type of Crystalline Solids</a:t>
            </a:r>
          </a:p>
        </p:txBody>
      </p:sp>
      <p:sp>
        <p:nvSpPr>
          <p:cNvPr id="52227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1676400" y="1447800"/>
            <a:ext cx="7239000" cy="3048000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ct val="50000"/>
              </a:spcBef>
              <a:buClrTx/>
              <a:buFontTx/>
              <a:buNone/>
            </a:pPr>
            <a:r>
              <a:rPr lang="en-US" altLang="en-US" dirty="0" smtClean="0">
                <a:ea typeface="ＭＳ Ｐゴシック" pitchFamily="34" charset="-128"/>
              </a:rPr>
              <a:t>4.	  Metallic Solids</a:t>
            </a:r>
          </a:p>
          <a:p>
            <a:pPr lvl="1">
              <a:spcBef>
                <a:spcPts val="2038"/>
              </a:spcBef>
              <a:buFontTx/>
              <a:buChar char="•"/>
            </a:pPr>
            <a:r>
              <a:rPr lang="en-US" altLang="en-US" dirty="0">
                <a:ea typeface="ＭＳ Ｐゴシック" pitchFamily="34" charset="-128"/>
              </a:rPr>
              <a:t>M</a:t>
            </a:r>
            <a:r>
              <a:rPr lang="en-US" altLang="en-US" dirty="0" smtClean="0">
                <a:ea typeface="ＭＳ Ｐゴシック" pitchFamily="34" charset="-128"/>
              </a:rPr>
              <a:t>ade up of metal atoms held together by metallic bonds</a:t>
            </a:r>
          </a:p>
          <a:p>
            <a:pPr lvl="2">
              <a:lnSpc>
                <a:spcPct val="80000"/>
              </a:lnSpc>
              <a:spcBef>
                <a:spcPts val="2038"/>
              </a:spcBef>
            </a:pPr>
            <a:r>
              <a:rPr lang="en-US" altLang="en-US" dirty="0" smtClean="0">
                <a:ea typeface="ＭＳ Ｐゴシック" pitchFamily="34" charset="-128"/>
              </a:rPr>
              <a:t>Metallic bonds are formed by the overlap of metal atomic orbitals</a:t>
            </a:r>
          </a:p>
          <a:p>
            <a:pPr lvl="1">
              <a:lnSpc>
                <a:spcPct val="80000"/>
              </a:lnSpc>
              <a:spcBef>
                <a:spcPts val="2038"/>
              </a:spcBef>
              <a:buFontTx/>
              <a:buChar char="•"/>
            </a:pPr>
            <a:r>
              <a:rPr lang="en-US" altLang="en-US" dirty="0">
                <a:ea typeface="ＭＳ Ｐゴシック" pitchFamily="34" charset="-128"/>
              </a:rPr>
              <a:t>R</a:t>
            </a:r>
            <a:r>
              <a:rPr lang="en-US" altLang="en-US" dirty="0" smtClean="0">
                <a:ea typeface="ＭＳ Ｐゴシック" pitchFamily="34" charset="-128"/>
              </a:rPr>
              <a:t>egions of high electron density, which are very mobile and move freely from atom to atom</a:t>
            </a:r>
          </a:p>
          <a:p>
            <a:pPr lvl="1">
              <a:lnSpc>
                <a:spcPct val="80000"/>
              </a:lnSpc>
              <a:spcBef>
                <a:spcPts val="2038"/>
              </a:spcBef>
              <a:buFontTx/>
              <a:buChar char="•"/>
            </a:pPr>
            <a:r>
              <a:rPr lang="en-US" altLang="en-US" dirty="0">
                <a:ea typeface="ＭＳ Ｐゴシック" pitchFamily="34" charset="-128"/>
              </a:rPr>
              <a:t>H</a:t>
            </a:r>
            <a:r>
              <a:rPr lang="en-US" altLang="en-US" dirty="0" smtClean="0">
                <a:ea typeface="ＭＳ Ｐゴシック" pitchFamily="34" charset="-128"/>
              </a:rPr>
              <a:t>igh conductivity</a:t>
            </a:r>
          </a:p>
          <a:p>
            <a:pPr lvl="2">
              <a:lnSpc>
                <a:spcPct val="80000"/>
              </a:lnSpc>
              <a:spcBef>
                <a:spcPts val="2038"/>
              </a:spcBef>
            </a:pPr>
            <a:r>
              <a:rPr lang="en-US" altLang="en-US" dirty="0" smtClean="0">
                <a:ea typeface="ＭＳ Ｐゴシック" pitchFamily="34" charset="-128"/>
              </a:rPr>
              <a:t>Examples: Ag and Cu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4"/>
          <p:cNvSpPr>
            <a:spLocks noChangeArrowheads="1"/>
          </p:cNvSpPr>
          <p:nvPr/>
        </p:nvSpPr>
        <p:spPr bwMode="auto">
          <a:xfrm rot="-5400000">
            <a:off x="-2171700" y="2857500"/>
            <a:ext cx="53340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1pPr>
            <a:lvl2pPr marL="742950" indent="-28575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2pPr>
            <a:lvl3pPr marL="11430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3pPr>
            <a:lvl4pPr marL="16002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4pPr>
            <a:lvl5pPr marL="20574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9pPr>
          </a:lstStyle>
          <a:p>
            <a:r>
              <a:rPr lang="en-US" altLang="en-US">
                <a:solidFill>
                  <a:schemeClr val="bg2"/>
                </a:solidFill>
              </a:rPr>
              <a:t>5.3 The Solid State</a:t>
            </a:r>
          </a:p>
        </p:txBody>
      </p:sp>
      <p:sp>
        <p:nvSpPr>
          <p:cNvPr id="53250" name="Rectangle 5"/>
          <p:cNvSpPr>
            <a:spLocks noGrp="1" noChangeArrowheads="1"/>
          </p:cNvSpPr>
          <p:nvPr>
            <p:ph type="title"/>
          </p:nvPr>
        </p:nvSpPr>
        <p:spPr>
          <a:xfrm>
            <a:off x="1066800" y="228600"/>
            <a:ext cx="7772400" cy="1143000"/>
          </a:xfrm>
        </p:spPr>
        <p:txBody>
          <a:bodyPr/>
          <a:lstStyle/>
          <a:p>
            <a:r>
              <a:rPr lang="en-US" altLang="en-US" smtClean="0">
                <a:ea typeface="ＭＳ Ｐゴシック" pitchFamily="34" charset="-128"/>
              </a:rPr>
              <a:t>Four Types of Crystalline Solids</a:t>
            </a:r>
          </a:p>
        </p:txBody>
      </p:sp>
      <p:pic>
        <p:nvPicPr>
          <p:cNvPr id="53251" name="Picture 11" descr="05_09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1219200"/>
            <a:ext cx="5562600" cy="547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4"/>
          <p:cNvSpPr>
            <a:spLocks noChangeArrowheads="1"/>
          </p:cNvSpPr>
          <p:nvPr/>
        </p:nvSpPr>
        <p:spPr bwMode="auto">
          <a:xfrm rot="-5400000">
            <a:off x="-2171700" y="2857500"/>
            <a:ext cx="53340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1pPr>
            <a:lvl2pPr marL="742950" indent="-28575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2pPr>
            <a:lvl3pPr marL="11430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3pPr>
            <a:lvl4pPr marL="16002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4pPr>
            <a:lvl5pPr marL="2057400" indent="-228600"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D0C1D5"/>
                </a:solidFill>
                <a:latin typeface="Times New Roman" pitchFamily="18" charset="0"/>
                <a:ea typeface="ＭＳ Ｐゴシック" pitchFamily="34" charset="-128"/>
              </a:defRPr>
            </a:lvl9pPr>
          </a:lstStyle>
          <a:p>
            <a:r>
              <a:rPr lang="en-US" altLang="en-US">
                <a:solidFill>
                  <a:schemeClr val="bg2"/>
                </a:solidFill>
              </a:rPr>
              <a:t>5.3 The Solid State</a:t>
            </a:r>
          </a:p>
        </p:txBody>
      </p:sp>
      <p:sp>
        <p:nvSpPr>
          <p:cNvPr id="54274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>
                <a:ea typeface="ＭＳ Ｐゴシック" pitchFamily="34" charset="-128"/>
              </a:rPr>
              <a:t>Sublimation of Solids</a:t>
            </a:r>
          </a:p>
        </p:txBody>
      </p:sp>
      <p:sp>
        <p:nvSpPr>
          <p:cNvPr id="5427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b="1" dirty="0" smtClean="0">
                <a:ea typeface="ＭＳ Ｐゴシック" pitchFamily="34" charset="-128"/>
              </a:rPr>
              <a:t>Sublimation</a:t>
            </a:r>
            <a:r>
              <a:rPr lang="en-US" altLang="en-US" dirty="0" smtClean="0">
                <a:ea typeface="ＭＳ Ｐゴシック" pitchFamily="34" charset="-128"/>
              </a:rPr>
              <a:t> – process of conversion of molecules in the solid state directly to the gaseous state</a:t>
            </a:r>
          </a:p>
          <a:p>
            <a:endParaRPr lang="en-US" altLang="en-US" dirty="0" smtClean="0">
              <a:ea typeface="ＭＳ Ｐゴシック" pitchFamily="34" charset="-128"/>
            </a:endParaRPr>
          </a:p>
          <a:p>
            <a:r>
              <a:rPr lang="en-US" altLang="en-US" dirty="0">
                <a:ea typeface="ＭＳ Ｐゴシック" pitchFamily="34" charset="-128"/>
              </a:rPr>
              <a:t>E</a:t>
            </a:r>
            <a:r>
              <a:rPr lang="en-US" altLang="en-US" dirty="0" smtClean="0">
                <a:ea typeface="ＭＳ Ｐゴシック" pitchFamily="34" charset="-128"/>
              </a:rPr>
              <a:t>xample: Dry ice, solid carbon dioxide</a:t>
            </a:r>
          </a:p>
          <a:p>
            <a:pPr lvl="1"/>
            <a:r>
              <a:rPr lang="en-US" altLang="en-US" dirty="0" smtClean="0">
                <a:ea typeface="ＭＳ Ｐゴシック" pitchFamily="34" charset="-128"/>
              </a:rPr>
              <a:t>Converts directly to a gas at atmospheric pressure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14"/>
  <p:tag name="MMPROD_UIDATA" val="&lt;database version=&quot;6.0&quot;&gt;&lt;object type=&quot;1&quot; unique_id=&quot;10001&quot;&gt;&lt;object type=&quot;8&quot; unique_id=&quot;31960&quot;&gt;&lt;/object&gt;&lt;object type=&quot;2&quot; unique_id=&quot;31961&quot;&gt;&lt;object type=&quot;3&quot; unique_id=&quot;31962&quot;&gt;&lt;property id=&quot;20148&quot; value=&quot;5&quot;/&gt;&lt;property id=&quot;20300&quot; value=&quot;Slide 1&quot;/&gt;&lt;property id=&quot;20307&quot; value=&quot;306&quot;/&gt;&lt;/object&gt;&lt;object type=&quot;3&quot; unique_id=&quot;31963&quot;&gt;&lt;property id=&quot;20148&quot; value=&quot;5&quot;/&gt;&lt;property id=&quot;20300&quot; value=&quot;Slide 2 - &amp;quot;Changes in State&amp;quot;&quot;/&gt;&lt;property id=&quot;20307&quot; value=&quot;303&quot;/&gt;&lt;/object&gt;&lt;object type=&quot;3&quot; unique_id=&quot;31964&quot;&gt;&lt;property id=&quot;20148&quot; value=&quot;5&quot;/&gt;&lt;property id=&quot;20300&quot; value=&quot;Slide 3 - &amp;quot;Comparison of Physical Properties of Gases, Liquids, and Solids&amp;quot;&quot;/&gt;&lt;property id=&quot;20307&quot; value=&quot;261&quot;/&gt;&lt;/object&gt;&lt;object type=&quot;3&quot; unique_id=&quot;31965&quot;&gt;&lt;property id=&quot;20148&quot; value=&quot;5&quot;/&gt;&lt;property id=&quot;20300&quot; value=&quot;Slide 4 - &amp;quot;5.1 The Gaseous State&amp;quot;&quot;/&gt;&lt;property id=&quot;20307&quot; value=&quot;262&quot;/&gt;&lt;/object&gt;&lt;object type=&quot;3&quot; unique_id=&quot;31966&quot;&gt;&lt;property id=&quot;20148&quot; value=&quot;5&quot;/&gt;&lt;property id=&quot;20300&quot; value=&quot;Slide 5 - &amp;quot;Measurement of Gases&amp;quot;&quot;/&gt;&lt;property id=&quot;20307&quot; value=&quot;263&quot;/&gt;&lt;/object&gt;&lt;object type=&quot;3&quot; unique_id=&quot;31967&quot;&gt;&lt;property id=&quot;20148&quot; value=&quot;5&quot;/&gt;&lt;property id=&quot;20300&quot; value=&quot;Slide 6 - &amp;quot;Barometer&amp;quot;&quot;/&gt;&lt;property id=&quot;20307&quot; value=&quot;264&quot;/&gt;&lt;/object&gt;&lt;object type=&quot;3&quot; unique_id=&quot;31968&quot;&gt;&lt;property id=&quot;20148&quot; value=&quot;5&quot;/&gt;&lt;property id=&quot;20300&quot; value=&quot;Slide 7 - &amp;quot;Kinetic Molecular Theory of Gases&amp;quot;&quot;/&gt;&lt;property id=&quot;20307&quot; value=&quot;281&quot;/&gt;&lt;/object&gt;&lt;object type=&quot;3&quot; unique_id=&quot;31969&quot;&gt;&lt;property id=&quot;20148&quot; value=&quot;5&quot;/&gt;&lt;property id=&quot;20300&quot; value=&quot;Slide 8 - &amp;quot;Kinetic Molecular Theory of Gases&amp;quot;&quot;/&gt;&lt;property id=&quot;20307&quot; value=&quot;282&quot;/&gt;&lt;/object&gt;&lt;object type=&quot;3&quot; unique_id=&quot;31970&quot;&gt;&lt;property id=&quot;20148&quot; value=&quot;5&quot;/&gt;&lt;property id=&quot;20300&quot; value=&quot;Slide 9 - &amp;quot;Kinetic Molecular Theory of Gases&amp;quot;&quot;/&gt;&lt;property id=&quot;20307&quot; value=&quot;308&quot;/&gt;&lt;/object&gt;&lt;object type=&quot;3&quot; unique_id=&quot;31971&quot;&gt;&lt;property id=&quot;20148&quot; value=&quot;5&quot;/&gt;&lt;property id=&quot;20300&quot; value=&quot;Slide 10 - &amp;quot;Properties of Gases&amp;quot;&quot;/&gt;&lt;property id=&quot;20307&quot; value=&quot;283&quot;/&gt;&lt;/object&gt;&lt;object type=&quot;3&quot; unique_id=&quot;31972&quot;&gt;&lt;property id=&quot;20148&quot; value=&quot;5&quot;/&gt;&lt;property id=&quot;20300&quot; value=&quot;Slide 11 - &amp;quot;&amp;#x0D;&amp;#x0A;&amp;quot;&quot;/&gt;&lt;property id=&quot;20307&quot; value=&quot;304&quot;/&gt;&lt;/object&gt;&lt;object type=&quot;3&quot; unique_id=&quot;31973&quot;&gt;&lt;property id=&quot;20148&quot; value=&quot;5&quot;/&gt;&lt;property id=&quot;20300&quot; value=&quot;Slide 12 - &amp;quot;Gas Diffusion&amp;quot;&quot;/&gt;&lt;property id=&quot;20307&quot; value=&quot;286&quot;/&gt;&lt;/object&gt;&lt;object type=&quot;3&quot; unique_id=&quot;31974&quot;&gt;&lt;property id=&quot;20148&quot; value=&quot;5&quot;/&gt;&lt;property id=&quot;20300&quot; value=&quot;Slide 13 - &amp;quot;Boyle’s Law&amp;quot;&quot;/&gt;&lt;property id=&quot;20307&quot; value=&quot;265&quot;/&gt;&lt;/object&gt;&lt;object type=&quot;3&quot; unique_id=&quot;31975&quot;&gt;&lt;property id=&quot;20148&quot; value=&quot;5&quot;/&gt;&lt;property id=&quot;20300&quot; value=&quot;Slide 14 - &amp;quot;Boyle’s Law&amp;quot;&quot;/&gt;&lt;property id=&quot;20307&quot; value=&quot;309&quot;/&gt;&lt;/object&gt;&lt;object type=&quot;3&quot; unique_id=&quot;31976&quot;&gt;&lt;property id=&quot;20148&quot; value=&quot;5&quot;/&gt;&lt;property id=&quot;20300&quot; value=&quot;Slide 15 - &amp;quot;Application of Boyle’s Law&amp;quot;&quot;/&gt;&lt;property id=&quot;20307&quot; value=&quot;266&quot;/&gt;&lt;/object&gt;&lt;object type=&quot;3&quot; unique_id=&quot;31977&quot;&gt;&lt;property id=&quot;20148&quot; value=&quot;5&quot;/&gt;&lt;property id=&quot;20300&quot; value=&quot;Slide 16 - &amp;quot;Boyle’s Law Practice&amp;quot;&quot;/&gt;&lt;property id=&quot;20307&quot; value=&quot;267&quot;/&gt;&lt;/object&gt;&lt;object type=&quot;3&quot; unique_id=&quot;31978&quot;&gt;&lt;property id=&quot;20148&quot; value=&quot;5&quot;/&gt;&lt;property id=&quot;20300&quot; value=&quot;Slide 17 - &amp;quot;Charles’s Law&amp;quot;&quot;/&gt;&lt;property id=&quot;20307&quot; value=&quot;268&quot;/&gt;&lt;/object&gt;&lt;object type=&quot;3&quot; unique_id=&quot;31979&quot;&gt;&lt;property id=&quot;20148&quot; value=&quot;5&quot;/&gt;&lt;property id=&quot;20300&quot; value=&quot;Slide 18 - &amp;quot;Charles’s Law&amp;quot;&quot;/&gt;&lt;property id=&quot;20307&quot; value=&quot;310&quot;/&gt;&lt;/object&gt;&lt;object type=&quot;3&quot; unique_id=&quot;31980&quot;&gt;&lt;property id=&quot;20148&quot; value=&quot;5&quot;/&gt;&lt;property id=&quot;20300&quot; value=&quot;Slide 19 - &amp;quot;Application of Charles’s Law&amp;quot;&quot;/&gt;&lt;property id=&quot;20307&quot; value=&quot;269&quot;/&gt;&lt;/object&gt;&lt;object type=&quot;3&quot; unique_id=&quot;31981&quot;&gt;&lt;property id=&quot;20148&quot; value=&quot;5&quot;/&gt;&lt;property id=&quot;20300&quot; value=&quot;Slide 20 - &amp;quot;Practice with Charles’s Law&amp;quot;&quot;/&gt;&lt;property id=&quot;20307&quot; value=&quot;270&quot;/&gt;&lt;/object&gt;&lt;object type=&quot;3&quot; unique_id=&quot;31982&quot;&gt;&lt;property id=&quot;20148&quot; value=&quot;5&quot;/&gt;&lt;property id=&quot;20300&quot; value=&quot;Slide 21 - &amp;quot;Combined Gas Law &amp;quot;&quot;/&gt;&lt;property id=&quot;20307&quot; value=&quot;271&quot;/&gt;&lt;/object&gt;&lt;object type=&quot;3&quot; unique_id=&quot;31983&quot;&gt;&lt;property id=&quot;20148&quot; value=&quot;5&quot;/&gt;&lt;property id=&quot;20300&quot; value=&quot;Slide 22 - &amp;quot;Using the Combined Gas Law &amp;quot;&quot;/&gt;&lt;property id=&quot;20307&quot; value=&quot;305&quot;/&gt;&lt;/object&gt;&lt;object type=&quot;3&quot; unique_id=&quot;31984&quot;&gt;&lt;property id=&quot;20148&quot; value=&quot;5&quot;/&gt;&lt;property id=&quot;20300&quot; value=&quot;Slide 23 - &amp;quot;Using the Combined Gas Law &amp;quot;&quot;/&gt;&lt;property id=&quot;20307&quot; value=&quot;311&quot;/&gt;&lt;/object&gt;&lt;object type=&quot;3&quot; unique_id=&quot;31985&quot;&gt;&lt;property id=&quot;20148&quot; value=&quot;5&quot;/&gt;&lt;property id=&quot;20300&quot; value=&quot;Slide 24 - &amp;quot;Practice With the Combined &amp;#x0D;&amp;#x0A;Gas Law&amp;quot;&quot;/&gt;&lt;property id=&quot;20307&quot; value=&quot;272&quot;/&gt;&lt;/object&gt;&lt;object type=&quot;3&quot; unique_id=&quot;31986&quot;&gt;&lt;property id=&quot;20148&quot; value=&quot;5&quot;/&gt;&lt;property id=&quot;20300&quot; value=&quot;Slide 25 - &amp;quot;Avogadro’s Law &amp;quot;&quot;/&gt;&lt;property id=&quot;20307&quot; value=&quot;273&quot;/&gt;&lt;/object&gt;&lt;object type=&quot;3&quot; unique_id=&quot;31987&quot;&gt;&lt;property id=&quot;20148&quot; value=&quot;5&quot;/&gt;&lt;property id=&quot;20300&quot; value=&quot;Slide 26 - &amp;quot;Using Avogadro’s Law&amp;quot;&quot;/&gt;&lt;property id=&quot;20307&quot; value=&quot;274&quot;/&gt;&lt;/object&gt;&lt;object type=&quot;3&quot; unique_id=&quot;31988&quot;&gt;&lt;property id=&quot;20148&quot; value=&quot;5&quot;/&gt;&lt;property id=&quot;20300&quot; value=&quot;Slide 27 - &amp;quot;Molar Volume of a Gas&amp;quot;&quot;/&gt;&lt;property id=&quot;20307&quot; value=&quot;275&quot;/&gt;&lt;/object&gt;&lt;object type=&quot;3&quot; unique_id=&quot;31989&quot;&gt;&lt;property id=&quot;20148&quot; value=&quot;5&quot;/&gt;&lt;property id=&quot;20300&quot; value=&quot;Slide 28 - &amp;quot;Gas Densities&amp;quot;&quot;/&gt;&lt;property id=&quot;20307&quot; value=&quot;276&quot;/&gt;&lt;/object&gt;&lt;object type=&quot;3&quot; unique_id=&quot;31990&quot;&gt;&lt;property id=&quot;20148&quot; value=&quot;5&quot;/&gt;&lt;property id=&quot;20300&quot; value=&quot;Slide 29 - &amp;quot;The Ideal Gas Law&amp;quot;&quot;/&gt;&lt;property id=&quot;20307&quot; value=&quot;277&quot;/&gt;&lt;/object&gt;&lt;object type=&quot;3&quot; unique_id=&quot;31991&quot;&gt;&lt;property id=&quot;20148&quot; value=&quot;5&quot;/&gt;&lt;property id=&quot;20300&quot; value=&quot;Slide 30 - &amp;quot;The Ideal Gas Law&amp;quot;&quot;/&gt;&lt;property id=&quot;20307&quot; value=&quot;312&quot;/&gt;&lt;/object&gt;&lt;object type=&quot;3&quot; unique_id=&quot;31992&quot;&gt;&lt;property id=&quot;20148&quot; value=&quot;5&quot;/&gt;&lt;property id=&quot;20300&quot; value=&quot;Slide 31 - &amp;quot;Calculating a Molar Volume&amp;quot;&quot;/&gt;&lt;property id=&quot;20307&quot; value=&quot;278&quot;/&gt;&lt;/object&gt;&lt;object type=&quot;3&quot; unique_id=&quot;31993&quot;&gt;&lt;property id=&quot;20148&quot; value=&quot;5&quot;/&gt;&lt;property id=&quot;20300&quot; value=&quot;Slide 32 - &amp;quot;Practice Using the Ideal Gas Law&amp;quot;&quot;/&gt;&lt;property id=&quot;20307&quot; value=&quot;279&quot;/&gt;&lt;/object&gt;&lt;object type=&quot;3&quot; unique_id=&quot;31994&quot;&gt;&lt;property id=&quot;20148&quot; value=&quot;5&quot;/&gt;&lt;property id=&quot;20300&quot; value=&quot;Slide 33 - &amp;quot;Dalton’s Law of Partial Pressures&amp;#x0D;&amp;#x0A;&amp;quot;&quot;/&gt;&lt;property id=&quot;20307&quot; value=&quot;313&quot;/&gt;&lt;/object&gt;&lt;object type=&quot;3&quot; unique_id=&quot;31995&quot;&gt;&lt;property id=&quot;20148&quot; value=&quot;5&quot;/&gt;&lt;property id=&quot;20300&quot; value=&quot;Slide 34 - &amp;quot;Dalton’s Law of Partial Pressures&amp;#x0D;&amp;#x0A;&amp;quot;&quot;/&gt;&lt;property id=&quot;20307&quot; value=&quot;280&quot;/&gt;&lt;/object&gt;&lt;object type=&quot;3&quot; unique_id=&quot;31996&quot;&gt;&lt;property id=&quot;20148&quot; value=&quot;5&quot;/&gt;&lt;property id=&quot;20300&quot; value=&quot;Slide 35 - &amp;quot;Ideal Gases vs. Real Gases&amp;quot;&quot;/&gt;&lt;property id=&quot;20307&quot; value=&quot;285&quot;/&gt;&lt;/object&gt;&lt;object type=&quot;3&quot; unique_id=&quot;31997&quot;&gt;&lt;property id=&quot;20148&quot; value=&quot;5&quot;/&gt;&lt;property id=&quot;20300&quot; value=&quot;Slide 36 - &amp;quot;5.2 The Liquid State&amp;quot;&quot;/&gt;&lt;property id=&quot;20307&quot; value=&quot;287&quot;/&gt;&lt;/object&gt;&lt;object type=&quot;3&quot; unique_id=&quot;31998&quot;&gt;&lt;property id=&quot;20148&quot; value=&quot;5&quot;/&gt;&lt;property id=&quot;20300&quot; value=&quot;Slide 37 - &amp;quot;Surface Tension&amp;quot;&quot;/&gt;&lt;property id=&quot;20307&quot; value=&quot;288&quot;/&gt;&lt;/object&gt;&lt;object type=&quot;3&quot; unique_id=&quot;31999&quot;&gt;&lt;property id=&quot;20148&quot; value=&quot;5&quot;/&gt;&lt;property id=&quot;20300&quot; value=&quot;Slide 38 - &amp;quot;Vapor Pressure of a Liquid &amp;quot;&quot;/&gt;&lt;property id=&quot;20307&quot; value=&quot;289&quot;/&gt;&lt;/object&gt;&lt;object type=&quot;3&quot; unique_id=&quot;32000&quot;&gt;&lt;property id=&quot;20148&quot; value=&quot;5&quot;/&gt;&lt;property id=&quot;20300&quot; value=&quot;Slide 39 - &amp;quot;Temperature Dependence of Liquid Vapor Pressure&amp;quot;&quot;/&gt;&lt;property id=&quot;20307&quot; value=&quot;290&quot;/&gt;&lt;/object&gt;&lt;object type=&quot;3&quot; unique_id=&quot;32001&quot;&gt;&lt;property id=&quot;20148&quot; value=&quot;5&quot;/&gt;&lt;property id=&quot;20300&quot; value=&quot;Slide 40 - &amp;quot;Movement From Gas Back to Liquid&amp;quot;&quot;/&gt;&lt;property id=&quot;20307&quot; value=&quot;291&quot;/&gt;&lt;/object&gt;&lt;object type=&quot;3&quot; unique_id=&quot;32002&quot;&gt;&lt;property id=&quot;20148&quot; value=&quot;5&quot;/&gt;&lt;property id=&quot;20300&quot; value=&quot;Slide 41 - &amp;quot;Liquid Water in Equilibrium With Water Vapor&amp;quot;&quot;/&gt;&lt;property id=&quot;20307&quot; value=&quot;292&quot;/&gt;&lt;/object&gt;&lt;object type=&quot;3&quot; unique_id=&quot;32003&quot;&gt;&lt;property id=&quot;20148&quot; value=&quot;5&quot;/&gt;&lt;property id=&quot;20300&quot; value=&quot;Slide 42 - &amp;quot;Boiling Point&amp;quot;&quot;/&gt;&lt;property id=&quot;20307&quot; value=&quot;293&quot;/&gt;&lt;/object&gt;&lt;object type=&quot;3&quot; unique_id=&quot;32004&quot;&gt;&lt;property id=&quot;20148&quot; value=&quot;5&quot;/&gt;&lt;property id=&quot;20300&quot; value=&quot;Slide 43 - &amp;quot;Van der Waals Forces&amp;quot;&quot;/&gt;&lt;property id=&quot;20307&quot; value=&quot;295&quot;/&gt;&lt;/object&gt;&lt;object type=&quot;3&quot; unique_id=&quot;32005&quot;&gt;&lt;property id=&quot;20148&quot; value=&quot;5&quot;/&gt;&lt;property id=&quot;20300&quot; value=&quot;Slide 44 - &amp;quot;Hydrogen Bonding&amp;quot;&quot;/&gt;&lt;property id=&quot;20307&quot; value=&quot;297&quot;/&gt;&lt;/object&gt;&lt;object type=&quot;3&quot; unique_id=&quot;32006&quot;&gt;&lt;property id=&quot;20148&quot; value=&quot;5&quot;/&gt;&lt;property id=&quot;20300&quot; value=&quot;Slide 45 - &amp;quot;Examples of Hydrogen Bonding&amp;quot;&quot;/&gt;&lt;property id=&quot;20307&quot; value=&quot;298&quot;/&gt;&lt;/object&gt;&lt;object type=&quot;3&quot; unique_id=&quot;32007&quot;&gt;&lt;property id=&quot;20148&quot; value=&quot;5&quot;/&gt;&lt;property id=&quot;20300&quot; value=&quot;Slide 46 - &amp;quot;5.3 The Solid State&amp;quot;&quot;/&gt;&lt;property id=&quot;20307&quot; value=&quot;299&quot;/&gt;&lt;/object&gt;&lt;object type=&quot;3&quot; unique_id=&quot;32008&quot;&gt;&lt;property id=&quot;20148&quot; value=&quot;5&quot;/&gt;&lt;property id=&quot;20300&quot; value=&quot;Slide 47 - &amp;quot;Types of Crystalline Solids&amp;quot;&quot;/&gt;&lt;property id=&quot;20307&quot; value=&quot;300&quot;/&gt;&lt;/object&gt;&lt;object type=&quot;3&quot; unique_id=&quot;32009&quot;&gt;&lt;property id=&quot;20148&quot; value=&quot;5&quot;/&gt;&lt;property id=&quot;20300&quot; value=&quot;Slide 48 - &amp;quot;Types of Crystalline Solids&amp;quot;&quot;/&gt;&lt;property id=&quot;20307&quot; value=&quot;314&quot;/&gt;&lt;/object&gt;&lt;object type=&quot;3&quot; unique_id=&quot;32010&quot;&gt;&lt;property id=&quot;20148&quot; value=&quot;5&quot;/&gt;&lt;property id=&quot;20300&quot; value=&quot;Slide 49 - &amp;quot;Types of Crystalline Solids&amp;quot;&quot;/&gt;&lt;property id=&quot;20307&quot; value=&quot;315&quot;/&gt;&lt;/object&gt;&lt;object type=&quot;3&quot; unique_id=&quot;32011&quot;&gt;&lt;property id=&quot;20148&quot; value=&quot;5&quot;/&gt;&lt;property id=&quot;20300&quot; value=&quot;Slide 50 - &amp;quot;Four Types of Crystalline Solids&amp;quot;&quot;/&gt;&lt;property id=&quot;20307&quot; value=&quot;302&quot;/&gt;&lt;/object&gt;&lt;object type=&quot;3&quot; unique_id=&quot;32012&quot;&gt;&lt;property id=&quot;20148&quot; value=&quot;5&quot;/&gt;&lt;property id=&quot;20300&quot; value=&quot;Slide 51 - &amp;quot;Sublimation of Solids&amp;quot;&quot;/&gt;&lt;property id=&quot;20307&quot; value=&quot;307&quot;/&gt;&lt;/object&gt;&lt;/object&gt;&lt;/object&gt;&lt;/database&gt;"/>
</p:tagLst>
</file>

<file path=ppt/theme/theme1.xml><?xml version="1.0" encoding="utf-8"?>
<a:theme xmlns:a="http://schemas.openxmlformats.org/drawingml/2006/main" name="Denn_6e_powerpoint">
  <a:themeElements>
    <a:clrScheme name="Denn_6e_powerpoint 16">
      <a:dk1>
        <a:srgbClr val="132D6F"/>
      </a:dk1>
      <a:lt1>
        <a:srgbClr val="ECE6EE"/>
      </a:lt1>
      <a:dk2>
        <a:srgbClr val="003ABC"/>
      </a:dk2>
      <a:lt2>
        <a:srgbClr val="CDE1FF"/>
      </a:lt2>
      <a:accent1>
        <a:srgbClr val="D9F2FF"/>
      </a:accent1>
      <a:accent2>
        <a:srgbClr val="004BF2"/>
      </a:accent2>
      <a:accent3>
        <a:srgbClr val="F4F0F5"/>
      </a:accent3>
      <a:accent4>
        <a:srgbClr val="0E255E"/>
      </a:accent4>
      <a:accent5>
        <a:srgbClr val="E9F7FF"/>
      </a:accent5>
      <a:accent6>
        <a:srgbClr val="0043DB"/>
      </a:accent6>
      <a:hlink>
        <a:srgbClr val="E0E090"/>
      </a:hlink>
      <a:folHlink>
        <a:srgbClr val="2F9D2F"/>
      </a:folHlink>
    </a:clrScheme>
    <a:fontScheme name="Denn_6e_powerpoint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408000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rtlCol="0" anchor="ctr" anchorCtr="1" compatLnSpc="1">
        <a:prstTxWarp prst="textNoShape">
          <a:avLst/>
        </a:prstTxWarp>
      </a:bodyPr>
      <a:lstStyle>
        <a:defPPr marL="0" marR="0" indent="0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3600" b="0" i="0" u="none" strike="noStrike" cap="none" normalizeH="0" baseline="0" dirty="0" smtClean="0">
            <a:ln>
              <a:noFill/>
            </a:ln>
            <a:solidFill>
              <a:schemeClr val="accent5"/>
            </a:solidFill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A57BA8"/>
            </a:gs>
            <a:gs pos="100000">
              <a:srgbClr val="61116D"/>
            </a:gs>
          </a:gsLst>
          <a:lin ang="54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400" b="0" i="0" u="none" strike="noStrike" cap="none" normalizeH="0" baseline="0" smtClean="0">
            <a:ln>
              <a:noFill/>
            </a:ln>
            <a:solidFill>
              <a:srgbClr val="D0C1D5"/>
            </a:solidFill>
            <a:effectLst/>
            <a:latin typeface="Times New Roman" pitchFamily="18" charset="0"/>
          </a:defRPr>
        </a:defPPr>
      </a:lstStyle>
    </a:lnDef>
    <a:txDef>
      <a:spPr bwMode="auto">
        <a:noFill/>
        <a:ln>
          <a:noFill/>
        </a:ln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91240B29-F687-4F45-9708-019B960494DF}">
            <a14:hiddenLine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</a:extLst>
      </a:spPr>
      <a:bodyPr wrap="none">
        <a:spAutoFit/>
      </a:bodyPr>
      <a:lstStyle>
        <a:defPPr>
          <a:defRPr sz="3200" dirty="0">
            <a:solidFill>
              <a:srgbClr val="003ABC"/>
            </a:solidFill>
          </a:defRPr>
        </a:defPPr>
      </a:lstStyle>
    </a:txDef>
  </a:objectDefaults>
  <a:extraClrSchemeLst>
    <a:extraClrScheme>
      <a:clrScheme name="Denn_6e_powerpoin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nn_6e_powerpoint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nn_6e_powerpoint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nn_6e_powerpoint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nn_6e_powerpoint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nn_6e_powerpoint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nn_6e_powerpoint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nn_6e_powerpoint 8">
        <a:dk1>
          <a:srgbClr val="380A3E"/>
        </a:dk1>
        <a:lt1>
          <a:srgbClr val="ECE6EE"/>
        </a:lt1>
        <a:dk2>
          <a:srgbClr val="61116D"/>
        </a:dk2>
        <a:lt2>
          <a:srgbClr val="CBBBD1"/>
        </a:lt2>
        <a:accent1>
          <a:srgbClr val="C8BDA6"/>
        </a:accent1>
        <a:accent2>
          <a:srgbClr val="006891"/>
        </a:accent2>
        <a:accent3>
          <a:srgbClr val="F4F0F5"/>
        </a:accent3>
        <a:accent4>
          <a:srgbClr val="2E0734"/>
        </a:accent4>
        <a:accent5>
          <a:srgbClr val="E0DBD0"/>
        </a:accent5>
        <a:accent6>
          <a:srgbClr val="005E83"/>
        </a:accent6>
        <a:hlink>
          <a:srgbClr val="E0E090"/>
        </a:hlink>
        <a:folHlink>
          <a:srgbClr val="000A6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nn_6e_powerpoint 9">
        <a:dk1>
          <a:srgbClr val="380A3E"/>
        </a:dk1>
        <a:lt1>
          <a:srgbClr val="ECE6EE"/>
        </a:lt1>
        <a:dk2>
          <a:srgbClr val="003ABC"/>
        </a:dk2>
        <a:lt2>
          <a:srgbClr val="CBBBD1"/>
        </a:lt2>
        <a:accent1>
          <a:srgbClr val="C8BDA6"/>
        </a:accent1>
        <a:accent2>
          <a:srgbClr val="006891"/>
        </a:accent2>
        <a:accent3>
          <a:srgbClr val="F4F0F5"/>
        </a:accent3>
        <a:accent4>
          <a:srgbClr val="2E0734"/>
        </a:accent4>
        <a:accent5>
          <a:srgbClr val="E0DBD0"/>
        </a:accent5>
        <a:accent6>
          <a:srgbClr val="005E83"/>
        </a:accent6>
        <a:hlink>
          <a:srgbClr val="E0E090"/>
        </a:hlink>
        <a:folHlink>
          <a:srgbClr val="000A6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nn_6e_powerpoint 10">
        <a:dk1>
          <a:srgbClr val="1C42A0"/>
        </a:dk1>
        <a:lt1>
          <a:srgbClr val="ECE6EE"/>
        </a:lt1>
        <a:dk2>
          <a:srgbClr val="003ABC"/>
        </a:dk2>
        <a:lt2>
          <a:srgbClr val="CBBBD1"/>
        </a:lt2>
        <a:accent1>
          <a:srgbClr val="C8BDA6"/>
        </a:accent1>
        <a:accent2>
          <a:srgbClr val="006891"/>
        </a:accent2>
        <a:accent3>
          <a:srgbClr val="F4F0F5"/>
        </a:accent3>
        <a:accent4>
          <a:srgbClr val="163788"/>
        </a:accent4>
        <a:accent5>
          <a:srgbClr val="E0DBD0"/>
        </a:accent5>
        <a:accent6>
          <a:srgbClr val="005E83"/>
        </a:accent6>
        <a:hlink>
          <a:srgbClr val="E0E090"/>
        </a:hlink>
        <a:folHlink>
          <a:srgbClr val="000A6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nn_6e_powerpoint 11">
        <a:dk1>
          <a:srgbClr val="132D6F"/>
        </a:dk1>
        <a:lt1>
          <a:srgbClr val="ECE6EE"/>
        </a:lt1>
        <a:dk2>
          <a:srgbClr val="003ABC"/>
        </a:dk2>
        <a:lt2>
          <a:srgbClr val="CBBBD1"/>
        </a:lt2>
        <a:accent1>
          <a:srgbClr val="C8BDA6"/>
        </a:accent1>
        <a:accent2>
          <a:srgbClr val="006891"/>
        </a:accent2>
        <a:accent3>
          <a:srgbClr val="F4F0F5"/>
        </a:accent3>
        <a:accent4>
          <a:srgbClr val="0E255E"/>
        </a:accent4>
        <a:accent5>
          <a:srgbClr val="E0DBD0"/>
        </a:accent5>
        <a:accent6>
          <a:srgbClr val="005E83"/>
        </a:accent6>
        <a:hlink>
          <a:srgbClr val="E0E090"/>
        </a:hlink>
        <a:folHlink>
          <a:srgbClr val="000A6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nn_6e_powerpoint 12">
        <a:dk1>
          <a:srgbClr val="132D6F"/>
        </a:dk1>
        <a:lt1>
          <a:srgbClr val="ECE6EE"/>
        </a:lt1>
        <a:dk2>
          <a:srgbClr val="003ABC"/>
        </a:dk2>
        <a:lt2>
          <a:srgbClr val="C5ECFF"/>
        </a:lt2>
        <a:accent1>
          <a:srgbClr val="C8BDA6"/>
        </a:accent1>
        <a:accent2>
          <a:srgbClr val="006891"/>
        </a:accent2>
        <a:accent3>
          <a:srgbClr val="F4F0F5"/>
        </a:accent3>
        <a:accent4>
          <a:srgbClr val="0E255E"/>
        </a:accent4>
        <a:accent5>
          <a:srgbClr val="E0DBD0"/>
        </a:accent5>
        <a:accent6>
          <a:srgbClr val="005E83"/>
        </a:accent6>
        <a:hlink>
          <a:srgbClr val="E0E090"/>
        </a:hlink>
        <a:folHlink>
          <a:srgbClr val="000A6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nn_6e_powerpoint 13">
        <a:dk1>
          <a:srgbClr val="132D6F"/>
        </a:dk1>
        <a:lt1>
          <a:srgbClr val="ECE6EE"/>
        </a:lt1>
        <a:dk2>
          <a:srgbClr val="003ABC"/>
        </a:dk2>
        <a:lt2>
          <a:srgbClr val="C5ECFF"/>
        </a:lt2>
        <a:accent1>
          <a:srgbClr val="B3E6FF"/>
        </a:accent1>
        <a:accent2>
          <a:srgbClr val="A36CD9"/>
        </a:accent2>
        <a:accent3>
          <a:srgbClr val="F4F0F5"/>
        </a:accent3>
        <a:accent4>
          <a:srgbClr val="0E255E"/>
        </a:accent4>
        <a:accent5>
          <a:srgbClr val="D6F0FF"/>
        </a:accent5>
        <a:accent6>
          <a:srgbClr val="9361C4"/>
        </a:accent6>
        <a:hlink>
          <a:srgbClr val="E0E090"/>
        </a:hlink>
        <a:folHlink>
          <a:srgbClr val="2F9D2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nn_6e_powerpoint 14">
        <a:dk1>
          <a:srgbClr val="132D6F"/>
        </a:dk1>
        <a:lt1>
          <a:srgbClr val="ECE6EE"/>
        </a:lt1>
        <a:dk2>
          <a:srgbClr val="003ABC"/>
        </a:dk2>
        <a:lt2>
          <a:srgbClr val="CDE1FF"/>
        </a:lt2>
        <a:accent1>
          <a:srgbClr val="B3E6FF"/>
        </a:accent1>
        <a:accent2>
          <a:srgbClr val="A36CD9"/>
        </a:accent2>
        <a:accent3>
          <a:srgbClr val="F4F0F5"/>
        </a:accent3>
        <a:accent4>
          <a:srgbClr val="0E255E"/>
        </a:accent4>
        <a:accent5>
          <a:srgbClr val="D6F0FF"/>
        </a:accent5>
        <a:accent6>
          <a:srgbClr val="9361C4"/>
        </a:accent6>
        <a:hlink>
          <a:srgbClr val="E0E090"/>
        </a:hlink>
        <a:folHlink>
          <a:srgbClr val="2F9D2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nn_6e_powerpoint 15">
        <a:dk1>
          <a:srgbClr val="132D6F"/>
        </a:dk1>
        <a:lt1>
          <a:srgbClr val="ECE6EE"/>
        </a:lt1>
        <a:dk2>
          <a:srgbClr val="003ABC"/>
        </a:dk2>
        <a:lt2>
          <a:srgbClr val="CDE1FF"/>
        </a:lt2>
        <a:accent1>
          <a:srgbClr val="B3E6FF"/>
        </a:accent1>
        <a:accent2>
          <a:srgbClr val="004BF2"/>
        </a:accent2>
        <a:accent3>
          <a:srgbClr val="F4F0F5"/>
        </a:accent3>
        <a:accent4>
          <a:srgbClr val="0E255E"/>
        </a:accent4>
        <a:accent5>
          <a:srgbClr val="D6F0FF"/>
        </a:accent5>
        <a:accent6>
          <a:srgbClr val="0043DB"/>
        </a:accent6>
        <a:hlink>
          <a:srgbClr val="E0E090"/>
        </a:hlink>
        <a:folHlink>
          <a:srgbClr val="2F9D2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nn_6e_powerpoint 16">
        <a:dk1>
          <a:srgbClr val="132D6F"/>
        </a:dk1>
        <a:lt1>
          <a:srgbClr val="ECE6EE"/>
        </a:lt1>
        <a:dk2>
          <a:srgbClr val="003ABC"/>
        </a:dk2>
        <a:lt2>
          <a:srgbClr val="CDE1FF"/>
        </a:lt2>
        <a:accent1>
          <a:srgbClr val="D9F2FF"/>
        </a:accent1>
        <a:accent2>
          <a:srgbClr val="004BF2"/>
        </a:accent2>
        <a:accent3>
          <a:srgbClr val="F4F0F5"/>
        </a:accent3>
        <a:accent4>
          <a:srgbClr val="0E255E"/>
        </a:accent4>
        <a:accent5>
          <a:srgbClr val="E9F7FF"/>
        </a:accent5>
        <a:accent6>
          <a:srgbClr val="0043DB"/>
        </a:accent6>
        <a:hlink>
          <a:srgbClr val="E0E090"/>
        </a:hlink>
        <a:folHlink>
          <a:srgbClr val="2F9D2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Denn_6e_powerpoint</Template>
  <TotalTime>10516</TotalTime>
  <Words>2163</Words>
  <Application>Microsoft Office PowerPoint</Application>
  <PresentationFormat>On-screen Show (4:3)</PresentationFormat>
  <Paragraphs>410</Paragraphs>
  <Slides>51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8" baseType="lpstr">
      <vt:lpstr>ＭＳ Ｐゴシック</vt:lpstr>
      <vt:lpstr>Arial</vt:lpstr>
      <vt:lpstr>Arial Black</vt:lpstr>
      <vt:lpstr>Symbol</vt:lpstr>
      <vt:lpstr>Times New Roman</vt:lpstr>
      <vt:lpstr>Wingdings</vt:lpstr>
      <vt:lpstr>Denn_6e_powerpoint</vt:lpstr>
      <vt:lpstr>PowerPoint Presentation</vt:lpstr>
      <vt:lpstr>Changes in State</vt:lpstr>
      <vt:lpstr>Comparison of Physical Properties of Gases, Liquids, and Solids</vt:lpstr>
      <vt:lpstr>5.1 The Gaseous State</vt:lpstr>
      <vt:lpstr>Measurement of Gases</vt:lpstr>
      <vt:lpstr>Barometer</vt:lpstr>
      <vt:lpstr>Kinetic Molecular Theory of Gases</vt:lpstr>
      <vt:lpstr>Kinetic Molecular Theory – pt 4</vt:lpstr>
      <vt:lpstr>Kinetic Molecular Theory – pt 5</vt:lpstr>
      <vt:lpstr>Properties of Gases</vt:lpstr>
      <vt:lpstr> </vt:lpstr>
      <vt:lpstr>Gaseous Diffusion</vt:lpstr>
      <vt:lpstr>Boyle’s Law</vt:lpstr>
      <vt:lpstr>Boyle’s Law Equation</vt:lpstr>
      <vt:lpstr>Application of Boyle’s Law</vt:lpstr>
      <vt:lpstr>Boyle’s Law Practice</vt:lpstr>
      <vt:lpstr>Charles’s Law</vt:lpstr>
      <vt:lpstr>Charles’s Law Equation</vt:lpstr>
      <vt:lpstr>Application of Charles’s Law</vt:lpstr>
      <vt:lpstr>Practice with Charles’s Law</vt:lpstr>
      <vt:lpstr>Combined Gas Law </vt:lpstr>
      <vt:lpstr>Using the Combined Gas Law </vt:lpstr>
      <vt:lpstr>Using the Combined Gas Law – continued  </vt:lpstr>
      <vt:lpstr>Practice With the Combined  Gas Law</vt:lpstr>
      <vt:lpstr>Avogadro’s Law </vt:lpstr>
      <vt:lpstr>Using Avogadro’s Law</vt:lpstr>
      <vt:lpstr>Molar Volume of a Gas</vt:lpstr>
      <vt:lpstr>Gas Densities</vt:lpstr>
      <vt:lpstr>The Ideal Gas Law</vt:lpstr>
      <vt:lpstr>The Ideal Gas Law and Constant</vt:lpstr>
      <vt:lpstr>Calculating a Molar Volume</vt:lpstr>
      <vt:lpstr>Practice Using the Ideal Gas Law</vt:lpstr>
      <vt:lpstr>Dalton’s Law of Partial Pressures </vt:lpstr>
      <vt:lpstr>Dalton’s Law of Partial Pressures Equation </vt:lpstr>
      <vt:lpstr>Ideal Gases vs. Real Gases</vt:lpstr>
      <vt:lpstr>5.2 The Liquid State</vt:lpstr>
      <vt:lpstr>Surface Tension</vt:lpstr>
      <vt:lpstr>Vapor Pressure of a Liquid </vt:lpstr>
      <vt:lpstr>Temperature Dependence of Liquid Vapor Pressure</vt:lpstr>
      <vt:lpstr>Movement From Gas Back to Liquid</vt:lpstr>
      <vt:lpstr>Liquid Water in Equilibrium With Water Vapor</vt:lpstr>
      <vt:lpstr>Boiling Point</vt:lpstr>
      <vt:lpstr>Van der Waals Forces</vt:lpstr>
      <vt:lpstr>Hydrogen Bonding</vt:lpstr>
      <vt:lpstr>Examples of Hydrogen Bonding</vt:lpstr>
      <vt:lpstr>5.3 The Solid State</vt:lpstr>
      <vt:lpstr>Types of Crystalline Solids</vt:lpstr>
      <vt:lpstr>3rd Type of Crystalline</vt:lpstr>
      <vt:lpstr>4th Type of Crystalline Solids</vt:lpstr>
      <vt:lpstr>Four Types of Crystalline Solids</vt:lpstr>
      <vt:lpstr>Sublimation of Solids</vt:lpstr>
    </vt:vector>
  </TitlesOfParts>
  <Company>user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</dc:title>
  <dc:creator>Danae R. Quirk Dorr</dc:creator>
  <cp:lastModifiedBy>Windows User</cp:lastModifiedBy>
  <cp:revision>133</cp:revision>
  <dcterms:created xsi:type="dcterms:W3CDTF">2001-06-11T10:28:45Z</dcterms:created>
  <dcterms:modified xsi:type="dcterms:W3CDTF">2019-09-02T04:20:37Z</dcterms:modified>
</cp:coreProperties>
</file>